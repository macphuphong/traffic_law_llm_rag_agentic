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Kính chào Hội đồng. Em xin trình bày MVP Traffic-Law RAG — một hệ thống production-grade được thiết kế theo checklist kiến trúc AI hiện đại: UX/PRD, data flow, inference/caching, retrieval, agents, observability, evals, guardrails, MCP/A2A. Mỗi trụ cột em sẽ chỉ ra pattern thiết kế và minh chứng từ implementation thực.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9 trụ cột em dùng làm khung kiểm tra. Một hệ thống AI production phải đáng tin cậy, dễ debug, dễ tiến hóa. Mỗi cột không phải tùy chọn — thiếu một là nợ kỹ thuật. Em sẽ đi qua từng cột và chỉ ra cách MVP của em hiện thực hóa 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1 — UX và PRD. Bài toán: LLM trả lời thẳng câu hỏi pháp luật giao thông thường ảo giác, bịa mức phạt, sai số Điều. Người dùng là tài xế và CSGT. Yêu cầu sản phẩm: trả lời đúng cấp Điểm/Khoản/Điều, từ chối khi không chắc, hỗ trợ multi-intent, và có cơ chế con người duyệt khi rủi ro cao. Đây là PRD ràng buộc mọi quyết định kỹ thuật xuôi dòng.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2 — Data Flow. Hai pipeline. Offline: 6 văn bản pháp luật → pdfplumber clean → Markdown phân cấp → HierarchicalLegalSplitter → 2 818 chunks → embed E5 → Qdrant + BM25 cache. Online: query → Analyzer → router → retrieval/agents → generator → output. Mọi state đều idempotent và có thể replay từ LangSmith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3 — Inference và Caching. LLM gen: Gemini 3.1 Flash Lite Preview, 1M context, $0.075/1M input. Embedding: E5-small 384d local. Cache 3 tầng: Qdrant payload index cho metadata filter, BM25 JSONL cache cho sparse, và prompt prefix caching dự kiến v7 — tiết kiệm 30% chi phí. Mỗi tầng đều có TTL và invalidation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4 — Retrieval. Đây là trái tim. 5 lớp: Dense E5-small, Sparse BM25, RRF fuse rank, Cross-Encoder reranker BAAI bge-reranker-v2-m3, và Sibling + cross-reference expansion. Reranker tăng MRR 21.6% trade-off ×78 latency CPU — togglable qua ENV. Mỗi lớp giải một loại lỗi mà lớp trước không thấy.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5 — Agents và Orchestrator. LangGraph state machine với Analyzer phân loại 4 intent: legal, chit_chat, web_search, out_of_scope. Có fallback tự động khi 0 chunk hoặc generator refused. Có HITL gate với interrupt_before tại web_finalize — admin duyệt draft trước khi nhả kết quả. Đây là pattern A2A đơn giản: orchestrator điều phối các sub-agent có chuyên môn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6 — Tools, RAG và MCP. RAG là tool chính: hybrid_search được expose như một tool callable. Web search qua Tavily là tool thứ hai. Cross-reference resolver là tool thứ ba. Em đang chuẩn hóa tool layer theo Model Context Protocol để các agent ngoài có thể gọi vào — ví dụ một agent CSGT chuyên biệt sẽ tái dùng được hybrid_search mà không cần biết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7 — Observability. Mọi truy vấn đi qua LangSmith project Traffic-RAG-Evaluation. Trace structure 3 cấp: graph run → node run → llm call. Token, latency, cost track per node. Cost center rõ ràng: legal_rag chiếm 39k token mỗi query. Đây là pre-condition cho mọi optimization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8 — Evaluation. RAGAS-Lite tự code vì free-tier Gemini cap rate. 1 call API per metric per sample, có exponential backoff. Answer Relevancy 1.00, Context Precision 0.20 — chính bằng chứng phải bật reranker. Bonus: CI/CD regression — mỗi pull request chạy Pytest Recall@10, dưới 0.40 là khóa merge. Quality gate ở cấp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Trụ 9 — Guardrails. 4 lớp. Lớp 1 input: Analyzer phân loại out_of_scope refuse từ đầu. Lớp 2 retrieval: metadata filter status=active loại luật hết hiệu lực. Lớp 3 generation: Pydantic schema bắt buộc tách Answer khỏi Citations + 14 rules cứng + zero-hallucination refusal. Lớp 4 human: HITL gate cho web_search. Defense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tắc 14 — Legal Reasoning là guardrail đặc biệt cho phân định lỗi va chạm. LLM không được bịa tỷ lệ lỗi. Chain-of-Thought 4 bước: trích hành vi, đối chiếu chunk, kết luận lỗi logic, in disclaimer thẩm quyền CSGT. Lập luận pháp lý vững mà tránh lạm quyền tòa 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quan kiến trúc MVP. Frontend Next.js 14 với SSE streaming. Backend FastAPI gọi LangGraph. Qdrant + BM25 cache trong Docker compose. LangSmith trace external. Tavily là external tool. Mỗi component có thể swap được — đây là tiêu chí evolvable.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MVP đã chạy thực tế. 9 ablation RQ1–RQ10 định hình mọi quyết định. Không có quyết định nào theo trực giác — tất cả đều có chứng cứ định lượng. Em xin trình chiếu bảng tóm tắt.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trực tiếp em sẽ chạy 4 kịch bản: câu hỏi tra cứu mức phạt thông thường, câu hỏi cross-reference, câu hỏi phân định lỗi va chạm trigger Quy tắc 14, và câu hỏi out-of-corpus trigger fallback web_search + HITL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Quyết định triển khai chính. Một: chọn Agentic RAG thay vì RAG tuyến tính — RQ1 chứng minh Cit-R 0.56 vs 0.20. Hai: chọn Qdrant thay vì FAISS để có metadata filter online. Ba: tắt rewrite turn đầu — RQ9 cho thấy gây hại 35% MRR. Bốn: HITL cho web_search — chấp nhận latency để bảo vệ chất lượng.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Hướng phát triển. Một: fine-tune E5 bằng hard-negatives để tăng 5pt MRR và bỏ reranker cồng kềnh. Hai: prompt caching Gemini tiết kiệm 30% cost. Ba: chuẩn MCP server cho phép agent thứ ba gọi vào. Bốn: A2A protocol để liên kết với agent CSGT chuyên biệt. Năm: mở rộng RAGAS-Lite n=5 lên n=25.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7A4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361950"/>
            <a:ext cx="26275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 · V6.3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293775" y="361950"/>
            <a:ext cx="40648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PRODUCTION-GRADE05 / 2026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47750" y="2580531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59005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33550" y="2594818"/>
            <a:ext cx="41959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· BẢO VỆ 2026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3152031"/>
            <a:ext cx="9464308" cy="183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200" spc="-144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</a:t>
            </a:r>
            <a:pPr algn="l" indent="0" marL="0">
              <a:lnSpc>
                <a:spcPct val="98000"/>
              </a:lnSpc>
              <a:buNone/>
            </a:pPr>
            <a:r>
              <a:rPr lang="en-US" sz="7200" i="1" spc="-144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pPr algn="l" indent="0" marL="0">
              <a:lnSpc>
                <a:spcPct val="98000"/>
              </a:lnSpc>
              <a:buNone/>
            </a:pPr>
            <a:r>
              <a:rPr lang="en-US" sz="7200" spc="-144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</a:t>
            </a:r>
            <a:pPr algn="l" indent="0" marL="0">
              <a:lnSpc>
                <a:spcPct val="98000"/>
              </a:lnSpc>
              <a:buNone/>
            </a:pPr>
            <a:r>
              <a:rPr lang="en-US" sz="7200" i="1" spc="-144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047750" y="5401419"/>
            <a:ext cx="882967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MVP AI hoạt động thực — tích hợp tối thiểu một mô hình, một workflow agent, một lớp tool RAG/MCP, observability, evals và guardrails — đủ để demo và đủ để tiến hóa.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7173069"/>
            <a:ext cx="1404193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7239744"/>
            <a:ext cx="11946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v6.3 · 05/2026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47193" y="7173069"/>
            <a:ext cx="1344811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0068" y="7239744"/>
            <a:ext cx="11352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2 818 chunks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87254" y="7173069"/>
            <a:ext cx="2996208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5FB0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0129" y="7239744"/>
            <a:ext cx="28003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· Qdrant · Gemini · Next.js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78712" y="7173069"/>
            <a:ext cx="2725638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5DD49A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1587" y="7239744"/>
            <a:ext cx="25216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· Debuggable · Evolvable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03148" y="2413099"/>
            <a:ext cx="9525" cy="5232202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0" name="Text 18"/>
          <p:cNvSpPr/>
          <p:nvPr/>
        </p:nvSpPr>
        <p:spPr>
          <a:xfrm>
            <a:off x="11388923" y="2413099"/>
            <a:ext cx="9108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GIẤY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2356902" y="2479774"/>
            <a:ext cx="4420791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1042" y="2413099"/>
            <a:ext cx="4052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V6.3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11388923" y="2803624"/>
            <a:ext cx="5851178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24" name="Text 22"/>
          <p:cNvSpPr/>
          <p:nvPr/>
        </p:nvSpPr>
        <p:spPr>
          <a:xfrm>
            <a:off x="11388923" y="2946499"/>
            <a:ext cx="6026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VĂN BẢN NGUỒN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1388923" y="3146524"/>
            <a:ext cx="6026713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pPr algn="l" indent="0" marL="0">
              <a:lnSpc>
                <a:spcPct val="105000"/>
              </a:lnSpc>
              <a:buNone/>
            </a:pPr>
            <a:r>
              <a:rPr lang="en-US" sz="3300" spc="-6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văn bản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1388923" y="3643610"/>
            <a:ext cx="6026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Luật TTATGTĐB · NĐ 168 · NĐ 151 · TT 06 · Luật XLVPHC · QC 41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388923" y="4066431"/>
            <a:ext cx="5851178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28" name="Text 26"/>
          <p:cNvSpPr/>
          <p:nvPr/>
        </p:nvSpPr>
        <p:spPr>
          <a:xfrm>
            <a:off x="11388923" y="4209306"/>
            <a:ext cx="6026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1388923" y="4409331"/>
            <a:ext cx="6026713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2 818 </a:t>
            </a:r>
            <a:pPr algn="l" indent="0" marL="0">
              <a:lnSpc>
                <a:spcPct val="105000"/>
              </a:lnSpc>
              <a:buNone/>
            </a:pPr>
            <a:r>
              <a:rPr lang="en-US" sz="3300" spc="-6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1388923" y="4906417"/>
            <a:ext cx="6026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splitter · Qdrant HNSW · BM25 cache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388923" y="5329238"/>
            <a:ext cx="5851178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32" name="Text 30"/>
          <p:cNvSpPr/>
          <p:nvPr/>
        </p:nvSpPr>
        <p:spPr>
          <a:xfrm>
            <a:off x="11388923" y="5472113"/>
            <a:ext cx="6026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GAIN · RQ10 ★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1388923" y="5672138"/>
            <a:ext cx="6026713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spc="-6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 </a:t>
            </a:r>
            <a:pPr algn="l" indent="0" marL="0">
              <a:lnSpc>
                <a:spcPct val="105000"/>
              </a:lnSpc>
              <a:buNone/>
            </a:pPr>
            <a:r>
              <a:rPr lang="en-US" sz="2100" spc="-6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</a:t>
            </a:r>
            <a:pPr algn="l" indent="0" marL="0">
              <a:lnSpc>
                <a:spcPct val="105000"/>
              </a:lnSpc>
              <a:buNone/>
            </a:pPr>
            <a:r>
              <a:rPr lang="en-US" sz="3300" spc="-6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11388923" y="6169223"/>
            <a:ext cx="6026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 rerank opt-in · trade-off ×78 latency CPU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388923" y="6592044"/>
            <a:ext cx="5851178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36" name="Text 34"/>
          <p:cNvSpPr/>
          <p:nvPr/>
        </p:nvSpPr>
        <p:spPr>
          <a:xfrm>
            <a:off x="11388923" y="6734919"/>
            <a:ext cx="6026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QUALITY GATE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1388923" y="6934944"/>
            <a:ext cx="6026713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spc="-6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Recall@10 ≥ </a:t>
            </a:r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3300" dirty="0"/>
          </a:p>
        </p:txBody>
      </p:sp>
      <p:sp>
        <p:nvSpPr>
          <p:cNvPr id="38" name="Text 36"/>
          <p:cNvSpPr/>
          <p:nvPr/>
        </p:nvSpPr>
        <p:spPr>
          <a:xfrm>
            <a:off x="11388923" y="7432030"/>
            <a:ext cx="6026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regression · merge bị khóa nếu thấp hơn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47750" y="8724900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077325"/>
            <a:ext cx="31917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47750" y="9286875"/>
            <a:ext cx="319171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Mạc Phú Phong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4813250" y="9077325"/>
            <a:ext cx="3386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13250" y="9286875"/>
            <a:ext cx="338608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v6.3 · 05.05.2026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8767465" y="9077325"/>
            <a:ext cx="5307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767465" y="9286875"/>
            <a:ext cx="530715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LangGraph · Qdrant · Next.js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4586793" y="9077325"/>
            <a:ext cx="2733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4586793" y="9286875"/>
            <a:ext cx="2733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traffic_rag/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351050" y="361950"/>
            <a:ext cx="29758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KIẾN TRÚC02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45068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KIẾN TRÚC AI PRODUCTION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2590800"/>
            <a:ext cx="5283101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5875" y="2809875"/>
            <a:ext cx="49510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UX/PRD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85875" y="3019425"/>
            <a:ext cx="4951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sản phẩm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5875" y="3371850"/>
            <a:ext cx="495105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dùng, ràng buộc, định nghĩa "đúng".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85875" y="3790950"/>
            <a:ext cx="412403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819525"/>
            <a:ext cx="3171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1755428" y="3790950"/>
            <a:ext cx="501997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1153" y="3819525"/>
            <a:ext cx="4067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6502301" y="2590800"/>
            <a:ext cx="5283250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0426" y="2809875"/>
            <a:ext cx="49512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DATA FLOW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40426" y="3019425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dữ liệu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40426" y="3371850"/>
            <a:ext cx="49512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indexing + online query, idempotent.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40426" y="3790950"/>
            <a:ext cx="508843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6151" y="3819525"/>
            <a:ext cx="4135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7306419" y="3790950"/>
            <a:ext cx="570905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2144" y="3819525"/>
            <a:ext cx="4756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1957000" y="2590800"/>
            <a:ext cx="5283250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95125" y="2809875"/>
            <a:ext cx="49512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INFERENCE/CACHE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195125" y="3019425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&amp; cache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195125" y="3371850"/>
            <a:ext cx="49512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gen · E5 embed · 3 tầng cache.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2195125" y="3790950"/>
            <a:ext cx="398562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80850" y="3819525"/>
            <a:ext cx="3033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12650837" y="3790950"/>
            <a:ext cx="563910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736562" y="3819525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1047750" y="4381500"/>
            <a:ext cx="5283101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5875" y="4600575"/>
            <a:ext cx="49510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RETRIEVAL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5875" y="4810125"/>
            <a:ext cx="4951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5 lớp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85875" y="5162550"/>
            <a:ext cx="495105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+ Sparse + RRF + Reranker + Sibling.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285875" y="5581650"/>
            <a:ext cx="667048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5610225"/>
            <a:ext cx="5717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2010073" y="5581650"/>
            <a:ext cx="467469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95798" y="5610225"/>
            <a:ext cx="3722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6502301" y="4381500"/>
            <a:ext cx="5283250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40426" y="4600575"/>
            <a:ext cx="49512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AGENTS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40426" y="4810125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40426" y="5162550"/>
            <a:ext cx="49512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 machine · 4 routes + fallback.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740426" y="5581650"/>
            <a:ext cx="756493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6151" y="5610225"/>
            <a:ext cx="66124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A2A-ready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957000" y="4381500"/>
            <a:ext cx="5283250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195125" y="4600575"/>
            <a:ext cx="49512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TOOLS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2195125" y="4810125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công cụ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195125" y="5162550"/>
            <a:ext cx="49512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RAG/web/cross-ref expose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12195125" y="5581650"/>
            <a:ext cx="618976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280850" y="5610225"/>
            <a:ext cx="523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1047750" y="6172200"/>
            <a:ext cx="5283101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85875" y="6391275"/>
            <a:ext cx="49510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OBSERVABILITY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285875" y="6600825"/>
            <a:ext cx="49510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· Cost · Token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85875" y="6953250"/>
            <a:ext cx="495105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3-tier · per-node metrics.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1285875" y="7372350"/>
            <a:ext cx="515838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71600" y="7400925"/>
            <a:ext cx="4205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6502301" y="6172200"/>
            <a:ext cx="5283250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40426" y="6391275"/>
            <a:ext cx="49512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EVALS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740426" y="6600825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RAGAS-Lite + CI/CD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740426" y="6953250"/>
            <a:ext cx="49512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ở cấp pull request.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6740426" y="7372350"/>
            <a:ext cx="749647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26151" y="7400925"/>
            <a:ext cx="6543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975" dirty="0"/>
          </a:p>
        </p:txBody>
      </p:sp>
      <p:sp>
        <p:nvSpPr>
          <p:cNvPr id="64" name="Shape 62"/>
          <p:cNvSpPr/>
          <p:nvPr/>
        </p:nvSpPr>
        <p:spPr>
          <a:xfrm>
            <a:off x="11957000" y="6172200"/>
            <a:ext cx="5283250" cy="161925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195125" y="6391275"/>
            <a:ext cx="49512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GUARDRAILS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2195125" y="6600825"/>
            <a:ext cx="4951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2195125" y="6953250"/>
            <a:ext cx="49512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Retrieval → Schema → Human.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12195125" y="7372350"/>
            <a:ext cx="687735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280850" y="7400925"/>
            <a:ext cx="5924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zero-halu</a:t>
            </a:r>
            <a:endParaRPr lang="en-US" sz="975" dirty="0"/>
          </a:p>
        </p:txBody>
      </p:sp>
      <p:sp>
        <p:nvSpPr>
          <p:cNvPr id="70" name="Shape 68"/>
          <p:cNvSpPr/>
          <p:nvPr/>
        </p:nvSpPr>
        <p:spPr>
          <a:xfrm>
            <a:off x="12940010" y="7372350"/>
            <a:ext cx="439787" cy="200025"/>
          </a:xfrm>
          <a:prstGeom prst="roundRect">
            <a:avLst>
              <a:gd name="adj" fmla="val 50000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025735" y="7400925"/>
            <a:ext cx="3445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KIỂM TRA · ÁP DỤNG CHO MỌI SLIDE TIẾP THEO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350752" y="361950"/>
            <a:ext cx="29761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01UX · PRD03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34188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VÀ YÊU CẦU SẢN PHẨM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trước,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238500"/>
            <a:ext cx="28575" cy="521940"/>
          </a:xfrm>
          <a:prstGeom prst="rect">
            <a:avLst/>
          </a:prstGeom>
          <a:solidFill>
            <a:srgbClr val="FF7A4D"/>
          </a:solidFill>
          <a:ln/>
        </p:spPr>
      </p:sp>
      <p:sp>
        <p:nvSpPr>
          <p:cNvPr id="10" name="Text 8"/>
          <p:cNvSpPr/>
          <p:nvPr/>
        </p:nvSpPr>
        <p:spPr>
          <a:xfrm>
            <a:off x="1304925" y="3276600"/>
            <a:ext cx="819126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"Khi LLM ảo giác, ai phải trả mức phạt sai?"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47750" y="4027140"/>
            <a:ext cx="8448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5025330"/>
            <a:ext cx="8202364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4598640"/>
            <a:ext cx="8036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xế / công dân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 cứu mức phạt + điểm trừ GPLX.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5556796"/>
            <a:ext cx="8202364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5130105"/>
            <a:ext cx="8036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CSGT field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kiểm chứng quy định nhanh tại hiện trường.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7800" y="5661571"/>
            <a:ext cx="8036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pháp chế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duyệt câu trả lời từ web_search trước khi nhả.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83514" y="3238500"/>
            <a:ext cx="76804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yêu cầu sản phẩm cứng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783514" y="4236690"/>
            <a:ext cx="7456736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19" name="Text 17"/>
          <p:cNvSpPr/>
          <p:nvPr/>
        </p:nvSpPr>
        <p:spPr>
          <a:xfrm>
            <a:off x="10183564" y="3810000"/>
            <a:ext cx="72683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Trích đúng cấp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Điểm/Khoản/Điều — không mơ hồ.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83514" y="4768155"/>
            <a:ext cx="7456736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21" name="Text 19"/>
          <p:cNvSpPr/>
          <p:nvPr/>
        </p:nvSpPr>
        <p:spPr>
          <a:xfrm>
            <a:off x="10183564" y="4341465"/>
            <a:ext cx="72683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khi không chắc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thà từ chối còn hơn bịa.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83514" y="5299621"/>
            <a:ext cx="7456736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23" name="Text 21"/>
          <p:cNvSpPr/>
          <p:nvPr/>
        </p:nvSpPr>
        <p:spPr>
          <a:xfrm>
            <a:off x="10183564" y="4872930"/>
            <a:ext cx="72683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Multi-intent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phạt + trừ điểm + tước bằng trong 1 câu hỏi.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783514" y="5831086"/>
            <a:ext cx="7456736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25" name="Text 23"/>
          <p:cNvSpPr/>
          <p:nvPr/>
        </p:nvSpPr>
        <p:spPr>
          <a:xfrm>
            <a:off x="10183564" y="5404396"/>
            <a:ext cx="72683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Điều A dẫn tới Điều B → tự kéo cả B.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183564" y="5935861"/>
            <a:ext cx="72683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rủi ro cao (web fallback).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01 · UX/PRD · 5 RÀNG BUỘC CỨNG ĐỊNH HÌNH TOÀN BỘ STACK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042231" y="361950"/>
            <a:ext cx="32939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02DATA FLOW04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49729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DỮ LIỆU · OFFLINE + ONLINE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·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replay-able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lineage rõ ràng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238500"/>
            <a:ext cx="7972425" cy="6115050"/>
          </a:xfrm>
          <a:prstGeom prst="roundRect">
            <a:avLst>
              <a:gd name="adj" fmla="val 2181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3025" y="3533775"/>
            <a:ext cx="76033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· INDEXING PIPELINE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343025" y="3943350"/>
            <a:ext cx="738187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FF7A4D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4950" y="4067175"/>
            <a:ext cx="6654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504950" y="4210050"/>
            <a:ext cx="21691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văn bản · ~800 trang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2297" y="4638675"/>
            <a:ext cx="7603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pdfplumber + table-aware clean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43025" y="4867275"/>
            <a:ext cx="738187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4950" y="4991100"/>
            <a:ext cx="90532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504950" y="5133975"/>
            <a:ext cx="27649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· Điều · Khoản · Điểm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2297" y="5562600"/>
            <a:ext cx="7603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HierarchicalLegalSplitter (RQ2)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43025" y="5791200"/>
            <a:ext cx="738187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4950" y="5915025"/>
            <a:ext cx="6585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504950" y="6057900"/>
            <a:ext cx="29226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2 818 · 161 tok TB · 15 metadata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2297" y="6486525"/>
            <a:ext cx="7603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E5-small embed · "passage:" prefix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43025" y="6715125"/>
            <a:ext cx="738187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5FB0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950" y="6838950"/>
            <a:ext cx="5042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504950" y="6981825"/>
            <a:ext cx="27371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HNSW + BM25 cache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67825" y="3238500"/>
            <a:ext cx="7972425" cy="6115050"/>
          </a:xfrm>
          <a:prstGeom prst="roundRect">
            <a:avLst>
              <a:gd name="adj" fmla="val 2181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63100" y="3533775"/>
            <a:ext cx="76033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· PER-QUERY GRAPH RUN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9563100" y="3943350"/>
            <a:ext cx="738187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25025" y="4067175"/>
            <a:ext cx="4972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725025" y="4210050"/>
            <a:ext cx="24157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 + chat history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452372" y="4638675"/>
            <a:ext cx="7603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563100" y="4867275"/>
            <a:ext cx="738187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FF7A4D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5025" y="4991100"/>
            <a:ext cx="800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725025" y="5133975"/>
            <a:ext cx="31681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· standalone · expanded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52372" y="5562600"/>
            <a:ext cx="7603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route_by_category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63100" y="5791200"/>
            <a:ext cx="240982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25025" y="5915025"/>
            <a:ext cx="5250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9725025" y="6057900"/>
            <a:ext cx="4743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2049125" y="5791200"/>
            <a:ext cx="240982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211050" y="5915025"/>
            <a:ext cx="4048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2211050" y="6057900"/>
            <a:ext cx="4805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4535150" y="5791200"/>
            <a:ext cx="240982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97075" y="5915025"/>
            <a:ext cx="3879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4697075" y="6057900"/>
            <a:ext cx="6807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HITL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452372" y="6486525"/>
            <a:ext cx="7603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Pydantic schema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563100" y="6715125"/>
            <a:ext cx="7381875" cy="619125"/>
          </a:xfrm>
          <a:prstGeom prst="roundRect">
            <a:avLst>
              <a:gd name="adj" fmla="val 15385"/>
            </a:avLst>
          </a:prstGeom>
          <a:solidFill>
            <a:srgbClr val="11141A"/>
          </a:solidFill>
          <a:ln w="9525">
            <a:solidFill>
              <a:srgbClr val="5DD49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25025" y="6838950"/>
            <a:ext cx="6447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9725025" y="6981825"/>
            <a:ext cx="2041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answer, sources[ ] }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563100" y="8653016"/>
            <a:ext cx="7603331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spc="57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state replay được từ LangSmith trace · checkpoint per-node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02 · DATA FLOW · TWO-PIPELINE PATTERN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177093" y="361950"/>
            <a:ext cx="41850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03INFERENCE · CACHE05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29527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&amp; CACHING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rẻ · cache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tầng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238500"/>
            <a:ext cx="3890962" cy="2064841"/>
          </a:xfrm>
          <a:prstGeom prst="roundRect">
            <a:avLst>
              <a:gd name="adj" fmla="val 6458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3025" y="3533775"/>
            <a:ext cx="33994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· GENERATION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43025" y="3810000"/>
            <a:ext cx="3399425" cy="9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66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Flash Lite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343025" y="4788991"/>
            <a:ext cx="33994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ctx · $0.075/1M in · $0.30/1M out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48263" y="3238500"/>
            <a:ext cx="3890962" cy="2064841"/>
          </a:xfrm>
          <a:prstGeom prst="roundRect">
            <a:avLst>
              <a:gd name="adj" fmla="val 6458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3538" y="3533775"/>
            <a:ext cx="33994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· LOCAL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443538" y="3810000"/>
            <a:ext cx="3399425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spc="-84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E5-small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443538" y="4373761"/>
            <a:ext cx="33994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 dim · max-seq 512 · CPU friendly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48775" y="3238500"/>
            <a:ext cx="3890962" cy="2064841"/>
          </a:xfrm>
          <a:prstGeom prst="roundRect">
            <a:avLst>
              <a:gd name="adj" fmla="val 6458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4050" y="3533775"/>
            <a:ext cx="33994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 · OPTIONAL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44050" y="3810000"/>
            <a:ext cx="3399425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spc="-84" kern="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bge-v2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544050" y="4373761"/>
            <a:ext cx="33994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568M · ENV togglable theo SLA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349288" y="3238500"/>
            <a:ext cx="3890962" cy="2064841"/>
          </a:xfrm>
          <a:prstGeom prst="roundRect">
            <a:avLst>
              <a:gd name="adj" fmla="val 6458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44563" y="3533775"/>
            <a:ext cx="33994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QUERY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3644563" y="3810000"/>
            <a:ext cx="3399425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spc="-84" kern="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3644563" y="4373761"/>
            <a:ext cx="33994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trên LangSmith · legal_rag node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47750" y="5646241"/>
            <a:ext cx="5270450" cy="2401193"/>
          </a:xfrm>
          <a:prstGeom prst="roundRect">
            <a:avLst>
              <a:gd name="adj" fmla="val 5553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3025" y="5941516"/>
            <a:ext cx="48202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T1 · METADATA FILTER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343025" y="6217741"/>
            <a:ext cx="48202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payload index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343025" y="6741616"/>
            <a:ext cx="4820297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keyword fields (status, doc_id, …) index riêng → filter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status=active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O(log n).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6508700" y="5646241"/>
            <a:ext cx="5270599" cy="2401193"/>
          </a:xfrm>
          <a:prstGeom prst="roundRect">
            <a:avLst>
              <a:gd name="adj" fmla="val 5553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975" y="5941516"/>
            <a:ext cx="48204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T2 · SPARSE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803975" y="6217741"/>
            <a:ext cx="48204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JSONL cache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6803975" y="6741616"/>
            <a:ext cx="4820451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corpus + IDF cache trên disk · load 1 lần, query in-memory · pyvi tokenizer Việt.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1969800" y="5646241"/>
            <a:ext cx="5270450" cy="2401193"/>
          </a:xfrm>
          <a:prstGeom prst="roundRect">
            <a:avLst>
              <a:gd name="adj" fmla="val 5553"/>
            </a:avLst>
          </a:prstGeom>
          <a:solidFill>
            <a:srgbClr val="161B23"/>
          </a:solidFill>
          <a:ln w="9525">
            <a:solidFill>
              <a:srgbClr val="FF7A4D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65075" y="5941516"/>
            <a:ext cx="48202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T3 · PROMPT PREFIX · V7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2265075" y="6217741"/>
            <a:ext cx="33770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Context Caching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2265075" y="6560641"/>
            <a:ext cx="48202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(đang thực hiện)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2265075" y="7084516"/>
            <a:ext cx="4820297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+ retrieved chunks fixed → dự đoán tiết kiệm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 input cost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query lặp.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03 · INFERENCE + CACHING · TTL + INVALIDATION PER LAYER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108162" y="361950"/>
            <a:ext cx="32260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04RETRIEVAL06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3729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· 5 LỚP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2533650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291780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2533650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2533650"/>
            <a:ext cx="38100" cy="767655"/>
          </a:xfrm>
          <a:prstGeom prst="rect">
            <a:avLst/>
          </a:prstGeom>
          <a:solidFill>
            <a:srgbClr val="FF7A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7230725" y="2533650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2717453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DENSE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24100" y="2657475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multilingual-E5-small · 384d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324100" y="2924175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"query:" / "passage:" prefix · max-seq 512 · InfoNCE loss train trên 1B cặp.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5039975" y="2822228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×3 vs sBert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047750" y="3434655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" y="4192786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3434655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3434655"/>
            <a:ext cx="38100" cy="767655"/>
          </a:xfrm>
          <a:prstGeom prst="rect">
            <a:avLst/>
          </a:prstGeom>
          <a:solidFill>
            <a:srgbClr val="FF7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7230725" y="3434655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3618458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SPARSE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324100" y="3558480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Okapi · pyvi tokenizer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324100" y="3825180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được từ khóa hiếm (số NĐ, từ "vượt_đèn_đỏ") · k₁=1.5, b=0.75.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5039975" y="3723233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song Dense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047750" y="4335661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" y="5093791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4335661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4335661"/>
            <a:ext cx="38100" cy="767655"/>
          </a:xfrm>
          <a:prstGeom prst="rect">
            <a:avLst/>
          </a:prstGeom>
          <a:solidFill>
            <a:srgbClr val="5FB0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7230725" y="4335661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1" name="Text 29"/>
          <p:cNvSpPr/>
          <p:nvPr/>
        </p:nvSpPr>
        <p:spPr>
          <a:xfrm>
            <a:off x="1295400" y="4619476"/>
            <a:ext cx="876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RRF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324100" y="4459486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 · k=60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324100" y="4726186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</a:t>
            </a:r>
            <a:pPr algn="l" indent="0" marL="0">
              <a:lnSpc>
                <a:spcPct val="140000"/>
              </a:lnSpc>
              <a:buNone/>
            </a:pPr>
            <a:r>
              <a:rPr lang="en-US" sz="1425" i="1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không fuse </a:t>
            </a:r>
            <a:pPr algn="l" indent="0" marL="0">
              <a:lnSpc>
                <a:spcPct val="140000"/>
              </a:lnSpc>
              <a:buNone/>
            </a:pPr>
            <a:r>
              <a:rPr lang="en-US" sz="1425" i="1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cosine + BM25 không cộng được.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5039975" y="4624239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top-30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1047750" y="5236666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5994797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7750" y="5236666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5236666"/>
            <a:ext cx="38100" cy="767655"/>
          </a:xfrm>
          <a:prstGeom prst="rect">
            <a:avLst/>
          </a:prstGeom>
          <a:solidFill>
            <a:srgbClr val="FF7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17230725" y="5236666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0" name="Text 38"/>
          <p:cNvSpPr/>
          <p:nvPr/>
        </p:nvSpPr>
        <p:spPr>
          <a:xfrm>
            <a:off x="1295400" y="5420469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· RERANK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2324100" y="5360491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 · bge-reranker-v2-m3 · opt-in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2324100" y="5627191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top-30 → rescore → top-K · 568M · max-len 8192 · multilingual · lazy-load · default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ENABLE_RERANKER=false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5039975" y="5429994"/>
            <a:ext cx="1981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+21.6% MRR · ×78 lat CPU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047750" y="6137672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7750" y="6895802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7750" y="6137672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7750" y="6137672"/>
            <a:ext cx="38100" cy="767655"/>
          </a:xfrm>
          <a:prstGeom prst="rect">
            <a:avLst/>
          </a:prstGeom>
          <a:solidFill>
            <a:srgbClr val="5DD49A"/>
          </a:solidFill>
          <a:ln/>
        </p:spPr>
      </p:sp>
      <p:sp>
        <p:nvSpPr>
          <p:cNvPr id="48" name="Shape 46"/>
          <p:cNvSpPr/>
          <p:nvPr/>
        </p:nvSpPr>
        <p:spPr>
          <a:xfrm>
            <a:off x="17230725" y="6137672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9" name="Text 47"/>
          <p:cNvSpPr/>
          <p:nvPr/>
        </p:nvSpPr>
        <p:spPr>
          <a:xfrm>
            <a:off x="1295400" y="6321475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· EXPAND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2324100" y="6261497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Sibling ±2 khoản + Cross-ref regex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2324100" y="6528197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"điểm a khoản 4 Điều 13" → tự kéo về context · phạt + trừ điểm = đáp án đủ.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15039975" y="6426250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ready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04 · HYBRID RETRIEVAL · RQ3 · RQ9 · RQ10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408795" y="361950"/>
            <a:ext cx="2916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05AGENTS07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51284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&amp; ORCHESTRATOR · LANGGRAPH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— không phải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tuyến tính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181350"/>
            <a:ext cx="16192500" cy="5143500"/>
          </a:xfrm>
          <a:prstGeom prst="roundRect">
            <a:avLst>
              <a:gd name="adj" fmla="val 2593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3419475"/>
            <a:ext cx="15716250" cy="46672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47750" y="8458200"/>
            <a:ext cx="173429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90625" y="8524875"/>
            <a:ext cx="15247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· 4 intents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77294" y="8458200"/>
            <a:ext cx="237366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20169" y="8524875"/>
            <a:ext cx="21641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Rewrite · RQ9 −35%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46204" y="8458200"/>
            <a:ext cx="1310729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9079" y="8524875"/>
            <a:ext cx="11011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fallback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52183" y="8458200"/>
            <a:ext cx="1101775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95058" y="8524875"/>
            <a:ext cx="8922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gate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05 · LANGGRAPH · 4 ROUTES + FALLBACK + HITL · A2A-READY PATTERN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874055" y="361950"/>
            <a:ext cx="34671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06TOOLS · MCP08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27972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CÔNG CỤ · RAG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layer chuẩn hóa —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ngoài graph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219450"/>
            <a:ext cx="5257800" cy="3694658"/>
          </a:xfrm>
          <a:prstGeom prst="roundRect">
            <a:avLst>
              <a:gd name="adj" fmla="val 360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3025" y="3514725"/>
            <a:ext cx="48072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1 · CORE RAG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43025" y="3790950"/>
            <a:ext cx="4807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hybrid_search()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343025" y="4229100"/>
            <a:ext cx="4667250" cy="1364456"/>
          </a:xfrm>
          <a:prstGeom prst="roundRect">
            <a:avLst>
              <a:gd name="adj" fmla="val 8377"/>
            </a:avLst>
          </a:prstGeom>
          <a:solidFill>
            <a:srgbClr val="06080B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5900" y="4352925"/>
            <a:ext cx="4521518" cy="1154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"query"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BD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"top_k"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BD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= 10,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"filter"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{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"status"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BD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"active"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}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} →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List[Chunk]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343025" y="5688806"/>
            <a:ext cx="4807268" cy="82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TrafficHybridRetriever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Dense E5 ⊕ BM25 → RRF k=60 → opt-in rerank → sibling ±2 + cross-ref. Trả chunk có metadata {doc_id, dieu, khoan, diem}.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515100" y="3219450"/>
            <a:ext cx="5257800" cy="3694658"/>
          </a:xfrm>
          <a:prstGeom prst="roundRect">
            <a:avLst>
              <a:gd name="adj" fmla="val 360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0375" y="3514725"/>
            <a:ext cx="48072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2 · WEB FALLBACK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810375" y="3790950"/>
            <a:ext cx="4807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tavily_search()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6810375" y="4229100"/>
            <a:ext cx="4667250" cy="1143000"/>
          </a:xfrm>
          <a:prstGeom prst="roundRect">
            <a:avLst>
              <a:gd name="adj" fmla="val 10000"/>
            </a:avLst>
          </a:prstGeom>
          <a:solidFill>
            <a:srgbClr val="06080B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3250" y="4352925"/>
            <a:ext cx="4521518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"query"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BD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"max_results"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BD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= 5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} →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List[Snippet]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810375" y="5467350"/>
            <a:ext cx="4807268" cy="82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query với prefix "Luật giao thông VN: " để tránh lạc đề. Tổng hợp draft_answer + warning prefix ·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requires_approval=True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HITL gate.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1982450" y="3219450"/>
            <a:ext cx="5257800" cy="3694658"/>
          </a:xfrm>
          <a:prstGeom prst="roundRect">
            <a:avLst>
              <a:gd name="adj" fmla="val 360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77725" y="3514725"/>
            <a:ext cx="48072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3 · CROSS-REF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2277725" y="3790950"/>
            <a:ext cx="4807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resolve_xref()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277725" y="4229100"/>
            <a:ext cx="4667250" cy="1143000"/>
          </a:xfrm>
          <a:prstGeom prst="roundRect">
            <a:avLst>
              <a:gd name="adj" fmla="val 10000"/>
            </a:avLst>
          </a:prstGeom>
          <a:solidFill>
            <a:srgbClr val="06080B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20600" y="4352925"/>
            <a:ext cx="4521518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"text"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BD9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} →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List[CitationRef]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B6BCC7"/>
                </a:solidFill>
                <a:highlight>
                  <a:srgbClr val="06080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l" indent="0" marL="0">
              <a:lnSpc>
                <a:spcPct val="155000"/>
              </a:lnSpc>
              <a:buNone/>
            </a:pPr>
            <a:r>
              <a:rPr lang="en-US" sz="1125" i="1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"điểm a khoản 4 Điều 13"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2277725" y="5467350"/>
            <a:ext cx="4807268" cy="82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bắt cụm </a:t>
            </a:r>
            <a:pPr algn="l" indent="0" marL="0">
              <a:lnSpc>
                <a:spcPct val="145000"/>
              </a:lnSpc>
              <a:buNone/>
            </a:pPr>
            <a:r>
              <a:rPr lang="en-US" sz="1425" i="1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điểm/khoản/Điều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top-5 primary chunk · tra get_chunks_by_location() · multi-hop NĐ 168 phạt-tiền + trừ-điểm ghép từ Đ6.K13–K16.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047750" y="7180808"/>
            <a:ext cx="16192500" cy="1991618"/>
          </a:xfrm>
          <a:prstGeom prst="roundRect">
            <a:avLst>
              <a:gd name="adj" fmla="val 6696"/>
            </a:avLst>
          </a:prstGeom>
          <a:solidFill>
            <a:srgbClr val="161B23"/>
          </a:solidFill>
          <a:ln w="9525">
            <a:solidFill>
              <a:srgbClr val="FF7A4D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3025" y="7476083"/>
            <a:ext cx="160700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&amp; A2A · PHÁT TRIỂN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343025" y="7752308"/>
            <a:ext cx="78584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43025" y="8209508"/>
            <a:ext cx="7858411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tool trên đáp ứng tiền đề wrap MCP server → một Claude Desktop / Cursor có thể gọi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hybrid_search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trực tiếp mà không cần biết internals.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315450" y="7752308"/>
            <a:ext cx="78584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(A2A)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315450" y="8209508"/>
            <a:ext cx="7858411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với agent CSGT chuyên biệt (xử lý biên bản) hoặc agent phân tích ảnh biển báo qua A2A protocol — orchestrator điều phối, mỗi agent giữ chuyên môn riêng.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06 · TOOLS · MCP · A2A PATTERN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625066" y="361950"/>
            <a:ext cx="37236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07OBSERVABILITY09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55945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· TRACE · COST · TOKEN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3238500"/>
            <a:ext cx="8448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trace · 3 cấp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47750" y="4236690"/>
            <a:ext cx="8202364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3810000"/>
            <a:ext cx="8036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run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toàn bộ truy vấn · category · refused flag · final cost.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4768155"/>
            <a:ext cx="8202364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4341465"/>
            <a:ext cx="8036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run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analyzer / legal_rag / web_search · per-node latency + token.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7800" y="4872930"/>
            <a:ext cx="8036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prompt, response, finish_reason, retry count.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7750" y="5471071"/>
            <a:ext cx="844843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Traffic-RAG-Evaluation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trace luôn replay được nguyên trạng tham số.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783514" y="3238500"/>
            <a:ext cx="7456736" cy="3338959"/>
          </a:xfrm>
          <a:prstGeom prst="roundRect">
            <a:avLst>
              <a:gd name="adj" fmla="val 399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78789" y="3533775"/>
            <a:ext cx="70721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CENTER · ĐO THỰC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078789" y="4210050"/>
            <a:ext cx="6866186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78789" y="3924300"/>
            <a:ext cx="55515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legal_rag node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640050" y="3924300"/>
            <a:ext cx="13811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39 000 tok · $0.010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78789" y="4714875"/>
            <a:ext cx="6866186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78789" y="4429125"/>
            <a:ext cx="55515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node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640050" y="4429125"/>
            <a:ext cx="13811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2 100 tok · $0.0008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78789" y="5219700"/>
            <a:ext cx="6866186" cy="9525"/>
          </a:xfrm>
          <a:prstGeom prst="rect">
            <a:avLst/>
          </a:prstGeom>
          <a:solidFill>
            <a:srgbClr val="1A1F28"/>
          </a:solidFill>
          <a:ln/>
        </p:spPr>
      </p:sp>
      <p:sp>
        <p:nvSpPr>
          <p:cNvPr id="24" name="Text 22"/>
          <p:cNvSpPr/>
          <p:nvPr/>
        </p:nvSpPr>
        <p:spPr>
          <a:xfrm>
            <a:off x="10078789" y="4933950"/>
            <a:ext cx="55515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web_search node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640050" y="4933950"/>
            <a:ext cx="13811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5 800 tok · $0.0021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78789" y="5438775"/>
            <a:ext cx="64154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query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78845" y="5457825"/>
            <a:ext cx="5423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78789" y="5876925"/>
            <a:ext cx="7072171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spc="71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Optimize legal_rag trước, không phải web_search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07 · OBSERVABILITY · PRE-CONDITION CHO MỌI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605397" y="361950"/>
            <a:ext cx="27138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08EVALS10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48175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· RAGAS-LITE + CI/CD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ở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cấp pull request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047750" y="3219450"/>
            <a:ext cx="8530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· RAGAS gốc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3648075"/>
            <a:ext cx="8530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query × 4 metric · mỗi sample tách ~5–10 atomic claim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047750" y="3914775"/>
            <a:ext cx="8530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~60 call/sample · tổng </a:t>
            </a:r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~6 000 call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047750" y="4181475"/>
            <a:ext cx="8530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Free-tier Gemini ~15 RPM · throttle </a:t>
            </a:r>
            <a:pPr algn="l" indent="0" marL="0">
              <a:buNone/>
            </a:pPr>
            <a:r>
              <a:rPr lang="en-US" sz="1425" dirty="0">
                <a:solidFill>
                  <a:srgbClr val="FF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93.5% NaN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047750" y="4600575"/>
            <a:ext cx="8530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· RAGAS-Lite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5029200"/>
            <a:ext cx="8530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Single-prompt CoT — judge tự decompose nội bộ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47750" y="5295900"/>
            <a:ext cx="8530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call/metric/sample </a:t>
            </a:r>
            <a:pPr algn="l" indent="0" marL="0"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tổng 20 call · ~90s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047750" y="5562600"/>
            <a:ext cx="8530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 regex SCORE: x.xx · backoff 8→16→32→64s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710886" y="3219450"/>
            <a:ext cx="7755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n=5 · simple_penalty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710886" y="3648075"/>
            <a:ext cx="7529364" cy="1495425"/>
          </a:xfrm>
          <a:prstGeom prst="roundRect">
            <a:avLst>
              <a:gd name="adj" fmla="val 5096"/>
            </a:avLst>
          </a:prstGeom>
          <a:ln w="9525">
            <a:solidFill>
              <a:srgbClr val="232A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0411" y="3657600"/>
            <a:ext cx="7510314" cy="371475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20" name="Shape 18"/>
          <p:cNvSpPr/>
          <p:nvPr/>
        </p:nvSpPr>
        <p:spPr>
          <a:xfrm>
            <a:off x="9720411" y="4019550"/>
            <a:ext cx="7510314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1" name="Text 19"/>
          <p:cNvSpPr/>
          <p:nvPr/>
        </p:nvSpPr>
        <p:spPr>
          <a:xfrm>
            <a:off x="9853761" y="3752850"/>
            <a:ext cx="71554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answer_relevancy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800761" y="3752850"/>
            <a:ext cx="3728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20411" y="4391025"/>
            <a:ext cx="7510314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4" name="Text 22"/>
          <p:cNvSpPr/>
          <p:nvPr/>
        </p:nvSpPr>
        <p:spPr>
          <a:xfrm>
            <a:off x="9853761" y="4124325"/>
            <a:ext cx="71554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context_recall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800761" y="4124325"/>
            <a:ext cx="3728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C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20411" y="4762500"/>
            <a:ext cx="7510314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7" name="Text 25"/>
          <p:cNvSpPr/>
          <p:nvPr/>
        </p:nvSpPr>
        <p:spPr>
          <a:xfrm>
            <a:off x="9853761" y="4495800"/>
            <a:ext cx="71554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context_precision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800761" y="4495800"/>
            <a:ext cx="3728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C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53761" y="4867275"/>
            <a:ext cx="71554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800761" y="4867275"/>
            <a:ext cx="3728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10886" y="5257800"/>
            <a:ext cx="7755245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Diễn giải: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OK · bottleneck ở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precision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củng cố quyết định bật reranker.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9710886" y="5963543"/>
            <a:ext cx="775524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spc="57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CI/CD: Pytest Recall@10 ≥ 0.40 · merge bị khóa nếu thấp hơn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08 · EVALS · RAGAS-LITE + PYTEST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988504" y="361950"/>
            <a:ext cx="33492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09GUARDRAILS11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45068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· DEFENSE IN DEPTH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lớp phòng vệ —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khẩu hiệu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848100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4606230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3848100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3848100"/>
            <a:ext cx="38100" cy="767655"/>
          </a:xfrm>
          <a:prstGeom prst="rect">
            <a:avLst/>
          </a:prstGeom>
          <a:solidFill>
            <a:srgbClr val="FF7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7230725" y="3848100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4031903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· INPUT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24100" y="3971925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routes out_of_scope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324100" y="4238625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trước retrieval · refuse câu hỏi ngoài phạm vi pháp luật giao thông từ đầu.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5039975" y="4136678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cost-saving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047750" y="4749105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5507236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4749105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4749105"/>
            <a:ext cx="38100" cy="767655"/>
          </a:xfrm>
          <a:prstGeom prst="rect">
            <a:avLst/>
          </a:prstGeom>
          <a:solidFill>
            <a:srgbClr val="FF7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7230725" y="4749105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4932908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· RETRIEVAL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324100" y="4872930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filter status=active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324100" y="5139630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luật hết hiệu lực ở cấp Qdrant payload index · không thể leak vào context.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5039975" y="5037683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DB-level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1047750" y="5650111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6408241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5650111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7750" y="5650111"/>
            <a:ext cx="38100" cy="767655"/>
          </a:xfrm>
          <a:prstGeom prst="rect">
            <a:avLst/>
          </a:prstGeom>
          <a:solidFill>
            <a:srgbClr val="FF7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17230725" y="5650111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2" name="Text 30"/>
          <p:cNvSpPr/>
          <p:nvPr/>
        </p:nvSpPr>
        <p:spPr>
          <a:xfrm>
            <a:off x="1295400" y="5833914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· GENERATION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324100" y="5773936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 + 14 rules + refusal flag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2324100" y="6040636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Answer khỏi Citations · cite metadata phải có thực · thiếu evidence →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refused=True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5039975" y="5938689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047750" y="6551116"/>
            <a:ext cx="16192500" cy="767655"/>
          </a:xfrm>
          <a:prstGeom prst="roundRect">
            <a:avLst>
              <a:gd name="adj" fmla="val 12408"/>
            </a:avLst>
          </a:prstGeom>
          <a:solidFill>
            <a:srgbClr val="161B23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7750" y="7309247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6551116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7750" y="6551116"/>
            <a:ext cx="38100" cy="767655"/>
          </a:xfrm>
          <a:prstGeom prst="rect">
            <a:avLst/>
          </a:prstGeom>
          <a:solidFill>
            <a:srgbClr val="5DD49A"/>
          </a:solidFill>
          <a:ln/>
        </p:spPr>
      </p:sp>
      <p:sp>
        <p:nvSpPr>
          <p:cNvPr id="40" name="Shape 38"/>
          <p:cNvSpPr/>
          <p:nvPr/>
        </p:nvSpPr>
        <p:spPr>
          <a:xfrm>
            <a:off x="17230725" y="6551116"/>
            <a:ext cx="9525" cy="76765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1" name="Text 39"/>
          <p:cNvSpPr/>
          <p:nvPr/>
        </p:nvSpPr>
        <p:spPr>
          <a:xfrm>
            <a:off x="1295400" y="6734919"/>
            <a:ext cx="876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· HUMAN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2324100" y="6674941"/>
            <a:ext cx="129403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gate · interrupt_before web_finalize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2324100" y="6941641"/>
            <a:ext cx="1294037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câu trả lời từ web_search phải qua admin duyệt · /resume mới nhả · 100% kiểm soát ảo giác.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5039975" y="6839694"/>
            <a:ext cx="1981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1047750" y="7452122"/>
            <a:ext cx="16192500" cy="1686818"/>
          </a:xfrm>
          <a:prstGeom prst="roundRect">
            <a:avLst>
              <a:gd name="adj" fmla="val 7905"/>
            </a:avLst>
          </a:prstGeom>
          <a:solidFill>
            <a:srgbClr val="161B23"/>
          </a:solidFill>
          <a:ln w="9525">
            <a:solidFill>
              <a:srgbClr val="FF7A4D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28725" y="7575947"/>
            <a:ext cx="163054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ĐẶC BIỆT · QUY TẮC 14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228725" y="7852172"/>
            <a:ext cx="67039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Reasoning · CoT 4 bước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28725" y="8309372"/>
            <a:ext cx="6703961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"đi ngược chiều quẹt xe — ai có lỗi?" — không có Điều khoản định sẵn. LLM bị ép chạy: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7946975" y="7852172"/>
            <a:ext cx="2206526" cy="1162943"/>
          </a:xfrm>
          <a:prstGeom prst="roundRect">
            <a:avLst>
              <a:gd name="adj" fmla="val 6552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70800" y="7975997"/>
            <a:ext cx="20350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8070800" y="8137922"/>
            <a:ext cx="2035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Trích hành vi</a:t>
            </a:r>
            <a:endParaRPr lang="en-US" sz="1425" dirty="0"/>
          </a:p>
        </p:txBody>
      </p:sp>
      <p:sp>
        <p:nvSpPr>
          <p:cNvPr id="52" name="Shape 50"/>
          <p:cNvSpPr/>
          <p:nvPr/>
        </p:nvSpPr>
        <p:spPr>
          <a:xfrm>
            <a:off x="10248751" y="7852172"/>
            <a:ext cx="2206675" cy="1162943"/>
          </a:xfrm>
          <a:prstGeom prst="roundRect">
            <a:avLst>
              <a:gd name="adj" fmla="val 6552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72576" y="7975997"/>
            <a:ext cx="20352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10372576" y="8137922"/>
            <a:ext cx="20352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chunk</a:t>
            </a:r>
            <a:endParaRPr lang="en-US" sz="1425" dirty="0"/>
          </a:p>
        </p:txBody>
      </p:sp>
      <p:sp>
        <p:nvSpPr>
          <p:cNvPr id="55" name="Shape 53"/>
          <p:cNvSpPr/>
          <p:nvPr/>
        </p:nvSpPr>
        <p:spPr>
          <a:xfrm>
            <a:off x="12550676" y="7852172"/>
            <a:ext cx="2206675" cy="1162943"/>
          </a:xfrm>
          <a:prstGeom prst="roundRect">
            <a:avLst>
              <a:gd name="adj" fmla="val 6552"/>
            </a:avLst>
          </a:prstGeom>
          <a:solidFill>
            <a:srgbClr val="11141A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674501" y="7975997"/>
            <a:ext cx="20352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2674501" y="8137922"/>
            <a:ext cx="20352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lỗi logic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14852600" y="7852172"/>
            <a:ext cx="2206675" cy="1162943"/>
          </a:xfrm>
          <a:prstGeom prst="roundRect">
            <a:avLst>
              <a:gd name="adj" fmla="val 6552"/>
            </a:avLst>
          </a:prstGeom>
          <a:solidFill>
            <a:srgbClr val="11141A"/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976425" y="7975997"/>
            <a:ext cx="20352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4976425" y="8137922"/>
            <a:ext cx="20352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 CSGT</a:t>
            </a:r>
            <a:endParaRPr lang="en-US" sz="1425" dirty="0"/>
          </a:p>
        </p:txBody>
      </p:sp>
      <p:sp>
        <p:nvSpPr>
          <p:cNvPr id="61" name="Text 59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09 · GUARDRAILS · 4 LỚP + QUY TẮC 14 (LEGAL REASONING)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874627" y="361950"/>
            <a:ext cx="24418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MVPSTACK12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631775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4603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831925" y="1500188"/>
            <a:ext cx="40404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ĐANG CHẠY THỰC TẾ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component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swap-able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tiêu chí evolvable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500438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228975"/>
            <a:ext cx="226992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3508177" y="3500438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2" name="Text 10"/>
          <p:cNvSpPr/>
          <p:nvPr/>
        </p:nvSpPr>
        <p:spPr>
          <a:xfrm>
            <a:off x="3641527" y="3228975"/>
            <a:ext cx="6787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0356503" y="3500438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489853" y="3228975"/>
            <a:ext cx="271285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3249275" y="3500438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6" name="Text 14"/>
          <p:cNvSpPr/>
          <p:nvPr/>
        </p:nvSpPr>
        <p:spPr>
          <a:xfrm>
            <a:off x="13382625" y="3228975"/>
            <a:ext cx="384400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SWAP-ABLE?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47750" y="3890962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3595688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3508177" y="3890962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0" name="Text 18"/>
          <p:cNvSpPr/>
          <p:nvPr/>
        </p:nvSpPr>
        <p:spPr>
          <a:xfrm>
            <a:off x="3641527" y="3595688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SSE streaming · UI duyệt HITL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356503" y="3890962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2" name="Text 20"/>
          <p:cNvSpPr/>
          <p:nvPr/>
        </p:nvSpPr>
        <p:spPr>
          <a:xfrm>
            <a:off x="10489853" y="3595688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UX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3249275" y="3890962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4" name="Text 22"/>
          <p:cNvSpPr/>
          <p:nvPr/>
        </p:nvSpPr>
        <p:spPr>
          <a:xfrm>
            <a:off x="13382625" y="3595688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47750" y="4281488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3986213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3508177" y="4281488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8" name="Text 26"/>
          <p:cNvSpPr/>
          <p:nvPr/>
        </p:nvSpPr>
        <p:spPr>
          <a:xfrm>
            <a:off x="3641527" y="3986213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async · uvicorn workers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356503" y="4281488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0" name="Text 28"/>
          <p:cNvSpPr/>
          <p:nvPr/>
        </p:nvSpPr>
        <p:spPr>
          <a:xfrm>
            <a:off x="10489853" y="3986213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Data Flow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3249275" y="4281488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2" name="Text 30"/>
          <p:cNvSpPr/>
          <p:nvPr/>
        </p:nvSpPr>
        <p:spPr>
          <a:xfrm>
            <a:off x="13382625" y="3986213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047750" y="4672013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4" name="Text 32"/>
          <p:cNvSpPr/>
          <p:nvPr/>
        </p:nvSpPr>
        <p:spPr>
          <a:xfrm>
            <a:off x="1181100" y="4376738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3508177" y="4672013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6" name="Text 34"/>
          <p:cNvSpPr/>
          <p:nvPr/>
        </p:nvSpPr>
        <p:spPr>
          <a:xfrm>
            <a:off x="3641527" y="4376738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0.2.x · checkpointer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356503" y="4672013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8" name="Text 36"/>
          <p:cNvSpPr/>
          <p:nvPr/>
        </p:nvSpPr>
        <p:spPr>
          <a:xfrm>
            <a:off x="10489853" y="4376738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Agents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3249275" y="4672013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0" name="Text 38"/>
          <p:cNvSpPr/>
          <p:nvPr/>
        </p:nvSpPr>
        <p:spPr>
          <a:xfrm>
            <a:off x="13382625" y="4376738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047750" y="5062538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2" name="Text 40"/>
          <p:cNvSpPr/>
          <p:nvPr/>
        </p:nvSpPr>
        <p:spPr>
          <a:xfrm>
            <a:off x="1181100" y="4767263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3508177" y="5062538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4" name="Text 42"/>
          <p:cNvSpPr/>
          <p:nvPr/>
        </p:nvSpPr>
        <p:spPr>
          <a:xfrm>
            <a:off x="3641527" y="4767263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Flash Lite Preview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0356503" y="5062538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6" name="Text 44"/>
          <p:cNvSpPr/>
          <p:nvPr/>
        </p:nvSpPr>
        <p:spPr>
          <a:xfrm>
            <a:off x="10489853" y="4767263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Inference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3249275" y="5062538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8" name="Text 46"/>
          <p:cNvSpPr/>
          <p:nvPr/>
        </p:nvSpPr>
        <p:spPr>
          <a:xfrm>
            <a:off x="13382625" y="4767263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(provider-agnostic)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047750" y="5453063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0" name="Text 48"/>
          <p:cNvSpPr/>
          <p:nvPr/>
        </p:nvSpPr>
        <p:spPr>
          <a:xfrm>
            <a:off x="1181100" y="5157788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Embedder</a:t>
            </a:r>
            <a:endParaRPr lang="en-US" sz="1425" dirty="0"/>
          </a:p>
        </p:txBody>
      </p:sp>
      <p:sp>
        <p:nvSpPr>
          <p:cNvPr id="51" name="Shape 49"/>
          <p:cNvSpPr/>
          <p:nvPr/>
        </p:nvSpPr>
        <p:spPr>
          <a:xfrm>
            <a:off x="3508177" y="5453063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2" name="Text 50"/>
          <p:cNvSpPr/>
          <p:nvPr/>
        </p:nvSpPr>
        <p:spPr>
          <a:xfrm>
            <a:off x="3641527" y="5157788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multilingual-E5-small · 384d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0356503" y="5453063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4" name="Text 52"/>
          <p:cNvSpPr/>
          <p:nvPr/>
        </p:nvSpPr>
        <p:spPr>
          <a:xfrm>
            <a:off x="10489853" y="5157788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Retrieval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13249275" y="5453063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6" name="Text 54"/>
          <p:cNvSpPr/>
          <p:nvPr/>
        </p:nvSpPr>
        <p:spPr>
          <a:xfrm>
            <a:off x="13382625" y="5157788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1047750" y="5843588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8" name="Text 56"/>
          <p:cNvSpPr/>
          <p:nvPr/>
        </p:nvSpPr>
        <p:spPr>
          <a:xfrm>
            <a:off x="1181100" y="5548313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3508177" y="5843588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0" name="Text 58"/>
          <p:cNvSpPr/>
          <p:nvPr/>
        </p:nvSpPr>
        <p:spPr>
          <a:xfrm>
            <a:off x="3641527" y="5548313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1.7 · HNSW + payload index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0356503" y="5843588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2" name="Text 60"/>
          <p:cNvSpPr/>
          <p:nvPr/>
        </p:nvSpPr>
        <p:spPr>
          <a:xfrm>
            <a:off x="10489853" y="5548313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Retrieval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3249275" y="5843588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4" name="Text 62"/>
          <p:cNvSpPr/>
          <p:nvPr/>
        </p:nvSpPr>
        <p:spPr>
          <a:xfrm>
            <a:off x="13382625" y="5548313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1047750" y="6234113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6" name="Text 64"/>
          <p:cNvSpPr/>
          <p:nvPr/>
        </p:nvSpPr>
        <p:spPr>
          <a:xfrm>
            <a:off x="1181100" y="5938838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425" dirty="0"/>
          </a:p>
        </p:txBody>
      </p:sp>
      <p:sp>
        <p:nvSpPr>
          <p:cNvPr id="67" name="Shape 65"/>
          <p:cNvSpPr/>
          <p:nvPr/>
        </p:nvSpPr>
        <p:spPr>
          <a:xfrm>
            <a:off x="3508177" y="6234113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8" name="Text 66"/>
          <p:cNvSpPr/>
          <p:nvPr/>
        </p:nvSpPr>
        <p:spPr>
          <a:xfrm>
            <a:off x="3641527" y="5938838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BAAI/bge-reranker-v2-m3 · ENV togglable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10356503" y="6234113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70" name="Text 68"/>
          <p:cNvSpPr/>
          <p:nvPr/>
        </p:nvSpPr>
        <p:spPr>
          <a:xfrm>
            <a:off x="10489853" y="5938838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Retrieval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13249275" y="6234113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72" name="Text 70"/>
          <p:cNvSpPr/>
          <p:nvPr/>
        </p:nvSpPr>
        <p:spPr>
          <a:xfrm>
            <a:off x="13382625" y="5938838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1047750" y="6624638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74" name="Text 72"/>
          <p:cNvSpPr/>
          <p:nvPr/>
        </p:nvSpPr>
        <p:spPr>
          <a:xfrm>
            <a:off x="1181100" y="6329363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25" dirty="0"/>
          </a:p>
        </p:txBody>
      </p:sp>
      <p:sp>
        <p:nvSpPr>
          <p:cNvPr id="75" name="Shape 73"/>
          <p:cNvSpPr/>
          <p:nvPr/>
        </p:nvSpPr>
        <p:spPr>
          <a:xfrm>
            <a:off x="3508177" y="6624638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76" name="Text 74"/>
          <p:cNvSpPr/>
          <p:nvPr/>
        </p:nvSpPr>
        <p:spPr>
          <a:xfrm>
            <a:off x="3641527" y="6329363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hybrid_search · tavily · resolve_xref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10356503" y="6624638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78" name="Text 76"/>
          <p:cNvSpPr/>
          <p:nvPr/>
        </p:nvSpPr>
        <p:spPr>
          <a:xfrm>
            <a:off x="10489853" y="6329363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Tools/MCP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13249275" y="6624638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80" name="Text 78"/>
          <p:cNvSpPr/>
          <p:nvPr/>
        </p:nvSpPr>
        <p:spPr>
          <a:xfrm>
            <a:off x="13382625" y="6329363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(MCP-ready)</a:t>
            </a:r>
            <a:endParaRPr lang="en-US" sz="1350" dirty="0"/>
          </a:p>
        </p:txBody>
      </p:sp>
      <p:sp>
        <p:nvSpPr>
          <p:cNvPr id="81" name="Shape 79"/>
          <p:cNvSpPr/>
          <p:nvPr/>
        </p:nvSpPr>
        <p:spPr>
          <a:xfrm>
            <a:off x="1047750" y="7015163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82" name="Text 80"/>
          <p:cNvSpPr/>
          <p:nvPr/>
        </p:nvSpPr>
        <p:spPr>
          <a:xfrm>
            <a:off x="1181100" y="6719888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425" dirty="0"/>
          </a:p>
        </p:txBody>
      </p:sp>
      <p:sp>
        <p:nvSpPr>
          <p:cNvPr id="83" name="Shape 81"/>
          <p:cNvSpPr/>
          <p:nvPr/>
        </p:nvSpPr>
        <p:spPr>
          <a:xfrm>
            <a:off x="3508177" y="7015163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84" name="Text 82"/>
          <p:cNvSpPr/>
          <p:nvPr/>
        </p:nvSpPr>
        <p:spPr>
          <a:xfrm>
            <a:off x="3641527" y="6719888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· project Traffic-RAG-Evaluation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10356503" y="7015163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86" name="Text 84"/>
          <p:cNvSpPr/>
          <p:nvPr/>
        </p:nvSpPr>
        <p:spPr>
          <a:xfrm>
            <a:off x="10489853" y="6719888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Observability</a:t>
            </a:r>
            <a:endParaRPr lang="en-US" sz="1350" dirty="0"/>
          </a:p>
        </p:txBody>
      </p:sp>
      <p:sp>
        <p:nvSpPr>
          <p:cNvPr id="87" name="Shape 85"/>
          <p:cNvSpPr/>
          <p:nvPr/>
        </p:nvSpPr>
        <p:spPr>
          <a:xfrm>
            <a:off x="13249275" y="7015163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88" name="Text 86"/>
          <p:cNvSpPr/>
          <p:nvPr/>
        </p:nvSpPr>
        <p:spPr>
          <a:xfrm>
            <a:off x="13382625" y="6719888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1047750" y="7405688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90" name="Text 88"/>
          <p:cNvSpPr/>
          <p:nvPr/>
        </p:nvSpPr>
        <p:spPr>
          <a:xfrm>
            <a:off x="1181100" y="7110413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1425" dirty="0"/>
          </a:p>
        </p:txBody>
      </p:sp>
      <p:sp>
        <p:nvSpPr>
          <p:cNvPr id="91" name="Shape 89"/>
          <p:cNvSpPr/>
          <p:nvPr/>
        </p:nvSpPr>
        <p:spPr>
          <a:xfrm>
            <a:off x="3508177" y="7405688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92" name="Text 90"/>
          <p:cNvSpPr/>
          <p:nvPr/>
        </p:nvSpPr>
        <p:spPr>
          <a:xfrm>
            <a:off x="3641527" y="7110413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RAGAS-Lite + Pytest CI/CD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10356503" y="7405688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94" name="Text 92"/>
          <p:cNvSpPr/>
          <p:nvPr/>
        </p:nvSpPr>
        <p:spPr>
          <a:xfrm>
            <a:off x="10489853" y="7110413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Evals</a:t>
            </a:r>
            <a:endParaRPr lang="en-US" sz="1350" dirty="0"/>
          </a:p>
        </p:txBody>
      </p:sp>
      <p:sp>
        <p:nvSpPr>
          <p:cNvPr id="95" name="Shape 93"/>
          <p:cNvSpPr/>
          <p:nvPr/>
        </p:nvSpPr>
        <p:spPr>
          <a:xfrm>
            <a:off x="13249275" y="7405688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96" name="Text 94"/>
          <p:cNvSpPr/>
          <p:nvPr/>
        </p:nvSpPr>
        <p:spPr>
          <a:xfrm>
            <a:off x="13382625" y="7110413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1047750" y="7796212"/>
            <a:ext cx="24604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98" name="Text 96"/>
          <p:cNvSpPr/>
          <p:nvPr/>
        </p:nvSpPr>
        <p:spPr>
          <a:xfrm>
            <a:off x="1181100" y="7500938"/>
            <a:ext cx="2269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425" dirty="0"/>
          </a:p>
        </p:txBody>
      </p:sp>
      <p:sp>
        <p:nvSpPr>
          <p:cNvPr id="99" name="Shape 97"/>
          <p:cNvSpPr/>
          <p:nvPr/>
        </p:nvSpPr>
        <p:spPr>
          <a:xfrm>
            <a:off x="3508177" y="7796212"/>
            <a:ext cx="6848326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00" name="Text 98"/>
          <p:cNvSpPr/>
          <p:nvPr/>
        </p:nvSpPr>
        <p:spPr>
          <a:xfrm>
            <a:off x="3641527" y="7500938"/>
            <a:ext cx="678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 + HITL interrupt</a:t>
            </a:r>
            <a:endParaRPr lang="en-US" sz="1350" dirty="0"/>
          </a:p>
        </p:txBody>
      </p:sp>
      <p:sp>
        <p:nvSpPr>
          <p:cNvPr id="101" name="Shape 99"/>
          <p:cNvSpPr/>
          <p:nvPr/>
        </p:nvSpPr>
        <p:spPr>
          <a:xfrm>
            <a:off x="10356503" y="7796212"/>
            <a:ext cx="289277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489853" y="7500938"/>
            <a:ext cx="2712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Guardrails</a:t>
            </a:r>
            <a:endParaRPr lang="en-US" sz="1350" dirty="0"/>
          </a:p>
        </p:txBody>
      </p:sp>
      <p:sp>
        <p:nvSpPr>
          <p:cNvPr id="103" name="Shape 101"/>
          <p:cNvSpPr/>
          <p:nvPr/>
        </p:nvSpPr>
        <p:spPr>
          <a:xfrm>
            <a:off x="13249275" y="7796212"/>
            <a:ext cx="3990975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04" name="Text 102"/>
          <p:cNvSpPr/>
          <p:nvPr/>
        </p:nvSpPr>
        <p:spPr>
          <a:xfrm>
            <a:off x="13382625" y="7500938"/>
            <a:ext cx="3844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1181100" y="7891463"/>
            <a:ext cx="226992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425" dirty="0"/>
          </a:p>
        </p:txBody>
      </p:sp>
      <p:sp>
        <p:nvSpPr>
          <p:cNvPr id="106" name="Text 104"/>
          <p:cNvSpPr/>
          <p:nvPr/>
        </p:nvSpPr>
        <p:spPr>
          <a:xfrm>
            <a:off x="3641527" y="7891463"/>
            <a:ext cx="67870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· isolated services</a:t>
            </a:r>
            <a:endParaRPr lang="en-US" sz="1350" dirty="0"/>
          </a:p>
        </p:txBody>
      </p:sp>
      <p:sp>
        <p:nvSpPr>
          <p:cNvPr id="107" name="Text 105"/>
          <p:cNvSpPr/>
          <p:nvPr/>
        </p:nvSpPr>
        <p:spPr>
          <a:xfrm>
            <a:off x="10489853" y="7891463"/>
            <a:ext cx="27128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08" name="Text 106"/>
          <p:cNvSpPr/>
          <p:nvPr/>
        </p:nvSpPr>
        <p:spPr>
          <a:xfrm>
            <a:off x="13382625" y="7891463"/>
            <a:ext cx="384400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09" name="Text 107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12 LAYERS · 9 TRỤ CỘT · ALL SWAP-ABLE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942790" y="361950"/>
            <a:ext cx="23736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DEMOLIVE13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759768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5883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959918" y="1500188"/>
            <a:ext cx="31081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KỊCH BẢN TRỰC TIẾP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kịch bản —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trụ cột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219450"/>
            <a:ext cx="7981950" cy="2005459"/>
          </a:xfrm>
          <a:prstGeom prst="roundRect">
            <a:avLst>
              <a:gd name="adj" fmla="val 664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3025" y="3514725"/>
            <a:ext cx="76131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1 · HAPPY PATH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43025" y="3790950"/>
            <a:ext cx="76131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"Vượt đèn đỏ ô tô phạt bao nhiêu?"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43025" y="4314825"/>
            <a:ext cx="7613142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Analyzer · legal · hybrid_search · cite NĐ 168/2024 Đ6 K11.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343025" y="4758184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2125" y="4758184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58300" y="3219450"/>
            <a:ext cx="7981950" cy="2005459"/>
          </a:xfrm>
          <a:prstGeom prst="roundRect">
            <a:avLst>
              <a:gd name="adj" fmla="val 6649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3575" y="3514725"/>
            <a:ext cx="76131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2 · CROSS-REFERENCE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553575" y="3790950"/>
            <a:ext cx="76131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"Trừ điểm GPLX khi vượt đèn đỏ?"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53575" y="4314825"/>
            <a:ext cx="7613142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Sibling expansion ±2 + regex xref · gộp phạt + trừ điểm trong 1 đáp án.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553575" y="4758184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72675" y="4758184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7750" y="5453509"/>
            <a:ext cx="7981950" cy="2014984"/>
          </a:xfrm>
          <a:prstGeom prst="roundRect">
            <a:avLst>
              <a:gd name="adj" fmla="val 6618"/>
            </a:avLst>
          </a:prstGeom>
          <a:solidFill>
            <a:srgbClr val="161B23"/>
          </a:solidFill>
          <a:ln w="9525">
            <a:solidFill>
              <a:srgbClr val="FF7A4D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3025" y="5748784"/>
            <a:ext cx="76131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3 · QUY TẮC 14 ★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343025" y="6034534"/>
            <a:ext cx="76131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"Tôi đi ngược chiều quẹt xe — ai có lỗi?"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43025" y="6558409"/>
            <a:ext cx="7613142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Trigger Legal Reasoning CoT · 4 bước · disclaimer CSGT thẩm quyền.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343025" y="7001768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8300" y="5453509"/>
            <a:ext cx="7981950" cy="2014984"/>
          </a:xfrm>
          <a:prstGeom prst="roundRect">
            <a:avLst>
              <a:gd name="adj" fmla="val 6618"/>
            </a:avLst>
          </a:prstGeom>
          <a:solidFill>
            <a:srgbClr val="161B23"/>
          </a:solidFill>
          <a:ln w="9525">
            <a:solidFill>
              <a:srgbClr val="FF7A4D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3575" y="5748784"/>
            <a:ext cx="76131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4 · HITL FALLBACK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553575" y="6025009"/>
            <a:ext cx="76131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"Quy định mới về xe đạp điện 2026?"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553575" y="6548884"/>
            <a:ext cx="7613142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 chunk → fallback web_search → interrupt_before → admin duyệt → /resume.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553575" y="6992243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72675" y="6992243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PLAN · 4 SCENARIOS · COVER TRỤ 04 · 05 · 06 · 07 · 09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728353" y="361950"/>
            <a:ext cx="36172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DECISIONSRQ-DRIVEN14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41959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TRIỂN KHAI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quyết định —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chứng cứ định lượng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576638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305175"/>
            <a:ext cx="54902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787277" y="3576638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627" y="3305175"/>
            <a:ext cx="763417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458027" y="3576638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4" name="Text 12"/>
          <p:cNvSpPr/>
          <p:nvPr/>
        </p:nvSpPr>
        <p:spPr>
          <a:xfrm>
            <a:off x="9591377" y="3305175"/>
            <a:ext cx="58889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ĐƯỢC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5434370" y="3576638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6" name="Text 14"/>
          <p:cNvSpPr/>
          <p:nvPr/>
        </p:nvSpPr>
        <p:spPr>
          <a:xfrm>
            <a:off x="15567720" y="3305175"/>
            <a:ext cx="16153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47750" y="4005262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3671888"/>
            <a:ext cx="5490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787277" y="4005262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0" name="Text 18"/>
          <p:cNvSpPr/>
          <p:nvPr/>
        </p:nvSpPr>
        <p:spPr>
          <a:xfrm>
            <a:off x="1920627" y="3671888"/>
            <a:ext cx="763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&gt; Vanilla RAG &gt; Gemini-only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458027" y="4005262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2" name="Text 20"/>
          <p:cNvSpPr/>
          <p:nvPr/>
        </p:nvSpPr>
        <p:spPr>
          <a:xfrm>
            <a:off x="9591377" y="3671888"/>
            <a:ext cx="58889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Cit-R 0.56 vs 0.20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434370" y="4005262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4" name="Text 22"/>
          <p:cNvSpPr/>
          <p:nvPr/>
        </p:nvSpPr>
        <p:spPr>
          <a:xfrm>
            <a:off x="15567720" y="3671888"/>
            <a:ext cx="1615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47750" y="4433888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4100513"/>
            <a:ext cx="5490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787277" y="4433888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28" name="Text 26"/>
          <p:cNvSpPr/>
          <p:nvPr/>
        </p:nvSpPr>
        <p:spPr>
          <a:xfrm>
            <a:off x="1920627" y="4100513"/>
            <a:ext cx="763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chunking &gt; Fixed-512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458027" y="4433888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0" name="Text 28"/>
          <p:cNvSpPr/>
          <p:nvPr/>
        </p:nvSpPr>
        <p:spPr>
          <a:xfrm>
            <a:off x="9591377" y="4100513"/>
            <a:ext cx="58889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0.16 vs 0.07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434370" y="4433888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2" name="Text 30"/>
          <p:cNvSpPr/>
          <p:nvPr/>
        </p:nvSpPr>
        <p:spPr>
          <a:xfrm>
            <a:off x="15567720" y="4100513"/>
            <a:ext cx="1615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047750" y="4862513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4" name="Text 32"/>
          <p:cNvSpPr/>
          <p:nvPr/>
        </p:nvSpPr>
        <p:spPr>
          <a:xfrm>
            <a:off x="1181100" y="4529138"/>
            <a:ext cx="5490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787277" y="4862513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6" name="Text 34"/>
          <p:cNvSpPr/>
          <p:nvPr/>
        </p:nvSpPr>
        <p:spPr>
          <a:xfrm>
            <a:off x="1920627" y="4529138"/>
            <a:ext cx="763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E5-small &gt; mpnet &gt; PhoBERT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9458027" y="4862513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8" name="Text 36"/>
          <p:cNvSpPr/>
          <p:nvPr/>
        </p:nvSpPr>
        <p:spPr>
          <a:xfrm>
            <a:off x="9591377" y="4529138"/>
            <a:ext cx="58889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0.22 (×3 sBert)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434370" y="4862513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0" name="Text 38"/>
          <p:cNvSpPr/>
          <p:nvPr/>
        </p:nvSpPr>
        <p:spPr>
          <a:xfrm>
            <a:off x="15567720" y="4529138"/>
            <a:ext cx="1615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04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047750" y="5291138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2" name="Text 40"/>
          <p:cNvSpPr/>
          <p:nvPr/>
        </p:nvSpPr>
        <p:spPr>
          <a:xfrm>
            <a:off x="1181100" y="4957763"/>
            <a:ext cx="5490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1787277" y="5291138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4" name="Text 42"/>
          <p:cNvSpPr/>
          <p:nvPr/>
        </p:nvSpPr>
        <p:spPr>
          <a:xfrm>
            <a:off x="1920627" y="4957763"/>
            <a:ext cx="763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(filter) &gt; FAISS (no filter)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9458027" y="5291138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6" name="Text 44"/>
          <p:cNvSpPr/>
          <p:nvPr/>
        </p:nvSpPr>
        <p:spPr>
          <a:xfrm>
            <a:off x="9591377" y="4957763"/>
            <a:ext cx="58889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quality + payload index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434370" y="5291138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48" name="Text 46"/>
          <p:cNvSpPr/>
          <p:nvPr/>
        </p:nvSpPr>
        <p:spPr>
          <a:xfrm>
            <a:off x="15567720" y="4957763"/>
            <a:ext cx="1615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04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047750" y="5719763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0" name="Text 48"/>
          <p:cNvSpPr/>
          <p:nvPr/>
        </p:nvSpPr>
        <p:spPr>
          <a:xfrm>
            <a:off x="1181100" y="5386388"/>
            <a:ext cx="5490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</a:t>
            </a:r>
            <a:endParaRPr lang="en-US" sz="1425" dirty="0"/>
          </a:p>
        </p:txBody>
      </p:sp>
      <p:sp>
        <p:nvSpPr>
          <p:cNvPr id="51" name="Shape 49"/>
          <p:cNvSpPr/>
          <p:nvPr/>
        </p:nvSpPr>
        <p:spPr>
          <a:xfrm>
            <a:off x="1787277" y="5719763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2" name="Text 50"/>
          <p:cNvSpPr/>
          <p:nvPr/>
        </p:nvSpPr>
        <p:spPr>
          <a:xfrm>
            <a:off x="1920627" y="5386388"/>
            <a:ext cx="763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P2 14 rules &gt; zero-shot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9458027" y="5719763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4" name="Text 52"/>
          <p:cNvSpPr/>
          <p:nvPr/>
        </p:nvSpPr>
        <p:spPr>
          <a:xfrm>
            <a:off x="9591377" y="5386388"/>
            <a:ext cx="58889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0% → 72%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5434370" y="5719763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6" name="Text 54"/>
          <p:cNvSpPr/>
          <p:nvPr/>
        </p:nvSpPr>
        <p:spPr>
          <a:xfrm>
            <a:off x="15567720" y="5386388"/>
            <a:ext cx="1615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047750" y="6148388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58" name="Text 56"/>
          <p:cNvSpPr/>
          <p:nvPr/>
        </p:nvSpPr>
        <p:spPr>
          <a:xfrm>
            <a:off x="1181100" y="5815013"/>
            <a:ext cx="5490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RQ8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1787277" y="6148388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0" name="Text 58"/>
          <p:cNvSpPr/>
          <p:nvPr/>
        </p:nvSpPr>
        <p:spPr>
          <a:xfrm>
            <a:off x="1920627" y="5815013"/>
            <a:ext cx="763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legal_rag, không phải web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9458027" y="6148388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2" name="Text 60"/>
          <p:cNvSpPr/>
          <p:nvPr/>
        </p:nvSpPr>
        <p:spPr>
          <a:xfrm>
            <a:off x="9591377" y="5815013"/>
            <a:ext cx="58889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39k tok / $0.010 per query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434370" y="6148388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4" name="Text 62"/>
          <p:cNvSpPr/>
          <p:nvPr/>
        </p:nvSpPr>
        <p:spPr>
          <a:xfrm>
            <a:off x="15567720" y="5815013"/>
            <a:ext cx="1615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047750" y="6577013"/>
            <a:ext cx="739527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6" name="Text 64"/>
          <p:cNvSpPr/>
          <p:nvPr/>
        </p:nvSpPr>
        <p:spPr>
          <a:xfrm>
            <a:off x="1181100" y="6243638"/>
            <a:ext cx="5490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RQ9</a:t>
            </a:r>
            <a:endParaRPr lang="en-US" sz="1425" dirty="0"/>
          </a:p>
        </p:txBody>
      </p:sp>
      <p:sp>
        <p:nvSpPr>
          <p:cNvPr id="67" name="Shape 65"/>
          <p:cNvSpPr/>
          <p:nvPr/>
        </p:nvSpPr>
        <p:spPr>
          <a:xfrm>
            <a:off x="1787277" y="6577013"/>
            <a:ext cx="767075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68" name="Text 66"/>
          <p:cNvSpPr/>
          <p:nvPr/>
        </p:nvSpPr>
        <p:spPr>
          <a:xfrm>
            <a:off x="1920627" y="6243638"/>
            <a:ext cx="763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TẮT rewrite turn đầu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9458027" y="6577013"/>
            <a:ext cx="5976342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70" name="Text 68"/>
          <p:cNvSpPr/>
          <p:nvPr/>
        </p:nvSpPr>
        <p:spPr>
          <a:xfrm>
            <a:off x="9591377" y="6243638"/>
            <a:ext cx="58889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−35% MRR · +45% lat </a:t>
            </a:r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bật</a:t>
            </a:r>
            <a:endParaRPr lang="en-US" sz="1650" dirty="0"/>
          </a:p>
        </p:txBody>
      </p:sp>
      <p:sp>
        <p:nvSpPr>
          <p:cNvPr id="71" name="Shape 69"/>
          <p:cNvSpPr/>
          <p:nvPr/>
        </p:nvSpPr>
        <p:spPr>
          <a:xfrm>
            <a:off x="15434370" y="6577013"/>
            <a:ext cx="180588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72" name="Text 70"/>
          <p:cNvSpPr/>
          <p:nvPr/>
        </p:nvSpPr>
        <p:spPr>
          <a:xfrm>
            <a:off x="15567720" y="6243638"/>
            <a:ext cx="1615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181100" y="6672263"/>
            <a:ext cx="549027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RQ10</a:t>
            </a:r>
            <a:endParaRPr lang="en-US" sz="1425" dirty="0"/>
          </a:p>
        </p:txBody>
      </p:sp>
      <p:sp>
        <p:nvSpPr>
          <p:cNvPr id="74" name="Text 72"/>
          <p:cNvSpPr/>
          <p:nvPr/>
        </p:nvSpPr>
        <p:spPr>
          <a:xfrm>
            <a:off x="1920627" y="6672263"/>
            <a:ext cx="763417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 togglable theo SLA</a:t>
            </a:r>
            <a:endParaRPr lang="en-US" sz="1650" dirty="0"/>
          </a:p>
        </p:txBody>
      </p:sp>
      <p:sp>
        <p:nvSpPr>
          <p:cNvPr id="75" name="Text 73"/>
          <p:cNvSpPr/>
          <p:nvPr/>
        </p:nvSpPr>
        <p:spPr>
          <a:xfrm>
            <a:off x="9591377" y="6672263"/>
            <a:ext cx="588893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+21.6% MRR </a:t>
            </a:r>
            <a:pPr algn="l" indent="0" marL="0">
              <a:buNone/>
            </a:pPr>
            <a:r>
              <a:rPr lang="en-US" sz="165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×78 latency CPU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15567720" y="6672263"/>
            <a:ext cx="16153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RQ1–RQ10 · 9 ABLATIONS ĐỊNH HÌNH TOÀN BỘ MVP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720887" y="361950"/>
            <a:ext cx="25955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V7ROADMAP15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2490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hóa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5 hướng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219450"/>
            <a:ext cx="3101280" cy="2281684"/>
          </a:xfrm>
          <a:prstGeom prst="roundRect">
            <a:avLst>
              <a:gd name="adj" fmla="val 584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3025" y="3514725"/>
            <a:ext cx="25869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EMBEDDING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43025" y="3790950"/>
            <a:ext cx="2586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E5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43025" y="4219575"/>
            <a:ext cx="258693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Hard-negatives từ luật VN.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343025" y="4662934"/>
            <a:ext cx="2586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+5pt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343025" y="5082034"/>
            <a:ext cx="25869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· bỏ reranker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4320480" y="3219450"/>
            <a:ext cx="3101280" cy="2281684"/>
          </a:xfrm>
          <a:prstGeom prst="roundRect">
            <a:avLst>
              <a:gd name="adj" fmla="val 584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5755" y="3514725"/>
            <a:ext cx="25869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COST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615755" y="3790950"/>
            <a:ext cx="2586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15755" y="4219575"/>
            <a:ext cx="258693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context cache.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4615755" y="4662934"/>
            <a:ext cx="2586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−30%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4615755" y="5082034"/>
            <a:ext cx="25869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cost/query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7593211" y="3219450"/>
            <a:ext cx="3101429" cy="2281684"/>
          </a:xfrm>
          <a:prstGeom prst="roundRect">
            <a:avLst>
              <a:gd name="adj" fmla="val 584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8486" y="3514725"/>
            <a:ext cx="25870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TOOLS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888486" y="3790950"/>
            <a:ext cx="25870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888486" y="4219575"/>
            <a:ext cx="2587079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tool expose chuẩn.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7888486" y="4662934"/>
            <a:ext cx="25870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7888486" y="5082034"/>
            <a:ext cx="25870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Cursor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0866090" y="3219450"/>
            <a:ext cx="3101280" cy="2281684"/>
          </a:xfrm>
          <a:prstGeom prst="roundRect">
            <a:avLst>
              <a:gd name="adj" fmla="val 584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61365" y="3514725"/>
            <a:ext cx="25869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 · AGENTS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1161365" y="3790950"/>
            <a:ext cx="2586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161365" y="4219575"/>
            <a:ext cx="258693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agent CSGT.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1161365" y="4662934"/>
            <a:ext cx="2586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11161365" y="5082034"/>
            <a:ext cx="25869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spec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14138821" y="3219450"/>
            <a:ext cx="3101429" cy="2281684"/>
          </a:xfrm>
          <a:prstGeom prst="roundRect">
            <a:avLst>
              <a:gd name="adj" fmla="val 584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434096" y="3514725"/>
            <a:ext cx="25870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· EVALS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4434096" y="3790950"/>
            <a:ext cx="25870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scale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4434096" y="4219575"/>
            <a:ext cx="2587079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n=5 → n=25 sample.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4434096" y="4662934"/>
            <a:ext cx="25870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3300" dirty="0"/>
          </a:p>
        </p:txBody>
      </p:sp>
      <p:sp>
        <p:nvSpPr>
          <p:cNvPr id="38" name="Text 36"/>
          <p:cNvSpPr/>
          <p:nvPr/>
        </p:nvSpPr>
        <p:spPr>
          <a:xfrm>
            <a:off x="14434096" y="5082034"/>
            <a:ext cx="25870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phủ eval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V7 · 5 HƯỚNG · COVER TẤT CẢ 9 TRỤ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6350" y="361950"/>
            <a:ext cx="19633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247144" y="361950"/>
            <a:ext cx="20693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KẾT16 / 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1485900"/>
            <a:ext cx="533400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475" y="14954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∑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3550" y="1500188"/>
            <a:ext cx="8080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· MVP ĐÁNG TIN CẬY · DEBUG-ABLE · EVOLVABLE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574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hệ thống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thực tế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047750" y="3314700"/>
            <a:ext cx="5257800" cy="1649611"/>
          </a:xfrm>
          <a:prstGeom prst="roundRect">
            <a:avLst>
              <a:gd name="adj" fmla="val 808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3025" y="3609975"/>
            <a:ext cx="48072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43025" y="3886200"/>
            <a:ext cx="4807268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spc="-84" kern="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lớp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343025" y="4449961"/>
            <a:ext cx="48072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· zero-hallucination policy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15100" y="3314700"/>
            <a:ext cx="5257800" cy="1649611"/>
          </a:xfrm>
          <a:prstGeom prst="roundRect">
            <a:avLst>
              <a:gd name="adj" fmla="val 808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0375" y="3609975"/>
            <a:ext cx="48072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DEBUGGABLE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810375" y="3886200"/>
            <a:ext cx="4807268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spc="-84" kern="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10375" y="4449961"/>
            <a:ext cx="48072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trace + per-node cost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982450" y="3314700"/>
            <a:ext cx="5257800" cy="1649611"/>
          </a:xfrm>
          <a:prstGeom prst="roundRect">
            <a:avLst>
              <a:gd name="adj" fmla="val 8084"/>
            </a:avLst>
          </a:prstGeom>
          <a:solidFill>
            <a:srgbClr val="161B23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77725" y="3609975"/>
            <a:ext cx="48072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EVOLVABLE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2277725" y="3886200"/>
            <a:ext cx="4807268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spc="-84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277725" y="4449961"/>
            <a:ext cx="48072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6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swap-able · MCP/A2A ready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7750" y="9048750"/>
            <a:ext cx="214119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0625" y="9115425"/>
            <a:ext cx="19316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2 818 chunks · 6 văn bản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03240" y="9048750"/>
            <a:ext cx="2304157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6115" y="9115425"/>
            <a:ext cx="20946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5 lớp · +21.6% MRR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21697" y="9048750"/>
            <a:ext cx="2382441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4572" y="9115425"/>
            <a:ext cx="21728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· 4 routes + HITL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18438" y="9048750"/>
            <a:ext cx="2268141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5FB0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1313" y="9115425"/>
            <a:ext cx="20585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$0.013 / query · LangSmith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00879" y="9048750"/>
            <a:ext cx="2446883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5FB0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43754" y="9115425"/>
            <a:ext cx="22373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floor Recall@10 ≥ 0.40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162062" y="9048750"/>
            <a:ext cx="3077319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5DD49A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304937" y="9115425"/>
            <a:ext cx="2883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rules + Quy tắc 14 Legal Reasoning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7750" y="9353550"/>
            <a:ext cx="1667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TRỤ CỘT · 1 MVP · PRODUCTION-GRADE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7A4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414338"/>
            <a:ext cx="95250" cy="95250"/>
          </a:xfrm>
          <a:prstGeom prst="ellipse">
            <a:avLst/>
          </a:prstGeom>
          <a:solidFill>
            <a:srgbClr val="FF7A4D"/>
          </a:solidFill>
          <a:ln/>
          <a:effectLst>
            <a:outerShdw sx="100000" sy="100000" kx="0" ky="0" algn="bl" rotWithShape="0" blurRad="133350" dist="50800" dir="16200000">
              <a:srgbClr val="FF7A4D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361950"/>
            <a:ext cx="26275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TRAFFIC-LAW RAG · V6.3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4976128" y="361950"/>
            <a:ext cx="23403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Q&amp;ADEMO17 / 17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47750" y="762000"/>
            <a:ext cx="631775" cy="304800"/>
          </a:xfrm>
          <a:prstGeom prst="roundRect">
            <a:avLst>
              <a:gd name="adj" fmla="val 12500"/>
            </a:avLst>
          </a:prstGeom>
          <a:ln w="9525">
            <a:solidFill>
              <a:srgbClr val="FF7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771525"/>
            <a:ext cx="4603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31925" y="776288"/>
            <a:ext cx="31081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TRỰC TIẾP · Q&amp;A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1333500"/>
            <a:ext cx="4618257" cy="2464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750" spc="-195" kern="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</a:t>
            </a:r>
            <a:pPr algn="l" indent="0" marL="0">
              <a:lnSpc>
                <a:spcPct val="98000"/>
              </a:lnSpc>
              <a:buNone/>
            </a:pPr>
            <a:r>
              <a:rPr lang="en-US" sz="9750" i="1" spc="-195" kern="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đồng</a:t>
            </a:r>
            <a:endParaRPr lang="en-US" sz="9750" dirty="0"/>
          </a:p>
        </p:txBody>
      </p:sp>
      <p:sp>
        <p:nvSpPr>
          <p:cNvPr id="10" name="Text 8"/>
          <p:cNvSpPr/>
          <p:nvPr/>
        </p:nvSpPr>
        <p:spPr>
          <a:xfrm>
            <a:off x="1047750" y="4255591"/>
            <a:ext cx="8135871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xin phép chuyển sang demo trực tiếp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Next.js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kịch bản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7750" y="5371802"/>
            <a:ext cx="1013966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5438477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UX/PRD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5066" y="5371802"/>
            <a:ext cx="1124248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7941" y="5438477"/>
            <a:ext cx="9146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52664" y="5371802"/>
            <a:ext cx="1641128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539" y="5438477"/>
            <a:ext cx="14315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/ Cache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27141" y="5371802"/>
            <a:ext cx="152221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0016" y="5438477"/>
            <a:ext cx="1312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82705" y="5371802"/>
            <a:ext cx="1802309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5580" y="5438477"/>
            <a:ext cx="15927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· LangGraph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18364" y="5371802"/>
            <a:ext cx="1663601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239" y="5438477"/>
            <a:ext cx="14540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A2A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615315" y="5371802"/>
            <a:ext cx="131906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58190" y="5438477"/>
            <a:ext cx="11095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067729" y="5371802"/>
            <a:ext cx="810816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10604" y="5438477"/>
            <a:ext cx="6012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011894" y="5371802"/>
            <a:ext cx="1141214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7A4D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54769" y="5438477"/>
            <a:ext cx="931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47750" y="8591550"/>
            <a:ext cx="16192500" cy="9525"/>
          </a:xfrm>
          <a:prstGeom prst="rect">
            <a:avLst/>
          </a:prstGeom>
          <a:solidFill>
            <a:srgbClr val="232A35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9077325"/>
            <a:ext cx="38957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047750" y="9296400"/>
            <a:ext cx="3895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Mạc Phú Phong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496818" y="9077325"/>
            <a:ext cx="40222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496818" y="9296400"/>
            <a:ext cx="40222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v6.3 · 05.05.2026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0068669" y="9077325"/>
            <a:ext cx="33994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0068669" y="9296400"/>
            <a:ext cx="33994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traffic_rag/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4035832" y="9077325"/>
            <a:ext cx="33005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7A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4035832" y="9296400"/>
            <a:ext cx="33005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C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2026-05-06T11:11:46Z</dcterms:created>
  <dcterms:modified xsi:type="dcterms:W3CDTF">2026-05-06T11:11:46Z</dcterms:modified>
</cp:coreProperties>
</file>