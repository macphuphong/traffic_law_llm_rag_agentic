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cộng dồn 0:30)</a:t>
            </a:r>
          </a:p>
          <a:p>
            <a:r>
              <a:t>Kính chào quý thầy cô trong hội đồng. Em là Mạc Phú Phong, xin trình bày đồ án tốt nghiệp: Xây dựng hệ thống hỏi đáp luật giao thông đường bộ Việt Nam ứng dụng LLM kết hợp RAG, dưới sự hướng dẫn của cô Trần Thị Minh Hạnh. Báo cáo gồm 4 phần: bối cảnh &amp; cơ sở lý thuyết, thiết kế hệ thống, thực nghiệm đánh giá, và triển khai – kết luận. Em xin phép bắt đầu.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0:50)</a:t>
            </a:r>
          </a:p>
          <a:p>
            <a:r>
              <a:t>Phần một, em nói về bối cảnh và lý do chọn kiến trúc RAG. Phần hai là thiết kế hệ thống end-to-end. Phần ba là mười thực nghiệm đánh giá. Phần cuối là triển khai thực tế và kết luận. Trọng tâm của báo cáo nằm ở phần hai và phần ba.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 2:00)</a:t>
            </a:r>
          </a:p>
          <a:p>
            <a:r>
              <a:t>Pháp luật giao thông Việt Nam vừa trải qua đợt cải cách lớn nhất nhiều năm: Luật 35 và 36/2024, đặc biệt Nghị định 168/2024 tăng mạnh mức phạt và lần đầu áp dụng trừ điểm giấy phép lái xe. Người dân, CSGT và đơn vị tư vấn đều cần tra cứu chính xác tới từng điểm, khoản, điều. Nhưng cổng pháp luật chính thức buộc người dùng tự biết tên văn bản và số điều, không hiểu câu hỏi tự nhiên; còn các mô hình ngôn ngữ lớn thương mại chưa cập nhật corpus 2024–2026 nên hay bịa nguồn, nhầm mức phạt — gọi là ảo giác pháp lý, rất nguy hiểm. RAG giải quyết bằng cách truy xuất văn bản gốc đưa vào ngữ cảnh trước khi sinh câu trả lời, nhờ đó kiểm soát được nguồn trích dẫn.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3:00)</a:t>
            </a:r>
          </a:p>
          <a:p>
            <a:r>
              <a:t>Mục tiêu là xây trợ lý hỏi đáp tiếng Việt trả lời đúng theo văn bản gốc với trích dẫn tới cấp điểm, khoản, điều. Phạm vi gồm 24 văn bản còn hiệu lực: 2 luật, 5 nghị định, 17 thông tư — trong đó có bổ sung Nghị định 81/2026 về đường sắt để bao quát các quy định giao cắt đường bộ – đường sắt; ngoài phạm vi là pháp luật đường thuỷ, hàng không và tư vấn cá nhân hoá. Đề tài có ba đóng góp chính: thứ nhất là thuật toán phân đoạn phân cấp theo cấu trúc Điều–Khoản–Điểm với năm cải tiến; thứ hai là quy trình truy xuất lai đa truy vấn đặc thù cho văn bản pháp luật kèm bộ đánh giá 40 câu trên corpus giao thông 2024–2026 chưa từng được xử lý; thứ ba là kiến trúc kiểm soát ảo giác pháp lý theo chiều sâu gồm ba lớp — lệnh hướng dẫn ràng buộc trích dẫn, lọc trích dẫn sau sinh, và con người trong vòng lặp.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 4:10)</a:t>
            </a:r>
          </a:p>
          <a:p>
            <a:r>
              <a:t>RAG hoạt động qua các bước: mã hoá truy vấn thành vector, tìm các đoạn văn gần nhất trong kho tài liệu được kiểm soát, ghép chúng vào ngữ cảnh rồi để LLM sinh câu trả lời kèm trích dẫn. Ưu điểm: không nhồi kiến thức vào tham số nên cập nhật văn bản mà không phải huấn luyện lại, và kiểm soát được nguồn nên hạn chế ảo giác. Với pháp luật Việt Nam có ba thách thức đặc thù mà đề tài phải xử lý: cấu trúc phân cấp Điều–Khoản–Điểm, truy vấn ngắn mơ hồ, và câu hỏi đa ý định.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 5:30)</a:t>
            </a:r>
          </a:p>
          <a:p>
            <a:r>
              <a:t>Truy xuất lai kết hợp hai nhánh bổ sung cho nhau. Nhánh dày đặc dùng embedding E5-base đa ngôn ngữ 768 chiều, bắt được tương đồng ngữ nghĩa — ví dụ 'vượt đèn đỏ' và 'không chấp hành hiệu lệnh đèn tín hiệu' tuy khác từ nhưng cùng nghĩa. Nhánh thưa dùng BM25 dựa trên tần suất từ, rất mạnh khi truy vấn chứa mã chính xác như 'Điều 7' hay 'Nghị định 168'. Hai danh sách được hợp nhất bằng RRF với k bằng 60 — phương pháp gộp không cần chuẩn hoá điểm, ổn định cho kho dưới mười nghìn tài liệu. Kết hợp hai nhánh cho kết quả vượt trội từng nhánh riêng lẻ.</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6:30)</a:t>
            </a:r>
          </a:p>
          <a:p>
            <a:r>
              <a:t>Hệ thống hướng tác tử có khả năng lập kế hoạch và ra quyết định qua nhiều bước. Đề tài dùng LangGraph — thư viện mô hình hoá ứng dụng LLM thành máy trạng thái với các nút, cạnh có điều kiện, trạng thái dùng chung, và bộ lưu điểm kiểm tra. Điểm quan trọng: checkpointer lưu bền vào SQLite khi phát triển và Postgres khi production, nên hỗ trợ hội thoại nhiều lượt và cho phép tạm dừng đồ thị chờ phê duyệt mà không mất trạng thái. Cơ chế con người trong vòng lặp dùng để kiểm duyệt thông tin tra cứu web trước khi trả về. Khoảng trống nghiên cứu: các hệ RAG pháp luật tiếng Việt trước đây chủ yếu làm Bộ luật Lao động hay Dân sự, chưa ai xử lý corpus giao thông 2024–2026 với cấu trúc phân cấp phức tạp và cơ chế trừ điểm mới — đây chính là chỗ đề tài lấp đầy.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 8:00)</a:t>
            </a:r>
          </a:p>
          <a:p>
            <a:r>
              <a:t>Hệ thống tách thành hai pipeline. Pipeline ngoại tuyến chỉ chạy khi thêm văn bản: 24 PDF được làm sạch, chunking phân cấp v6, nhúng bằng E5-base 768 chiều rồi nạp vào Qdrant — collection Traffic_Law_Hybrid 4.423 đoạn, kèm cache BM25. Pipeline trực tuyến xử lý mỗi câu hỏi: nút analyzer phân tích ý định và mở rộng truy vấn, router định tuyến về một trong bốn nhánh — hỏi đáp pháp luật, hội thoại thường, tra cứu web có phê duyệt, và ngoài phạm vi. Nhánh legal_rag truy vấn Qdrant rồi sinh câu trả lời, phát về giao diện theo từng token qua SSE. Tách hai pipeline giúp cập nhật corpus không ảnh hưởng tính sẵn sàng phục vụ. (Tương ứng Hình 4–5 trong báo cáo.)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8:30)</a:t>
            </a:r>
          </a:p>
          <a:p>
            <a:r>
              <a:t>Toàn bộ tech stack: LangGraph điều phối agent; Gemini 3.1 Flash Lite sinh câu trả lời với cửa sổ ngữ cảnh 1 triệu token và chi phí rất thấp; embedding e5-base; vector DB Qdrant; BM25 với tách từ pyvi cho tiếng Việt; backend FastAPI streaming SSE; frontend Next.js 14; đánh giá độc lập bằng gpt-4o-mini qua RAGAS; tra cứu web Tavily; và LangSmith để phân tích chi phí từng nút. Em sẽ đi sâu từng thành phần.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9:30)</a:t>
            </a:r>
          </a:p>
          <a:p>
            <a:r>
              <a:t>Bước đầu của pipeline ngoại tuyến là chuẩn hoá. Văn bản pháp luật phát hành dưới dạng PDF có layout phức tạp: bảng mức phạt, header/footer lặp mỗi trang, câu bị ngắt giữa chừng do sang trang. Em viết ba script làm sạch riêng cho ba loại — luật, nghị định, thông tư — dùng pdfplumber, lọc header/footer, nối câu bị ngắt, và bảo toàn bảng dưới dạng Markdown. Một điểm quan trọng là trường status: văn bản còn hiệu lực mới được index; văn bản bị bãi bỏ như Luật Giao thông đường bộ 2008 thì bỏ qua; văn bản bị bãi bỏ một phần như Nghị định 100/2019 thì loại mảng đường bộ. Nhờ vậy hệ thống không bao giờ trả về điều luật đã hết hiệu lực.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 11:10)</a:t>
            </a:r>
          </a:p>
          <a:p>
            <a:r>
              <a:t>Đây là đóng góp cốt lõi của đề tài. Bộ chunking phân cấp v6 tách văn bản theo đúng cấu trúc pháp lý ba cấp: nếu một Điều ngắn dưới 1.000 token thì giữ nguyên thành một chunk; nếu dài thì tách theo Khoản; nếu Khoản vẫn dài hoặc là nghị định có nhiều Điểm thì tách tiếp xuống từng Điểm. Phiên bản v6 có năm cải tiến quan trọng: giữ lại các Điểm ngắn, hạ ngưỡng cho nghị định, ép tách Điểm khi nghị định có từ hai điểm trở lên, sửa regex để bắt cả điểm 'đ' và điểm sau dấu chấm phẩy, và đặc biệt là làm giàu — mỗi chunk Điểm tự mang theo phần mở đầu của Khoản, ví dụ câu 'Phạt tiền từ X đến Y đồng đối với…'. Nhờ vậy tỉ lệ điểm pháp lý của Nghị định 168 không có chunk riêng giảm từ 77,5% xuống còn 11,7%. Cái hay nằm ở chỗ: biên của chunk trùng với biên của đơn vị trích dẫn — nên khi retriever lấy đúng chunk là tự động có đúng khoản, điểm để trích dẫn. Tổng cộng 4.423 chunk, trong đó 60% là cấp Điểm.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12:10)</a:t>
            </a:r>
          </a:p>
          <a:p>
            <a:r>
              <a:t>Bước ba là nhúng và đánh chỉ mục. Mô hình e5-base mã hoá toàn bộ 4.423 chunk. Một yêu cầu bắt buộc của họ E5 là thêm tiền tố: 'passage:' khi nhúng đoạn văn và 'query:' khi nhúng truy vấn — đây cũng là vấn đề kỹ thuật đầu tiên em gặp, dùng sai prefix làm giảm khoảng 30% recall. Collection Qdrant cấu hình 768 chiều, khoảng cách cosine, HNSW. Em tạo ba payload index trên doc_id, status và topic để lọc nhanh — ví dụ chỉ lấy status active ngay tại tầng cơ sở dữ liệu. Mỗi chunk mang metadata đầy đủ tới cấp điểm khoản điều. Cache BM25 được tokenize sẵn bằng pyvi và lưu JSONL nên khởi động lại dưới nửa giây thay vì rebuild. Toàn bộ index chỉ khoảng 26 MB.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 13:50)</a:t>
            </a:r>
          </a:p>
          <a:p>
            <a:r>
              <a:t>Khi có câu hỏi, pipeline truy xuất chạy năm bước. Bước một, analyzer mở rộng truy vấn thành một đến năm biến thể và giải tham chiếu theo lịch sử hội thoại. Bước hai, chạy song song nhánh dày đặc E5 — đã lọc status active ngay tại Qdrant — và nhánh thưa BM25, mỗi nhánh lấy top 2k. Bước ba, hợp nhất tất cả danh sách bằng RRF ra top 30 không trùng. Bước bốn là phần đặc thù pháp luật: sibling enrichment kéo thêm các khoản lân cận cùng Điều, và giải tham chiếu chéo dùng regex tìm các 'Điều X Khoản Y' được nhắc tới rồi kéo luôn chunk đó vào — điều này đặc trị Nghị định 168, nơi mức phạt tiền và mức trừ điểm nằm ở hai khoản khác nhau nhưng liên kết qua tham chiếu. Cuối cùng áp diversity cap rồi cắt top 10. Bước năm là reranker tuỳ chọn, mặc định tắt — em sẽ giải thích ở phần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14:50)</a:t>
            </a:r>
          </a:p>
          <a:p>
            <a:r>
              <a:t>Sau khi có ngữ cảnh, bộ sinh dùng lệnh hướng dẫn đầy đủ quy tắc (biến thể P2 trong biểu đồ) gồm phần khai báo vai trò và 14 quy tắc bắt buộc. Vài quy tắc quan trọng: chỉ dùng ngữ cảnh được cung cấp; mọi mức phạt phải kèm trích dẫn tới điểm khoản điều; nếu thiếu thông tin thì từ chối thay vì bịa; phân biệt đúng điều theo loại phương tiện — Điều 6 ô tô, Điều 7 mô tô; và ghép mức phạt tiền với mức trừ điểm qua tham chiếu chéo. Gemini trả về JSON có cấu trúc theo Pydantic nên không phải parse chuỗi thủ công. Cuối cùng là lớp lọc trích dẫn: hệ thống so từng citation mà LLM trả về với metadata của đúng 10 chunk đã đưa vào prompt; nếu LLM bịa ra một điều không có trong ngữ cảnh thì citation đó bị loại trước khi tới người dùng — đây là lớp phòng thủ cuối cùng chống ảo giác trích dẫn.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 16:10)</a:t>
            </a:r>
          </a:p>
          <a:p>
            <a:r>
              <a:t>Toàn bộ luồng trực tuyến được điều phối bởi đồ thị LangGraph sáu nút, điểm vào là analyzer. Analyzer phân tích ý định, loại phương tiện, mở rộng truy vấn; router định tuyến về bốn nhánh. Nhánh legal_rag chạy truy xuất lai và sinh P2 rồi kết thúc. chit_chat và out_of_scope dùng template tĩnh, không tốn token LLM. Nhánh web_search gọi Tavily lấy tối đa ba đoạn trích rồi đồ thị tạm dừng tại web_finalize nhờ interrupt_before — đây là cơ chế con người trong vòng lặp. Quản trị viên vào trang admin, xem snippet, rồi Approve để đồ thị tiếp tục tổng hợp câu trả lời có gắn nhãn cảnh báo tra cứu internet, hoặc Reject để xoá. Có timeout 10 phút phía client. Nhờ checkpointer, trạng thái không mất khi tạm dừng, và mỗi phiên có thread_id riêng đảm bảo cách ly nhiều người dùng. (Đồ thị: Hình 7; luồng HITL: Hình 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17:10)</a:t>
            </a:r>
          </a:p>
          <a:p>
            <a:r>
              <a:t>Để kiểm chứng từng quyết định, em xây bộ đánh giá 40 câu hỏi chia tám danh mục thực tiễn, mỗi danh mục năm câu — từ câu phạt đơn giản, đa ý định, tham chiếu chéo, thủ tục, tới câu ngoài phạm vi, câu ngắn mơ hồ, hành động kép và phân biệt loại phương tiện. Mỗi câu có đáp án chuẩn và tập trích dẫn chuẩn ở cấp khoản. Năm câu ngoài phạm vi được lọc khỏi các thực nghiệm đo truy xuất, giữ lại 35 câu pháp lý. Bộ metric đa chiều: recall, MRR, nDCG cho truy xuất; citation precision/recall/F1 cho trích dẫn — đây là metric cốt lõi; token-F1 và ROUGE cho câu trả lời; category accuracy cho router; RAGAS với gpt-4o-mini làm trọng tài độc lập; và chi phí, độ trễ, tỉ lệ lỗi từ LangSmith. Mười thực nghiệm chạy theo thứ tự bottom-up, mỗi lần chỉ đổi một biến để tránh nhiễu.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 18:20)</a:t>
            </a:r>
          </a:p>
          <a:p>
            <a:r>
              <a:t>Thực nghiệm phân đoạn (Mục 3.3) so sánh phân đoạn phân cấp với cắt cố định 512 token. Kết quả quan trọng nhất: Citation-Recall ở cấp khoản đạt 0,410 so với 0,171 — gấp 2,4 lần. Lý do như em đã nói: biên chunk trùng biên trích dẫn pháp lý nên lấy đúng chunk là có đúng khoản. Đáng chú ý, F1 token gần như hoà nhau, vì fixed-512 tạo chunk dài chứa nhiều n-gram trùng đáp án nhưng lại không trích dẫn đúng được. Đây chính là lý do trong domain pháp lý, Citation-Recall mới là thước đo thực chất, không phải F1. Refusal cũng thấp hơn vì ngữ cảnh sạch hơn.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 19:10)</a:t>
            </a:r>
          </a:p>
          <a:p>
            <a:r>
              <a:t>Thực nghiệm mô hình nhúng (Mục 3.4) so sánh bốn mô hình trên cùng corpus. e5-base thắng mọi chỉ số chất lượng với Recall@10 bằng 0,424. e5-small rẻ và nhanh nhất, chỉ kém khoảng 5 điểm, là phương án dự phòng tốt. multilingual-mpnet thua vì độ dài tối đa chỉ 128 token, cắt mất các khoản dài của nghị định. sbert tiếng Việt yếu dù cũng 768 chiều vì không được huấn luyện đối chiếu InfoNCE như họ E5. Em chọn e5-base vì chất lượng cao nhất và giữ nguyên 768 chiều khớp với collection đã có.</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20:10)</a:t>
            </a:r>
          </a:p>
          <a:p>
            <a:r>
              <a:t>Thực nghiệm lệnh hướng dẫn (Mục 3.6) so sánh ba biến thể. Biến thể không hướng dẫn và chỉ khai báo vai trò có F1 token cao hơn vì chúng viết tuôn ra nhiều chữ trùng đáp án, nhưng gần như không trích dẫn được. Biến thể đầy đủ 14 quy tắc (P2 trong biểu đồ) đạt Citation-F1 0,279 — gấp 8,7 lần biến thể không hướng dẫn và 4,2 lần biến thể chỉ vai trò. Thêm hai hiệu ứng tốt: độ trễ thấp nhất 7,1 giây vì quy tắc ép trả lời ngắn gọn có cấu trúc, và refusal 0,20 nghĩa là biết từ chối đúng lúc khi ngữ cảnh thiếu thay vì bịa. Một lần nữa, F1 token gây hiểu nhầm trong domain pháp lý.</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21:10)</a:t>
            </a:r>
          </a:p>
          <a:p>
            <a:r>
              <a:t>Thực nghiệm mở rộng truy vấn (Mục 3.7.2). Đây là kỹ thuật có tác động lớn nhất: Recall@10 tăng từ 0,324 lên 0,581, tức cộng 26 điểm phần trăm — mức tăng lớn nhất trong toàn bộ mười thực nghiệm. nDCG tăng 14 điểm, trong khi độ trễ chỉ tăng 7% do thêm một lần gọi LLM ở analyzer. Điều thú vị là kết quả này đảo chiều so với corpus phiên bản 5: khi chunk còn dài, mở rộng truy vấn tạo nhiễu; còn với corpus v6 chunk cấp Điểm nhỏ và chính xác, mở rộng truy vấn trở nên rất hữu ích. Vì vậy production bật tính năng này.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 22:00)</a:t>
            </a:r>
          </a:p>
          <a:p>
            <a:r>
              <a:t>Thực nghiệm xếp hạng lại (Mục 3.7.3) đánh giá bộ mã hoá chéo. Nó kéo Recall@10 lên 0,481, tăng 48,5% — rất ấn tượng vì lôi được các khoản đúng nằm ở hạng 11–20 lên top 10. Nhưng cái giá là độ trễ tăng 156 lần trên CPU, khoảng 110 giây mỗi câu, không chấp nhận được cho thời gian thực. Nên reranker bị tắt mặc định, chỉ bật khi có GPU. Thực nghiệm cơ sở dữ liệu vector (Mục 3.5) so ba nền tảng: Qdrant, Chroma, FAISS recall xấp xỉ nhau; chênh lệch độ trễ vài mili giây hoàn toàn không đáng so với LLM mất vài giây. Em giữ Qdrant vì nó có payload filter để lọc status active tại tầng DB, có HTTP API và hỗ trợ cập nhật online.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 23:10)</a:t>
            </a:r>
          </a:p>
          <a:p>
            <a:r>
              <a:t>Thực nghiệm so sánh kiến trúc (Mục 3.8) trên đủ 40 câu. RAG hướng tác tử đạt độ chính xác phân loại 0,975 — phân loại đúng 39/40 câu, định tuyến 100% câu ngoài phạm vi chính xác — so với RAG cơ bản chỉ 0,875. Điểm cần giải thích kỹ: kiến trúc chỉ dùng Gemini lại có F1 cao nhất 0,370, nhưng đây là một artifact của metric. Thứ nhất, với câu ngoài phạm vi, Gemini từ chối tự nhiên, n-gram trùng nhiều với đáp án vốn cũng là câu từ chối. Thứ hai, Gemini bịa nguồn pháp lý dài chi tiết, kéo F1 lên nhờ trùng từ bề mặt nhưng trích dẫn sai hoàn toàn. Đây đúng là hiện tượng ảo giác pháp lý. Vì vậy F1 token gây hiểu nhầm; Category Accuracy và Citation-Recall mới phản ánh chất lượng thật. Độ trễ agentic 52 giây bị thổi phồng do throttle 2 giây mỗi call; thực tế không throttle khoảng 20–25 giây.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24:10)</a:t>
            </a:r>
          </a:p>
          <a:p>
            <a:r>
              <a:t>Thực nghiệm đánh giá chất lượng câu trả lời (Mục 3.9) dùng RAGAS với gpt-4o-mini làm giám khảo độc lập. Độ chính xác ngữ cảnh đạt 0,885 rất cao, xác nhận các chunk đưa vào ngữ cảnh đa số thực sự liên quan, ít nhiễu — nhờ truy xuất lai cộng sibling enrichment. Faithfulness 0,550, tức hơn một nửa khẳng định trong câu trả lời được ngữ cảnh hỗ trợ, tốt hơn hẳn báo cáo cũ. Nhưng context recall chỉ 0,452 — đây mới là bottleneck thật của hệ thống: retrieval mới bắt được khoảng 45% thông tin cần thiết. Chính vì vậy reranker và mở rộng truy vấn được ưu tiên trong roadmap. Riêng answer_relevancy bị lỗi thư viện RAGAS 0.2 nên không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 25:00)</a:t>
            </a:r>
          </a:p>
          <a:p>
            <a:r>
              <a:t>Thực nghiệm chi phí &amp; hiệu năng (Mục 3.10) phân tích từ gần hai nghìn lượt chạy trên hệ thống truy vết. Mỗi câu tốn khoảng 0,0034 đô la, trong đó nút legal_rag chiếm 77%; ước tính mười nghìn truy vấn mỗi tháng chỉ khoảng 46 đô la tiền LLM. Độ trễ trung bình 33 giây có throttle, thực tế 20–25 giây. Điểm cần lưu ý là tỉ lệ lỗi Gemini 14,6% do dùng bản preview free tier bị giới hạn tần suất; chuyển sang bản stable trả phí sẽ giảm xuống dưới 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25:20)</a:t>
            </a:r>
          </a:p>
          <a:p>
            <a:r>
              <a:t>Bảng này tổng hợp toàn bộ mười thực nghiệm: mỗi thành phần thiết kế đều có bằng chứng định lượng đi kèm, kèm số mục tương ứng trong báo cáo. Bốn dòng được tô đậm là các quyết định có tác động lớn nhất: phân đoạn phân cấp, mở rộng truy vấn, lệnh hướng dẫn đầy đủ quy tắc, và kiến trúc hướng tác tử.</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 26:40)</a:t>
            </a:r>
          </a:p>
          <a:p>
            <a:r>
              <a:t>Hệ thống đã triển khai thực tế trên đám mây miễn phí, tổng chi phí hạ tầng bằng 0. Frontend Next.js chạy trên Vercel, backend FastAPI cộng LangGraph trên Hugging Face Spaces, kho vector trên Qdrant Cloud, còn xác thực và checkpoint dùng chung một Supabase Postgres; Gemini và Tavily là dịch vụ ngoài. Điểm hay là cùng một codebase và Docker image phục vụ cả local lẫn cloud, chỉ khác biến môi trường. Về chất lượng, em thiết lập CI/CD trên GitHub Actions với hai job: smoke test và regression test. Job regression khởi động Qdrant, nạp 4.423 chunk và bắt buộc Recall@10 trung bình phải từ 0,40 trở lên, không được có chunk đã bãi bỏ lọt vào, độ trễ dưới 2 giây — nếu fail thì chặn pull request. Cơ chế này ngăn việc cập nhật corpus vô tình làm tụt chất lượng truy xuất.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 27:30)</a:t>
            </a:r>
          </a:p>
          <a:p>
            <a:r>
              <a:t>Về sản phẩm, giao diện chat xây trên Next.js 14: câu trả lời hiện dần từng token qua SSE, có panel trích dẫn hiển thị chính xác điều khoản điểm và mã văn bản để người dùng tự kiểm chứng, hỗ trợ hội thoại nhiều lượt nên câu sau có thể tham chiếu câu trước, và gắn nhãn cảnh báo cho câu trả lời từ internet. Bên cạnh là trang quản trị cho con người trong vòng lặp: quản trị viên thấy danh sách thread đang chờ, xem câu hỏi và các snippet Tavily rồi bấm Approve hoặc Reject. Hai ảnh chụp màn hình thực tế (Hình 28 — giao diện chat; Hình 29 — bảng quản trị HITL) em sẽ chèn ở slide này khi đóng quyển.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28:30)</a:t>
            </a:r>
          </a:p>
          <a:p>
            <a:r>
              <a:t>Em minh hoạ bằng hai ví dụ thực từ bộ đánh giá. Câu đơn giản 'vượt đèn đỏ đi xe máy phạt bao nhiêu': hệ thống trả đúng mức 800 nghìn đến 1 triệu, trích dẫn đúng Điều 7 Khoản 4 điểm p; hơn nữa nhờ sibling enrichment nó còn kéo thêm Khoản 11 về trừ 2 điểm giấy phép — tức đầy đủ hơn cả đáp án chuẩn tối thiểu. Câu đa ý định 'vượt đèn đỏ và không mang bằng lái': hệ thống tách đúng hai hành vi, trích dẫn đúng hai điều khoản, in đậm số tiền và cộng tổng — đúng như quy tắc 6 của lệnh hướng dẫn. Nếu thầy cô cho phép, em có thể demo trực tiếp trên hệ thống đang chạy.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29:30)</a:t>
            </a:r>
          </a:p>
          <a:p>
            <a:r>
              <a:t>Tổng kết, hệ thống đạt Recall@10 0,581 — gấp 2,9 lần phân đoạn cố định; Citation-F1 0,279 — gấp 8,7 lần không hướng dẫn; độ chính xác phân loại 0,975; độ chính xác ngữ cảnh 0,885; chi phí chỉ 0,0034 đô mỗi câu và đã chạy thực tế miễn phí với cổng CI bảo vệ chất lượng. Về hạn chế: bộ đánh giá còn nhỏ, Gemini free tier lỗi 14,6%, reranker chưa dùng được vì cần GPU, độ phủ ngữ cảnh 0,452 vẫn là điểm nghẽn, và độ liên quan câu trả lời bị lỗi thư viện. Hướng phát triển chia ba tầm: ngắn hạn mở rộng bộ đánh giá lên 80–100 câu, chuyển Gemini sang bản stable trả phí, tối ưu chi phí và củng cố vận hành; trung hạn bật reranker khi có GPU, xây Graph RAG trên đồ thị tri thức pháp luật để nâng độ phủ ngữ cảnh, và đánh giá lại bằng giám khảo mạnh hơn; dài hạn tiến tới kiến trúc đa tác tử với tác tử truy xuất đa bước.</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29:50)</a:t>
            </a:r>
          </a:p>
          <a:p>
            <a:r>
              <a:t>Phần trình bày của em đến đây là hết. Em cảm ơn quý thầy cô đã lắng nghe và rất mong nhận được các câu hỏi, góp ý từ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2331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698480" cy="411480"/>
          </a:xfrm>
          <a:prstGeom prst="rect">
            <a:avLst/>
          </a:prstGeom>
          <a:noFill/>
        </p:spPr>
        <p:txBody>
          <a:bodyPr wrap="square" anchor="t">
            <a:spAutoFit/>
          </a:bodyPr>
          <a:lstStyle/>
          <a:p>
            <a:pPr algn="ctr"/>
            <a:r>
              <a:rPr sz="1400" b="1">
                <a:solidFill>
                  <a:srgbClr val="C5CAE9"/>
                </a:solidFill>
                <a:latin typeface="Arial"/>
              </a:rPr>
              <a:t>ĐẠI HỌC ĐÀ NẴNG  ·  TRƯỜNG ĐẠI HỌC BÁCH KHOA</a:t>
            </a:r>
          </a:p>
        </p:txBody>
      </p:sp>
      <p:sp>
        <p:nvSpPr>
          <p:cNvPr id="5" name="TextBox 4"/>
          <p:cNvSpPr txBox="1"/>
          <p:nvPr/>
        </p:nvSpPr>
        <p:spPr>
          <a:xfrm>
            <a:off x="731520" y="987552"/>
            <a:ext cx="10698480" cy="365760"/>
          </a:xfrm>
          <a:prstGeom prst="rect">
            <a:avLst/>
          </a:prstGeom>
          <a:noFill/>
        </p:spPr>
        <p:txBody>
          <a:bodyPr wrap="square" anchor="t">
            <a:spAutoFit/>
          </a:bodyPr>
          <a:lstStyle/>
          <a:p>
            <a:pPr algn="ctr"/>
            <a:r>
              <a:rPr sz="1300" b="1">
                <a:solidFill>
                  <a:srgbClr val="C5CAE9"/>
                </a:solidFill>
                <a:latin typeface="Arial"/>
              </a:rPr>
              <a:t>KHOA ĐIỆN TỬ - VIỄN THÔNG</a:t>
            </a:r>
          </a:p>
        </p:txBody>
      </p:sp>
      <p:sp>
        <p:nvSpPr>
          <p:cNvPr id="6" name="TextBox 5"/>
          <p:cNvSpPr txBox="1"/>
          <p:nvPr/>
        </p:nvSpPr>
        <p:spPr>
          <a:xfrm>
            <a:off x="731520" y="1481328"/>
            <a:ext cx="10698480" cy="502920"/>
          </a:xfrm>
          <a:prstGeom prst="rect">
            <a:avLst/>
          </a:prstGeom>
          <a:noFill/>
        </p:spPr>
        <p:txBody>
          <a:bodyPr wrap="square" anchor="t">
            <a:spAutoFit/>
          </a:bodyPr>
          <a:lstStyle/>
          <a:p>
            <a:pPr algn="ctr"/>
            <a:r>
              <a:rPr sz="2000" b="1">
                <a:solidFill>
                  <a:srgbClr val="FFFFFF"/>
                </a:solidFill>
                <a:latin typeface="Arial"/>
              </a:rPr>
              <a:t>ĐỒ ÁN TỐT NGHIỆP</a:t>
            </a:r>
          </a:p>
        </p:txBody>
      </p:sp>
      <p:sp>
        <p:nvSpPr>
          <p:cNvPr id="7" name="TextBox 6"/>
          <p:cNvSpPr txBox="1"/>
          <p:nvPr/>
        </p:nvSpPr>
        <p:spPr>
          <a:xfrm>
            <a:off x="731520" y="1938528"/>
            <a:ext cx="10698480" cy="365760"/>
          </a:xfrm>
          <a:prstGeom prst="rect">
            <a:avLst/>
          </a:prstGeom>
          <a:noFill/>
        </p:spPr>
        <p:txBody>
          <a:bodyPr wrap="square" anchor="t">
            <a:spAutoFit/>
          </a:bodyPr>
          <a:lstStyle/>
          <a:p>
            <a:pPr algn="ctr"/>
            <a:r>
              <a:rPr sz="1200" b="0">
                <a:solidFill>
                  <a:srgbClr val="C5CAE9"/>
                </a:solidFill>
                <a:latin typeface="Arial"/>
              </a:rPr>
              <a:t>Ngành: Điện tử - Viễn thông  ·  Chuyên ngành: Hệ thống máy tính</a:t>
            </a:r>
          </a:p>
        </p:txBody>
      </p:sp>
      <p:sp>
        <p:nvSpPr>
          <p:cNvPr id="8" name="TextBox 7"/>
          <p:cNvSpPr txBox="1"/>
          <p:nvPr/>
        </p:nvSpPr>
        <p:spPr>
          <a:xfrm>
            <a:off x="548640" y="2487168"/>
            <a:ext cx="11064240" cy="1417320"/>
          </a:xfrm>
          <a:prstGeom prst="rect">
            <a:avLst/>
          </a:prstGeom>
          <a:noFill/>
        </p:spPr>
        <p:txBody>
          <a:bodyPr wrap="square" anchor="ctr">
            <a:spAutoFit/>
          </a:bodyPr>
          <a:lstStyle/>
          <a:p>
            <a:pPr algn="ctr"/>
            <a:r>
              <a:rPr sz="2600" b="1">
                <a:solidFill>
                  <a:srgbClr val="1A237E"/>
                </a:solidFill>
                <a:latin typeface="Arial"/>
              </a:rPr>
              <a:t>XÂY DỰNG HỆ THỐNG HỎI ĐÁP LUẬT GIAO THÔNG ĐƯỜNG BỘ
VIỆT NAM ỨNG DỤNG LLM KẾT HỢP RAG</a:t>
            </a:r>
          </a:p>
        </p:txBody>
      </p:sp>
      <p:sp>
        <p:nvSpPr>
          <p:cNvPr id="9" name="TextBox 8"/>
          <p:cNvSpPr txBox="1"/>
          <p:nvPr/>
        </p:nvSpPr>
        <p:spPr>
          <a:xfrm>
            <a:off x="731520" y="4023360"/>
            <a:ext cx="10698480" cy="457200"/>
          </a:xfrm>
          <a:prstGeom prst="rect">
            <a:avLst/>
          </a:prstGeom>
          <a:noFill/>
        </p:spPr>
        <p:txBody>
          <a:bodyPr wrap="square" anchor="t">
            <a:spAutoFit/>
          </a:bodyPr>
          <a:lstStyle/>
          <a:p>
            <a:pPr algn="ctr"/>
            <a:r>
              <a:rPr sz="1400" b="1">
                <a:solidFill>
                  <a:srgbClr val="E65C00"/>
                </a:solidFill>
                <a:latin typeface="Arial"/>
              </a:rPr>
              <a:t>Truy xuất lai · Phân đoạn phân cấp pháp luật · LangGraph · Con người trong vòng lặp</a:t>
            </a:r>
          </a:p>
        </p:txBody>
      </p:sp>
      <p:sp>
        <p:nvSpPr>
          <p:cNvPr id="10" name="TextBox 9"/>
          <p:cNvSpPr txBox="1"/>
          <p:nvPr/>
        </p:nvSpPr>
        <p:spPr>
          <a:xfrm>
            <a:off x="731520" y="4892040"/>
            <a:ext cx="10698480" cy="1188720"/>
          </a:xfrm>
          <a:prstGeom prst="rect">
            <a:avLst/>
          </a:prstGeom>
          <a:noFill/>
        </p:spPr>
        <p:txBody>
          <a:bodyPr wrap="square" anchor="t">
            <a:spAutoFit/>
          </a:bodyPr>
          <a:lstStyle/>
          <a:p>
            <a:pPr algn="ctr"/>
            <a:r>
              <a:rPr sz="1600" b="0">
                <a:solidFill>
                  <a:srgbClr val="FFFFFF"/>
                </a:solidFill>
                <a:latin typeface="Arial"/>
              </a:rPr>
              <a:t>Sinh viên thực hiện:  Mạc Phú Phong  —  106210059  —  Lớp 21DTCLC1
Giảng viên hướng dẫn:  TS. Trần Thị Minh Hạnh</a:t>
            </a:r>
          </a:p>
        </p:txBody>
      </p:sp>
      <p:sp>
        <p:nvSpPr>
          <p:cNvPr id="11" name="TextBox 10"/>
          <p:cNvSpPr txBox="1"/>
          <p:nvPr/>
        </p:nvSpPr>
        <p:spPr>
          <a:xfrm>
            <a:off x="731520" y="6217920"/>
            <a:ext cx="10698480" cy="365760"/>
          </a:xfrm>
          <a:prstGeom prst="rect">
            <a:avLst/>
          </a:prstGeom>
          <a:noFill/>
        </p:spPr>
        <p:txBody>
          <a:bodyPr wrap="square" anchor="t">
            <a:spAutoFit/>
          </a:bodyPr>
          <a:lstStyle/>
          <a:p>
            <a:pPr algn="ctr"/>
            <a:r>
              <a:rPr sz="1300" b="0">
                <a:solidFill>
                  <a:srgbClr val="C5CAE9"/>
                </a:solidFill>
                <a:latin typeface="Arial"/>
              </a:rPr>
              <a:t>Đà Nẵng, tháng 6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a:t>
            </a:r>
          </a:p>
        </p:txBody>
      </p:sp>
      <p:sp>
        <p:nvSpPr>
          <p:cNvPr id="6" name="Rounded Rectangle 5"/>
          <p:cNvSpPr/>
          <p:nvPr/>
        </p:nvSpPr>
        <p:spPr>
          <a:xfrm>
            <a:off x="365760" y="256032"/>
            <a:ext cx="1280160" cy="292608"/>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Nội dung</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Nội dung trình bày</a:t>
            </a:r>
          </a:p>
        </p:txBody>
      </p:sp>
      <p:sp>
        <p:nvSpPr>
          <p:cNvPr id="8" name="Rounded Rectangle 7"/>
          <p:cNvSpPr/>
          <p:nvPr/>
        </p:nvSpPr>
        <p:spPr>
          <a:xfrm>
            <a:off x="731520" y="1783080"/>
            <a:ext cx="685800" cy="86868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3000" b="1">
                <a:solidFill>
                  <a:srgbClr val="FFFFFF"/>
                </a:solidFill>
                <a:latin typeface="Arial"/>
              </a:rPr>
              <a:t>1</a:t>
            </a:r>
          </a:p>
        </p:txBody>
      </p:sp>
      <p:sp>
        <p:nvSpPr>
          <p:cNvPr id="9" name="Rounded Rectangle 8"/>
          <p:cNvSpPr/>
          <p:nvPr/>
        </p:nvSpPr>
        <p:spPr>
          <a:xfrm>
            <a:off x="1600200" y="1783080"/>
            <a:ext cx="9784080" cy="868680"/>
          </a:xfrm>
          <a:prstGeom prst="round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212121"/>
                </a:solidFill>
                <a:latin typeface="Arial"/>
              </a:rPr>
              <a:t/>
            </a:r>
          </a:p>
        </p:txBody>
      </p:sp>
      <p:sp>
        <p:nvSpPr>
          <p:cNvPr id="10" name="TextBox 9"/>
          <p:cNvSpPr txBox="1"/>
          <p:nvPr/>
        </p:nvSpPr>
        <p:spPr>
          <a:xfrm>
            <a:off x="1828800" y="1892807"/>
            <a:ext cx="9326880" cy="411480"/>
          </a:xfrm>
          <a:prstGeom prst="rect">
            <a:avLst/>
          </a:prstGeom>
          <a:noFill/>
        </p:spPr>
        <p:txBody>
          <a:bodyPr wrap="square" anchor="t">
            <a:spAutoFit/>
          </a:bodyPr>
          <a:lstStyle/>
          <a:p>
            <a:pPr algn="l"/>
            <a:r>
              <a:rPr sz="1900" b="1">
                <a:solidFill>
                  <a:srgbClr val="1A237E"/>
                </a:solidFill>
                <a:latin typeface="Arial"/>
              </a:rPr>
              <a:t>Bối cảnh, bài toán &amp; cơ sở lý thuyết</a:t>
            </a:r>
          </a:p>
        </p:txBody>
      </p:sp>
      <p:sp>
        <p:nvSpPr>
          <p:cNvPr id="11" name="TextBox 10"/>
          <p:cNvSpPr txBox="1"/>
          <p:nvPr/>
        </p:nvSpPr>
        <p:spPr>
          <a:xfrm>
            <a:off x="1828800" y="2286000"/>
            <a:ext cx="9326880" cy="320040"/>
          </a:xfrm>
          <a:prstGeom prst="rect">
            <a:avLst/>
          </a:prstGeom>
          <a:noFill/>
        </p:spPr>
        <p:txBody>
          <a:bodyPr wrap="square" anchor="t">
            <a:spAutoFit/>
          </a:bodyPr>
          <a:lstStyle/>
          <a:p>
            <a:pPr algn="l"/>
            <a:r>
              <a:rPr sz="1300" b="0">
                <a:solidFill>
                  <a:srgbClr val="606060"/>
                </a:solidFill>
                <a:latin typeface="Arial"/>
              </a:rPr>
              <a:t>Vì sao cần RAG cho pháp luật giao thông</a:t>
            </a:r>
          </a:p>
        </p:txBody>
      </p:sp>
      <p:sp>
        <p:nvSpPr>
          <p:cNvPr id="12" name="Rounded Rectangle 11"/>
          <p:cNvSpPr/>
          <p:nvPr/>
        </p:nvSpPr>
        <p:spPr>
          <a:xfrm>
            <a:off x="731520" y="2834639"/>
            <a:ext cx="685800" cy="868680"/>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3000" b="1">
                <a:solidFill>
                  <a:srgbClr val="FFFFFF"/>
                </a:solidFill>
                <a:latin typeface="Arial"/>
              </a:rPr>
              <a:t>2</a:t>
            </a:r>
          </a:p>
        </p:txBody>
      </p:sp>
      <p:sp>
        <p:nvSpPr>
          <p:cNvPr id="13" name="Rounded Rectangle 12"/>
          <p:cNvSpPr/>
          <p:nvPr/>
        </p:nvSpPr>
        <p:spPr>
          <a:xfrm>
            <a:off x="1600200" y="2834639"/>
            <a:ext cx="9784080" cy="868680"/>
          </a:xfrm>
          <a:prstGeom prst="round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212121"/>
                </a:solidFill>
                <a:latin typeface="Arial"/>
              </a:rPr>
              <a:t/>
            </a:r>
          </a:p>
        </p:txBody>
      </p:sp>
      <p:sp>
        <p:nvSpPr>
          <p:cNvPr id="14" name="TextBox 13"/>
          <p:cNvSpPr txBox="1"/>
          <p:nvPr/>
        </p:nvSpPr>
        <p:spPr>
          <a:xfrm>
            <a:off x="1828800" y="2944368"/>
            <a:ext cx="9326880" cy="411480"/>
          </a:xfrm>
          <a:prstGeom prst="rect">
            <a:avLst/>
          </a:prstGeom>
          <a:noFill/>
        </p:spPr>
        <p:txBody>
          <a:bodyPr wrap="square" anchor="t">
            <a:spAutoFit/>
          </a:bodyPr>
          <a:lstStyle/>
          <a:p>
            <a:pPr algn="l"/>
            <a:r>
              <a:rPr sz="1900" b="1">
                <a:solidFill>
                  <a:srgbClr val="E65C00"/>
                </a:solidFill>
                <a:latin typeface="Arial"/>
              </a:rPr>
              <a:t>Thiết kế &amp; xây dựng hệ thống</a:t>
            </a:r>
          </a:p>
        </p:txBody>
      </p:sp>
      <p:sp>
        <p:nvSpPr>
          <p:cNvPr id="15" name="TextBox 14"/>
          <p:cNvSpPr txBox="1"/>
          <p:nvPr/>
        </p:nvSpPr>
        <p:spPr>
          <a:xfrm>
            <a:off x="1828800" y="3337559"/>
            <a:ext cx="9326880" cy="320040"/>
          </a:xfrm>
          <a:prstGeom prst="rect">
            <a:avLst/>
          </a:prstGeom>
          <a:noFill/>
        </p:spPr>
        <p:txBody>
          <a:bodyPr wrap="square" anchor="t">
            <a:spAutoFit/>
          </a:bodyPr>
          <a:lstStyle/>
          <a:p>
            <a:pPr algn="l"/>
            <a:r>
              <a:rPr sz="1300" b="0">
                <a:solidFill>
                  <a:srgbClr val="606060"/>
                </a:solidFill>
                <a:latin typeface="Arial"/>
              </a:rPr>
              <a:t>Pipeline ngoại tuyến + trực tuyến, agent LangGraph</a:t>
            </a:r>
          </a:p>
        </p:txBody>
      </p:sp>
      <p:sp>
        <p:nvSpPr>
          <p:cNvPr id="16" name="Rounded Rectangle 15"/>
          <p:cNvSpPr/>
          <p:nvPr/>
        </p:nvSpPr>
        <p:spPr>
          <a:xfrm>
            <a:off x="731520" y="3886200"/>
            <a:ext cx="685800" cy="86868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3000" b="1">
                <a:solidFill>
                  <a:srgbClr val="FFFFFF"/>
                </a:solidFill>
                <a:latin typeface="Arial"/>
              </a:rPr>
              <a:t>3</a:t>
            </a:r>
          </a:p>
        </p:txBody>
      </p:sp>
      <p:sp>
        <p:nvSpPr>
          <p:cNvPr id="17" name="Rounded Rectangle 16"/>
          <p:cNvSpPr/>
          <p:nvPr/>
        </p:nvSpPr>
        <p:spPr>
          <a:xfrm>
            <a:off x="1600200" y="3886200"/>
            <a:ext cx="9784080" cy="868680"/>
          </a:xfrm>
          <a:prstGeom prst="round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212121"/>
                </a:solidFill>
                <a:latin typeface="Arial"/>
              </a:rPr>
              <a:t/>
            </a:r>
          </a:p>
        </p:txBody>
      </p:sp>
      <p:sp>
        <p:nvSpPr>
          <p:cNvPr id="18" name="TextBox 17"/>
          <p:cNvSpPr txBox="1"/>
          <p:nvPr/>
        </p:nvSpPr>
        <p:spPr>
          <a:xfrm>
            <a:off x="1828800" y="3995928"/>
            <a:ext cx="9326880" cy="411480"/>
          </a:xfrm>
          <a:prstGeom prst="rect">
            <a:avLst/>
          </a:prstGeom>
          <a:noFill/>
        </p:spPr>
        <p:txBody>
          <a:bodyPr wrap="square" anchor="t">
            <a:spAutoFit/>
          </a:bodyPr>
          <a:lstStyle/>
          <a:p>
            <a:pPr algn="l"/>
            <a:r>
              <a:rPr sz="1900" b="1">
                <a:solidFill>
                  <a:srgbClr val="2E7D32"/>
                </a:solidFill>
                <a:latin typeface="Arial"/>
              </a:rPr>
              <a:t>Thực nghiệm &amp; đánh giá (10 thực nghiệm)</a:t>
            </a:r>
          </a:p>
        </p:txBody>
      </p:sp>
      <p:sp>
        <p:nvSpPr>
          <p:cNvPr id="19" name="TextBox 18"/>
          <p:cNvSpPr txBox="1"/>
          <p:nvPr/>
        </p:nvSpPr>
        <p:spPr>
          <a:xfrm>
            <a:off x="1828800" y="4389120"/>
            <a:ext cx="9326880" cy="320040"/>
          </a:xfrm>
          <a:prstGeom prst="rect">
            <a:avLst/>
          </a:prstGeom>
          <a:noFill/>
        </p:spPr>
        <p:txBody>
          <a:bodyPr wrap="square" anchor="t">
            <a:spAutoFit/>
          </a:bodyPr>
          <a:lstStyle/>
          <a:p>
            <a:pPr algn="l"/>
            <a:r>
              <a:rPr sz="1300" b="0">
                <a:solidFill>
                  <a:srgbClr val="606060"/>
                </a:solidFill>
                <a:latin typeface="Arial"/>
              </a:rPr>
              <a:t>Bằng chứng định lượng cho từng quyết định thiết kế</a:t>
            </a:r>
          </a:p>
        </p:txBody>
      </p:sp>
      <p:sp>
        <p:nvSpPr>
          <p:cNvPr id="20" name="Rounded Rectangle 19"/>
          <p:cNvSpPr/>
          <p:nvPr/>
        </p:nvSpPr>
        <p:spPr>
          <a:xfrm>
            <a:off x="731520" y="4937760"/>
            <a:ext cx="685800" cy="868680"/>
          </a:xfrm>
          <a:prstGeom prst="round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3000" b="1">
                <a:solidFill>
                  <a:srgbClr val="FFFFFF"/>
                </a:solidFill>
                <a:latin typeface="Arial"/>
              </a:rPr>
              <a:t>4</a:t>
            </a:r>
          </a:p>
        </p:txBody>
      </p:sp>
      <p:sp>
        <p:nvSpPr>
          <p:cNvPr id="21" name="Rounded Rectangle 20"/>
          <p:cNvSpPr/>
          <p:nvPr/>
        </p:nvSpPr>
        <p:spPr>
          <a:xfrm>
            <a:off x="1600200" y="4937760"/>
            <a:ext cx="9784080" cy="868680"/>
          </a:xfrm>
          <a:prstGeom prst="round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0">
                <a:solidFill>
                  <a:srgbClr val="212121"/>
                </a:solidFill>
                <a:latin typeface="Arial"/>
              </a:rPr>
              <a:t/>
            </a:r>
          </a:p>
        </p:txBody>
      </p:sp>
      <p:sp>
        <p:nvSpPr>
          <p:cNvPr id="22" name="TextBox 21"/>
          <p:cNvSpPr txBox="1"/>
          <p:nvPr/>
        </p:nvSpPr>
        <p:spPr>
          <a:xfrm>
            <a:off x="1828800" y="5047488"/>
            <a:ext cx="9326880" cy="411480"/>
          </a:xfrm>
          <a:prstGeom prst="rect">
            <a:avLst/>
          </a:prstGeom>
          <a:noFill/>
        </p:spPr>
        <p:txBody>
          <a:bodyPr wrap="square" anchor="t">
            <a:spAutoFit/>
          </a:bodyPr>
          <a:lstStyle/>
          <a:p>
            <a:pPr algn="l"/>
            <a:r>
              <a:rPr sz="1900" b="1">
                <a:solidFill>
                  <a:srgbClr val="6A1B9A"/>
                </a:solidFill>
                <a:latin typeface="Arial"/>
              </a:rPr>
              <a:t>Triển khai, minh hoạ &amp; kết luận</a:t>
            </a:r>
          </a:p>
        </p:txBody>
      </p:sp>
      <p:sp>
        <p:nvSpPr>
          <p:cNvPr id="23" name="TextBox 22"/>
          <p:cNvSpPr txBox="1"/>
          <p:nvPr/>
        </p:nvSpPr>
        <p:spPr>
          <a:xfrm>
            <a:off x="1828800" y="5440680"/>
            <a:ext cx="9326880" cy="320040"/>
          </a:xfrm>
          <a:prstGeom prst="rect">
            <a:avLst/>
          </a:prstGeom>
          <a:noFill/>
        </p:spPr>
        <p:txBody>
          <a:bodyPr wrap="square" anchor="t">
            <a:spAutoFit/>
          </a:bodyPr>
          <a:lstStyle/>
          <a:p>
            <a:pPr algn="l"/>
            <a:r>
              <a:rPr sz="1300" b="0">
                <a:solidFill>
                  <a:srgbClr val="606060"/>
                </a:solidFill>
                <a:latin typeface="Arial"/>
              </a:rPr>
              <a:t>Production $0/tháng, demo, hạn chế &amp; hướng phát triển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a:t>
            </a:r>
          </a:p>
        </p:txBody>
      </p:sp>
      <p:sp>
        <p:nvSpPr>
          <p:cNvPr id="6" name="Rounded Rectangle 5"/>
          <p:cNvSpPr/>
          <p:nvPr/>
        </p:nvSpPr>
        <p:spPr>
          <a:xfrm>
            <a:off x="365760" y="256032"/>
            <a:ext cx="2487168" cy="292608"/>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1 · Bối cảnh</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Đặt vấn đề &amp; động lực nghiên cứu</a:t>
            </a:r>
          </a:p>
        </p:txBody>
      </p:sp>
      <p:sp>
        <p:nvSpPr>
          <p:cNvPr id="8" name="Rounded Rectangle 7"/>
          <p:cNvSpPr/>
          <p:nvPr/>
        </p:nvSpPr>
        <p:spPr>
          <a:xfrm>
            <a:off x="457200" y="1600200"/>
            <a:ext cx="5486400" cy="45720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Arial"/>
              </a:rPr>
              <a:t>Bối cảnh: cải cách pháp luật 2024–2026</a:t>
            </a:r>
          </a:p>
        </p:txBody>
      </p:sp>
      <p:sp>
        <p:nvSpPr>
          <p:cNvPr id="9" name="TextBox 8"/>
          <p:cNvSpPr txBox="1"/>
          <p:nvPr/>
        </p:nvSpPr>
        <p:spPr>
          <a:xfrm>
            <a:off x="548640" y="2240280"/>
            <a:ext cx="5394960" cy="3840480"/>
          </a:xfrm>
          <a:prstGeom prst="rect">
            <a:avLst/>
          </a:prstGeom>
          <a:noFill/>
        </p:spPr>
        <p:txBody>
          <a:bodyPr wrap="square" anchor="t">
            <a:spAutoFit/>
          </a:bodyPr>
          <a:lstStyle/>
          <a:p>
            <a:pPr>
              <a:spcAft>
                <a:spcPts val="900"/>
              </a:spcAft>
            </a:pPr>
            <a:r>
              <a:rPr sz="1600" b="1">
                <a:solidFill>
                  <a:srgbClr val="212121"/>
                </a:solidFill>
                <a:latin typeface="Arial"/>
              </a:rPr>
              <a:t>▸  Hàng loạt văn bản mới hiệu lực gần đồng thời</a:t>
            </a:r>
          </a:p>
          <a:p>
            <a:pPr lvl="1">
              <a:spcAft>
                <a:spcPts val="900"/>
              </a:spcAft>
            </a:pPr>
            <a:r>
              <a:rPr sz="1400" b="0">
                <a:solidFill>
                  <a:srgbClr val="333333"/>
                </a:solidFill>
                <a:latin typeface="Arial"/>
              </a:rPr>
              <a:t>–  Luật TTATGT 36/2024 · Luật Đường bộ 35/2024</a:t>
            </a:r>
          </a:p>
          <a:p>
            <a:pPr lvl="1">
              <a:spcAft>
                <a:spcPts val="900"/>
              </a:spcAft>
            </a:pPr>
            <a:r>
              <a:rPr sz="1400" b="0">
                <a:solidFill>
                  <a:srgbClr val="333333"/>
                </a:solidFill>
                <a:latin typeface="Arial"/>
              </a:rPr>
              <a:t>–  NĐ 168/2024: tăng mạnh mức phạt + trừ điểm GPLX (cơ chế hoàn toàn mới)</a:t>
            </a:r>
          </a:p>
          <a:p>
            <a:pPr>
              <a:spcAft>
                <a:spcPts val="900"/>
              </a:spcAft>
            </a:pPr>
            <a:r>
              <a:rPr sz="1600" b="1">
                <a:solidFill>
                  <a:srgbClr val="212121"/>
                </a:solidFill>
                <a:latin typeface="Arial"/>
              </a:rPr>
              <a:t>▸  Nhu cầu tra cứu chính xác tới Điều/Khoản/Điểm tăng vọt</a:t>
            </a:r>
          </a:p>
        </p:txBody>
      </p:sp>
      <p:sp>
        <p:nvSpPr>
          <p:cNvPr id="10" name="Rounded Rectangle 9"/>
          <p:cNvSpPr/>
          <p:nvPr/>
        </p:nvSpPr>
        <p:spPr>
          <a:xfrm>
            <a:off x="6245352" y="1600200"/>
            <a:ext cx="5486400" cy="457200"/>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Arial"/>
              </a:rPr>
              <a:t>Hạn chế của giải pháp hiện tại</a:t>
            </a:r>
          </a:p>
        </p:txBody>
      </p:sp>
      <p:sp>
        <p:nvSpPr>
          <p:cNvPr id="11" name="TextBox 10"/>
          <p:cNvSpPr txBox="1"/>
          <p:nvPr/>
        </p:nvSpPr>
        <p:spPr>
          <a:xfrm>
            <a:off x="6336792" y="2240280"/>
            <a:ext cx="5394960" cy="3840480"/>
          </a:xfrm>
          <a:prstGeom prst="rect">
            <a:avLst/>
          </a:prstGeom>
          <a:noFill/>
        </p:spPr>
        <p:txBody>
          <a:bodyPr wrap="square" anchor="t">
            <a:spAutoFit/>
          </a:bodyPr>
          <a:lstStyle/>
          <a:p>
            <a:pPr>
              <a:spcAft>
                <a:spcPts val="900"/>
              </a:spcAft>
            </a:pPr>
            <a:r>
              <a:rPr sz="1600" b="1">
                <a:solidFill>
                  <a:srgbClr val="212121"/>
                </a:solidFill>
                <a:latin typeface="Arial"/>
              </a:rPr>
              <a:t>▸  Cổng pháp luật: phải tự biết tên VB &amp; số điều; không hỏi ngôn ngữ tự nhiên</a:t>
            </a:r>
          </a:p>
          <a:p>
            <a:pPr>
              <a:spcAft>
                <a:spcPts val="900"/>
              </a:spcAft>
            </a:pPr>
            <a:r>
              <a:rPr sz="1600" b="1">
                <a:solidFill>
                  <a:srgbClr val="212121"/>
                </a:solidFill>
                <a:latin typeface="Arial"/>
              </a:rPr>
              <a:t>▸  LLM thương mại: chưa cập nhật corpus 2024–2026</a:t>
            </a:r>
          </a:p>
          <a:p>
            <a:pPr lvl="1">
              <a:spcAft>
                <a:spcPts val="900"/>
              </a:spcAft>
            </a:pPr>
            <a:r>
              <a:rPr sz="1400" b="0">
                <a:solidFill>
                  <a:srgbClr val="333333"/>
                </a:solidFill>
                <a:latin typeface="Arial"/>
              </a:rPr>
              <a:t>–  → Ảo giác pháp lý (hallucination): trích sai nguồn, nhầm mức phạt</a:t>
            </a:r>
          </a:p>
          <a:p>
            <a:pPr>
              <a:spcAft>
                <a:spcPts val="900"/>
              </a:spcAft>
            </a:pPr>
            <a:r>
              <a:rPr sz="1600" b="1">
                <a:solidFill>
                  <a:srgbClr val="212121"/>
                </a:solidFill>
                <a:latin typeface="Arial"/>
              </a:rPr>
              <a:t>▸  Rủi ro nghiêm trọng trong lĩnh vực pháp lý</a:t>
            </a:r>
          </a:p>
        </p:txBody>
      </p:sp>
      <p:sp>
        <p:nvSpPr>
          <p:cNvPr id="12" name="Rounded Rectangle 11"/>
          <p:cNvSpPr/>
          <p:nvPr/>
        </p:nvSpPr>
        <p:spPr>
          <a:xfrm>
            <a:off x="457200" y="5943600"/>
            <a:ext cx="11247120" cy="548640"/>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Giải pháp: RAG hướng tác tử — truy xuất văn bản gốc rồi mới sinh, kiểm soát nguồn trích dẫn, hạn chế ảo giác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3</a:t>
            </a:r>
          </a:p>
        </p:txBody>
      </p:sp>
      <p:sp>
        <p:nvSpPr>
          <p:cNvPr id="6" name="Rounded Rectangle 5"/>
          <p:cNvSpPr/>
          <p:nvPr/>
        </p:nvSpPr>
        <p:spPr>
          <a:xfrm>
            <a:off x="365760" y="256032"/>
            <a:ext cx="2487168" cy="292608"/>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1 · Bối cảnh</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Mục tiêu · Phạm vi · Đóng góp</a:t>
            </a:r>
          </a:p>
        </p:txBody>
      </p:sp>
      <p:sp>
        <p:nvSpPr>
          <p:cNvPr id="8" name="Rounded Rectangle 7"/>
          <p:cNvSpPr/>
          <p:nvPr/>
        </p:nvSpPr>
        <p:spPr>
          <a:xfrm>
            <a:off x="457200" y="1554480"/>
            <a:ext cx="5486400" cy="420624"/>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Arial"/>
              </a:rPr>
              <a:t>Mục tiêu &amp; phạm vi</a:t>
            </a:r>
          </a:p>
        </p:txBody>
      </p:sp>
      <p:sp>
        <p:nvSpPr>
          <p:cNvPr id="9" name="TextBox 8"/>
          <p:cNvSpPr txBox="1"/>
          <p:nvPr/>
        </p:nvSpPr>
        <p:spPr>
          <a:xfrm>
            <a:off x="548640" y="2057400"/>
            <a:ext cx="5394960" cy="4114800"/>
          </a:xfrm>
          <a:prstGeom prst="rect">
            <a:avLst/>
          </a:prstGeom>
          <a:noFill/>
        </p:spPr>
        <p:txBody>
          <a:bodyPr wrap="square" anchor="t">
            <a:spAutoFit/>
          </a:bodyPr>
          <a:lstStyle/>
          <a:p>
            <a:pPr>
              <a:spcAft>
                <a:spcPts val="700"/>
              </a:spcAft>
            </a:pPr>
            <a:r>
              <a:rPr sz="1500" b="1">
                <a:solidFill>
                  <a:srgbClr val="212121"/>
                </a:solidFill>
                <a:latin typeface="Arial"/>
              </a:rPr>
              <a:t>▸  Trợ lý hỏi đáp tiếng Việt, trả lời theo văn bản gốc, trích dẫn tới Điểm/Khoản/Điều</a:t>
            </a:r>
          </a:p>
          <a:p>
            <a:pPr>
              <a:spcAft>
                <a:spcPts val="700"/>
              </a:spcAft>
            </a:pPr>
            <a:r>
              <a:rPr sz="1500" b="1">
                <a:solidFill>
                  <a:srgbClr val="212121"/>
                </a:solidFill>
                <a:latin typeface="Arial"/>
              </a:rPr>
              <a:t>▸  Corpus: 24 văn bản còn hiệu lực (06/2026)</a:t>
            </a:r>
          </a:p>
          <a:p>
            <a:pPr lvl="1">
              <a:spcAft>
                <a:spcPts val="700"/>
              </a:spcAft>
            </a:pPr>
            <a:r>
              <a:rPr sz="1300" b="0">
                <a:solidFill>
                  <a:srgbClr val="333333"/>
                </a:solidFill>
                <a:latin typeface="Arial"/>
              </a:rPr>
              <a:t>–  2 Luật · 5 Nghị định · 17 Thông tư</a:t>
            </a:r>
          </a:p>
          <a:p>
            <a:pPr lvl="1">
              <a:spcAft>
                <a:spcPts val="700"/>
              </a:spcAft>
            </a:pPr>
            <a:r>
              <a:rPr sz="1300" b="0">
                <a:solidFill>
                  <a:srgbClr val="333333"/>
                </a:solidFill>
                <a:latin typeface="Arial"/>
              </a:rPr>
              <a:t>–  NĐ 81/2026 đường sắt: bao quát giao cắt đường bộ–đường sắt</a:t>
            </a:r>
          </a:p>
          <a:p>
            <a:pPr>
              <a:spcAft>
                <a:spcPts val="700"/>
              </a:spcAft>
            </a:pPr>
            <a:r>
              <a:rPr sz="1500" b="1">
                <a:solidFill>
                  <a:srgbClr val="212121"/>
                </a:solidFill>
                <a:latin typeface="Arial"/>
              </a:rPr>
              <a:t>▸  Không cần GPU cho vận hành (trừ reranker tuỳ chọn)</a:t>
            </a:r>
          </a:p>
          <a:p>
            <a:pPr>
              <a:spcAft>
                <a:spcPts val="700"/>
              </a:spcAft>
            </a:pPr>
            <a:r>
              <a:rPr sz="1500" b="1">
                <a:solidFill>
                  <a:srgbClr val="212121"/>
                </a:solidFill>
                <a:latin typeface="Arial"/>
              </a:rPr>
              <a:t>▸  Ngoài phạm vi: đường thuỷ, hàng không; tư vấn cá nhân hoá; phụ lục mẫu biểu</a:t>
            </a:r>
          </a:p>
        </p:txBody>
      </p:sp>
      <p:sp>
        <p:nvSpPr>
          <p:cNvPr id="10" name="Rounded Rectangle 9"/>
          <p:cNvSpPr/>
          <p:nvPr/>
        </p:nvSpPr>
        <p:spPr>
          <a:xfrm>
            <a:off x="6245352" y="1554480"/>
            <a:ext cx="5486400" cy="420624"/>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Arial"/>
              </a:rPr>
              <a:t>3 đóng góp chính</a:t>
            </a:r>
          </a:p>
        </p:txBody>
      </p:sp>
      <p:sp>
        <p:nvSpPr>
          <p:cNvPr id="11" name="TextBox 10"/>
          <p:cNvSpPr txBox="1"/>
          <p:nvPr/>
        </p:nvSpPr>
        <p:spPr>
          <a:xfrm>
            <a:off x="6336792" y="2057400"/>
            <a:ext cx="5394960" cy="4114800"/>
          </a:xfrm>
          <a:prstGeom prst="rect">
            <a:avLst/>
          </a:prstGeom>
          <a:noFill/>
        </p:spPr>
        <p:txBody>
          <a:bodyPr wrap="square" anchor="t">
            <a:spAutoFit/>
          </a:bodyPr>
          <a:lstStyle/>
          <a:p>
            <a:pPr>
              <a:spcAft>
                <a:spcPts val="700"/>
              </a:spcAft>
            </a:pPr>
            <a:r>
              <a:rPr sz="1500" b="1">
                <a:solidFill>
                  <a:srgbClr val="212121"/>
                </a:solidFill>
                <a:latin typeface="Arial"/>
              </a:rPr>
              <a:t>▸  Thuật toán phân đoạn phân cấp Điều→Khoản→Điểm</a:t>
            </a:r>
          </a:p>
          <a:p>
            <a:pPr lvl="1">
              <a:spcAft>
                <a:spcPts val="700"/>
              </a:spcAft>
            </a:pPr>
            <a:r>
              <a:rPr sz="1300" b="0">
                <a:solidFill>
                  <a:srgbClr val="333333"/>
                </a:solidFill>
                <a:latin typeface="Arial"/>
              </a:rPr>
              <a:t>–  5 cải tiến; điểm thiếu đoạn 77,5%→11,7%; Cit-R ×2,4</a:t>
            </a:r>
          </a:p>
          <a:p>
            <a:pPr>
              <a:spcAft>
                <a:spcPts val="700"/>
              </a:spcAft>
            </a:pPr>
            <a:r>
              <a:rPr sz="1500" b="1">
                <a:solidFill>
                  <a:srgbClr val="212121"/>
                </a:solidFill>
                <a:latin typeface="Arial"/>
              </a:rPr>
              <a:t>▸  Quy trình truy xuất lai đa truy vấn đặc thù VB pháp luật</a:t>
            </a:r>
          </a:p>
          <a:p>
            <a:pPr lvl="1">
              <a:spcAft>
                <a:spcPts val="700"/>
              </a:spcAft>
            </a:pPr>
            <a:r>
              <a:rPr sz="1300" b="0">
                <a:solidFill>
                  <a:srgbClr val="333333"/>
                </a:solidFill>
                <a:latin typeface="Arial"/>
              </a:rPr>
              <a:t>–  Mở rộng QV · RRF · sibling · giải tham chiếu chéo + bộ đánh giá 40 câu/8 danh mục (corpus 2024–2026 mới)</a:t>
            </a:r>
          </a:p>
          <a:p>
            <a:pPr>
              <a:spcAft>
                <a:spcPts val="700"/>
              </a:spcAft>
            </a:pPr>
            <a:r>
              <a:rPr sz="1500" b="1">
                <a:solidFill>
                  <a:srgbClr val="212121"/>
                </a:solidFill>
                <a:latin typeface="Arial"/>
              </a:rPr>
              <a:t>▸  Kiến trúc kiểm soát ảo giác pháp lý theo chiều sâu (3 lớp)</a:t>
            </a:r>
          </a:p>
          <a:p>
            <a:pPr lvl="1">
              <a:spcAft>
                <a:spcPts val="700"/>
              </a:spcAft>
            </a:pPr>
            <a:r>
              <a:rPr sz="1300" b="0">
                <a:solidFill>
                  <a:srgbClr val="333333"/>
                </a:solidFill>
                <a:latin typeface="Arial"/>
              </a:rPr>
              <a:t>–  Lệnh hướng dẫn (×8,7) · lọc trích dẫn · HITL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4</a:t>
            </a:r>
          </a:p>
        </p:txBody>
      </p:sp>
      <p:sp>
        <p:nvSpPr>
          <p:cNvPr id="6" name="Rounded Rectangle 5"/>
          <p:cNvSpPr/>
          <p:nvPr/>
        </p:nvSpPr>
        <p:spPr>
          <a:xfrm>
            <a:off x="365760" y="256032"/>
            <a:ext cx="3511296" cy="292608"/>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1 · Cơ sở lý thuyết</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RAG — Sinh văn bản tăng cường truy xuất</a:t>
            </a:r>
          </a:p>
        </p:txBody>
      </p:sp>
      <p:sp>
        <p:nvSpPr>
          <p:cNvPr id="8" name="Rounded Rectangle 7"/>
          <p:cNvSpPr/>
          <p:nvPr/>
        </p:nvSpPr>
        <p:spPr>
          <a:xfrm>
            <a:off x="457200" y="2377440"/>
            <a:ext cx="1783080" cy="86868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Truy vấn</a:t>
            </a:r>
          </a:p>
          <a:p>
            <a:pPr algn="ctr"/>
            <a:r>
              <a:rPr sz="1300" b="1">
                <a:solidFill>
                  <a:srgbClr val="FFFFFF"/>
                </a:solidFill>
                <a:latin typeface="Arial"/>
              </a:rPr>
              <a:t>người dùng</a:t>
            </a:r>
          </a:p>
        </p:txBody>
      </p:sp>
      <p:sp>
        <p:nvSpPr>
          <p:cNvPr id="9" name="Rounded Rectangle 8"/>
          <p:cNvSpPr/>
          <p:nvPr/>
        </p:nvSpPr>
        <p:spPr>
          <a:xfrm>
            <a:off x="2423160" y="2377440"/>
            <a:ext cx="1783080" cy="86868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Mã hoá</a:t>
            </a:r>
          </a:p>
          <a:p>
            <a:pPr algn="ctr"/>
            <a:r>
              <a:rPr sz="1300" b="1">
                <a:solidFill>
                  <a:srgbClr val="FFFFFF"/>
                </a:solidFill>
                <a:latin typeface="Arial"/>
              </a:rPr>
              <a:t>truy vấn (E5)</a:t>
            </a:r>
          </a:p>
        </p:txBody>
      </p:sp>
      <p:sp>
        <p:nvSpPr>
          <p:cNvPr id="10" name="Rounded Rectangle 9"/>
          <p:cNvSpPr/>
          <p:nvPr/>
        </p:nvSpPr>
        <p:spPr>
          <a:xfrm>
            <a:off x="4389120" y="2377440"/>
            <a:ext cx="1783080" cy="868680"/>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Tìm kiếm vector</a:t>
            </a:r>
          </a:p>
          <a:p>
            <a:pPr algn="ctr"/>
            <a:r>
              <a:rPr sz="1300" b="1">
                <a:solidFill>
                  <a:srgbClr val="FFFFFF"/>
                </a:solidFill>
                <a:latin typeface="Arial"/>
              </a:rPr>
              <a:t>top-k đoạn</a:t>
            </a:r>
          </a:p>
        </p:txBody>
      </p:sp>
      <p:sp>
        <p:nvSpPr>
          <p:cNvPr id="11" name="Rounded Rectangle 10"/>
          <p:cNvSpPr/>
          <p:nvPr/>
        </p:nvSpPr>
        <p:spPr>
          <a:xfrm>
            <a:off x="6355080" y="2377440"/>
            <a:ext cx="1783080" cy="868680"/>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Ghép ngữ cảnh</a:t>
            </a:r>
          </a:p>
          <a:p>
            <a:pPr algn="ctr"/>
            <a:r>
              <a:rPr sz="1300" b="1">
                <a:solidFill>
                  <a:srgbClr val="FFFFFF"/>
                </a:solidFill>
                <a:latin typeface="Arial"/>
              </a:rPr>
              <a:t>+ truy vấn</a:t>
            </a:r>
          </a:p>
        </p:txBody>
      </p:sp>
      <p:sp>
        <p:nvSpPr>
          <p:cNvPr id="12" name="Rounded Rectangle 11"/>
          <p:cNvSpPr/>
          <p:nvPr/>
        </p:nvSpPr>
        <p:spPr>
          <a:xfrm>
            <a:off x="8321040" y="2377440"/>
            <a:ext cx="1783080" cy="868680"/>
          </a:xfrm>
          <a:prstGeom prst="round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LLM sinh</a:t>
            </a:r>
          </a:p>
          <a:p>
            <a:pPr algn="ctr"/>
            <a:r>
              <a:rPr sz="1300" b="1">
                <a:solidFill>
                  <a:srgbClr val="FFFFFF"/>
                </a:solidFill>
                <a:latin typeface="Arial"/>
              </a:rPr>
              <a:t>câu trả lời</a:t>
            </a:r>
          </a:p>
        </p:txBody>
      </p:sp>
      <p:cxnSp>
        <p:nvCxnSpPr>
          <p:cNvPr id="13" name="Connector 12"/>
          <p:cNvCxnSpPr/>
          <p:nvPr/>
        </p:nvCxnSpPr>
        <p:spPr>
          <a:xfrm>
            <a:off x="2240280" y="2811780"/>
            <a:ext cx="182880" cy="0"/>
          </a:xfrm>
          <a:prstGeom prst="line">
            <a:avLst/>
          </a:prstGeom>
          <a:ln w="2286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206240" y="2811780"/>
            <a:ext cx="182880" cy="0"/>
          </a:xfrm>
          <a:prstGeom prst="line">
            <a:avLst/>
          </a:prstGeom>
          <a:ln w="2286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172200" y="2811780"/>
            <a:ext cx="182880" cy="0"/>
          </a:xfrm>
          <a:prstGeom prst="line">
            <a:avLst/>
          </a:prstGeom>
          <a:ln w="2286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138160" y="2811780"/>
            <a:ext cx="182880" cy="0"/>
          </a:xfrm>
          <a:prstGeom prst="line">
            <a:avLst/>
          </a:prstGeom>
          <a:ln w="2286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241280" y="2377440"/>
            <a:ext cx="1554480" cy="86868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Câu trả lời</a:t>
            </a:r>
          </a:p>
          <a:p>
            <a:pPr algn="ctr"/>
            <a:r>
              <a:rPr sz="1200" b="1">
                <a:solidFill>
                  <a:srgbClr val="FFFFFF"/>
                </a:solidFill>
                <a:latin typeface="Arial"/>
              </a:rPr>
              <a:t>+ trích dẫn</a:t>
            </a:r>
          </a:p>
        </p:txBody>
      </p:sp>
      <p:cxnSp>
        <p:nvCxnSpPr>
          <p:cNvPr id="18" name="Connector 17"/>
          <p:cNvCxnSpPr/>
          <p:nvPr/>
        </p:nvCxnSpPr>
        <p:spPr>
          <a:xfrm>
            <a:off x="10104119" y="2811780"/>
            <a:ext cx="137161" cy="0"/>
          </a:xfrm>
          <a:prstGeom prst="line">
            <a:avLst/>
          </a:prstGeom>
          <a:ln w="2286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89120" y="1417320"/>
            <a:ext cx="1920240" cy="640080"/>
          </a:xfrm>
          <a:prstGeom prst="round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Kho tài liệu</a:t>
            </a:r>
          </a:p>
          <a:p>
            <a:pPr algn="ctr"/>
            <a:r>
              <a:rPr sz="1200" b="1">
                <a:solidFill>
                  <a:srgbClr val="FFFFFF"/>
                </a:solidFill>
                <a:latin typeface="Arial"/>
              </a:rPr>
              <a:t>kiểm soát (Qdrant)</a:t>
            </a:r>
          </a:p>
        </p:txBody>
      </p:sp>
      <p:cxnSp>
        <p:nvCxnSpPr>
          <p:cNvPr id="20" name="Connector 19"/>
          <p:cNvCxnSpPr/>
          <p:nvPr/>
        </p:nvCxnSpPr>
        <p:spPr>
          <a:xfrm flipH="1">
            <a:off x="5276088" y="2057400"/>
            <a:ext cx="73152" cy="320040"/>
          </a:xfrm>
          <a:prstGeom prst="line">
            <a:avLst/>
          </a:prstGeom>
          <a:ln w="22860">
            <a:solidFill>
              <a:srgbClr val="C218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3611880"/>
            <a:ext cx="11155680" cy="2286000"/>
          </a:xfrm>
          <a:prstGeom prst="rect">
            <a:avLst/>
          </a:prstGeom>
          <a:noFill/>
        </p:spPr>
        <p:txBody>
          <a:bodyPr wrap="square" anchor="t">
            <a:spAutoFit/>
          </a:bodyPr>
          <a:lstStyle/>
          <a:p>
            <a:pPr>
              <a:spcAft>
                <a:spcPts val="900"/>
              </a:spcAft>
            </a:pPr>
            <a:r>
              <a:rPr sz="1600" b="1">
                <a:solidFill>
                  <a:srgbClr val="212121"/>
                </a:solidFill>
                <a:latin typeface="Arial"/>
              </a:rPr>
              <a:t>▸  Không nhồi kiến thức vào tham số → cập nhật văn bản không cần huấn luyện lại</a:t>
            </a:r>
          </a:p>
          <a:p>
            <a:pPr>
              <a:spcAft>
                <a:spcPts val="900"/>
              </a:spcAft>
            </a:pPr>
            <a:r>
              <a:rPr sz="1600" b="1">
                <a:solidFill>
                  <a:srgbClr val="212121"/>
                </a:solidFill>
                <a:latin typeface="Arial"/>
              </a:rPr>
              <a:t>▸  Kiểm soát nguồn trích dẫn → hạn chế ảo giác (đặc biệt quan trọng với pháp luật)</a:t>
            </a:r>
          </a:p>
          <a:p>
            <a:pPr>
              <a:spcAft>
                <a:spcPts val="900"/>
              </a:spcAft>
            </a:pPr>
            <a:r>
              <a:rPr sz="1600" b="1">
                <a:solidFill>
                  <a:srgbClr val="212121"/>
                </a:solidFill>
                <a:latin typeface="Arial"/>
              </a:rPr>
              <a:t>▸  Thách thức đặc thù: cấu trúc phân cấp Điều→Khoản→Điểm; truy vấn ngắn/mơ hồ; câu đa ý định</a:t>
            </a:r>
          </a:p>
        </p:txBody>
      </p:sp>
      <p:sp>
        <p:nvSpPr>
          <p:cNvPr id="22" name="TextBox 21"/>
          <p:cNvSpPr txBox="1"/>
          <p:nvPr/>
        </p:nvSpPr>
        <p:spPr>
          <a:xfrm>
            <a:off x="457200" y="5989320"/>
            <a:ext cx="11247120" cy="365760"/>
          </a:xfrm>
          <a:prstGeom prst="rect">
            <a:avLst/>
          </a:prstGeom>
          <a:noFill/>
        </p:spPr>
        <p:txBody>
          <a:bodyPr wrap="square" anchor="t">
            <a:spAutoFit/>
          </a:bodyPr>
          <a:lstStyle/>
          <a:p>
            <a:pPr algn="ctr"/>
            <a:r>
              <a:rPr sz="1200" b="0">
                <a:solidFill>
                  <a:srgbClr val="606060"/>
                </a:solidFill>
                <a:latin typeface="Arial"/>
              </a:rPr>
              <a:t>Hình 3 — Kiến trúc tổng quan RAG (Lewis và cộng sự, 2020)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5</a:t>
            </a:r>
          </a:p>
        </p:txBody>
      </p:sp>
      <p:sp>
        <p:nvSpPr>
          <p:cNvPr id="6" name="Rounded Rectangle 5"/>
          <p:cNvSpPr/>
          <p:nvPr/>
        </p:nvSpPr>
        <p:spPr>
          <a:xfrm>
            <a:off x="365760" y="256032"/>
            <a:ext cx="3511296" cy="292608"/>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1 · Cơ sở lý thuyết</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Nền tảng kỹ thuật của truy xuất lai</a:t>
            </a:r>
          </a:p>
        </p:txBody>
      </p:sp>
      <p:sp>
        <p:nvSpPr>
          <p:cNvPr id="8" name="Rounded Rectangle 7"/>
          <p:cNvSpPr/>
          <p:nvPr/>
        </p:nvSpPr>
        <p:spPr>
          <a:xfrm>
            <a:off x="457200" y="1645920"/>
            <a:ext cx="3657600" cy="45720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Truy xuất DÀY ĐẶC</a:t>
            </a:r>
          </a:p>
        </p:txBody>
      </p:sp>
      <p:sp>
        <p:nvSpPr>
          <p:cNvPr id="9" name="TextBox 8"/>
          <p:cNvSpPr txBox="1"/>
          <p:nvPr/>
        </p:nvSpPr>
        <p:spPr>
          <a:xfrm>
            <a:off x="530352" y="2240280"/>
            <a:ext cx="3611880" cy="3291840"/>
          </a:xfrm>
          <a:prstGeom prst="rect">
            <a:avLst/>
          </a:prstGeom>
          <a:noFill/>
        </p:spPr>
        <p:txBody>
          <a:bodyPr wrap="square" anchor="t">
            <a:spAutoFit/>
          </a:bodyPr>
          <a:lstStyle/>
          <a:p>
            <a:pPr>
              <a:spcAft>
                <a:spcPts val="800"/>
              </a:spcAft>
            </a:pPr>
            <a:r>
              <a:rPr sz="1400" b="1">
                <a:solidFill>
                  <a:srgbClr val="212121"/>
                </a:solidFill>
                <a:latin typeface="Arial"/>
              </a:rPr>
              <a:t>▸  Embedding E5-base đa ngôn ngữ (XLM-R)</a:t>
            </a:r>
          </a:p>
          <a:p>
            <a:pPr lvl="1">
              <a:spcAft>
                <a:spcPts val="800"/>
              </a:spcAft>
            </a:pPr>
            <a:r>
              <a:rPr sz="1200" b="0">
                <a:solidFill>
                  <a:srgbClr val="333333"/>
                </a:solidFill>
                <a:latin typeface="Arial"/>
              </a:rPr>
              <a:t>–  768 chiều · gộp trung bình + chuẩn hoá L2</a:t>
            </a:r>
          </a:p>
          <a:p>
            <a:pPr lvl="1">
              <a:spcAft>
                <a:spcPts val="800"/>
              </a:spcAft>
            </a:pPr>
            <a:r>
              <a:rPr sz="1200" b="0">
                <a:solidFill>
                  <a:srgbClr val="333333"/>
                </a:solidFill>
                <a:latin typeface="Arial"/>
              </a:rPr>
              <a:t>–  Bắt ngữ nghĩa: 'vượt đèn đỏ' ≈ 'không chấp hành hiệu lệnh đèn'</a:t>
            </a:r>
          </a:p>
        </p:txBody>
      </p:sp>
      <p:sp>
        <p:nvSpPr>
          <p:cNvPr id="10" name="Rounded Rectangle 9"/>
          <p:cNvSpPr/>
          <p:nvPr/>
        </p:nvSpPr>
        <p:spPr>
          <a:xfrm>
            <a:off x="4270248" y="1645920"/>
            <a:ext cx="3657600" cy="457200"/>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Truy xuất THƯA (BM25)</a:t>
            </a:r>
          </a:p>
        </p:txBody>
      </p:sp>
      <p:sp>
        <p:nvSpPr>
          <p:cNvPr id="11" name="TextBox 10"/>
          <p:cNvSpPr txBox="1"/>
          <p:nvPr/>
        </p:nvSpPr>
        <p:spPr>
          <a:xfrm>
            <a:off x="4343400" y="2240280"/>
            <a:ext cx="3611880" cy="3291840"/>
          </a:xfrm>
          <a:prstGeom prst="rect">
            <a:avLst/>
          </a:prstGeom>
          <a:noFill/>
        </p:spPr>
        <p:txBody>
          <a:bodyPr wrap="square" anchor="t">
            <a:spAutoFit/>
          </a:bodyPr>
          <a:lstStyle/>
          <a:p>
            <a:pPr>
              <a:spcAft>
                <a:spcPts val="800"/>
              </a:spcAft>
            </a:pPr>
            <a:r>
              <a:rPr sz="1400" b="1">
                <a:solidFill>
                  <a:srgbClr val="212121"/>
                </a:solidFill>
                <a:latin typeface="Arial"/>
              </a:rPr>
              <a:t>▸  Tần suất từ, không cần học</a:t>
            </a:r>
          </a:p>
          <a:p>
            <a:pPr lvl="1">
              <a:spcAft>
                <a:spcPts val="800"/>
              </a:spcAft>
            </a:pPr>
            <a:r>
              <a:rPr sz="1200" b="0">
                <a:solidFill>
                  <a:srgbClr val="333333"/>
                </a:solidFill>
                <a:latin typeface="Arial"/>
              </a:rPr>
              <a:t>–  k₁=1,5 · b=0,75 · tách từ pyvi</a:t>
            </a:r>
          </a:p>
          <a:p>
            <a:pPr lvl="1">
              <a:spcAft>
                <a:spcPts val="800"/>
              </a:spcAft>
            </a:pPr>
            <a:r>
              <a:rPr sz="1200" b="0">
                <a:solidFill>
                  <a:srgbClr val="333333"/>
                </a:solidFill>
                <a:latin typeface="Arial"/>
              </a:rPr>
              <a:t>–  Mạnh với mã chính xác: 'Điều 7', 'NĐ 168/2024'</a:t>
            </a:r>
          </a:p>
        </p:txBody>
      </p:sp>
      <p:sp>
        <p:nvSpPr>
          <p:cNvPr id="12" name="Rounded Rectangle 11"/>
          <p:cNvSpPr/>
          <p:nvPr/>
        </p:nvSpPr>
        <p:spPr>
          <a:xfrm>
            <a:off x="8083296" y="1645920"/>
            <a:ext cx="3657600" cy="4572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Hợp nhất RRF (k=60)</a:t>
            </a:r>
          </a:p>
        </p:txBody>
      </p:sp>
      <p:sp>
        <p:nvSpPr>
          <p:cNvPr id="13" name="TextBox 12"/>
          <p:cNvSpPr txBox="1"/>
          <p:nvPr/>
        </p:nvSpPr>
        <p:spPr>
          <a:xfrm>
            <a:off x="8156448" y="2240280"/>
            <a:ext cx="3611880" cy="3291840"/>
          </a:xfrm>
          <a:prstGeom prst="rect">
            <a:avLst/>
          </a:prstGeom>
          <a:noFill/>
        </p:spPr>
        <p:txBody>
          <a:bodyPr wrap="square" anchor="t">
            <a:spAutoFit/>
          </a:bodyPr>
          <a:lstStyle/>
          <a:p>
            <a:pPr>
              <a:spcAft>
                <a:spcPts val="800"/>
              </a:spcAft>
            </a:pPr>
            <a:r>
              <a:rPr sz="1400" b="1">
                <a:solidFill>
                  <a:srgbClr val="212121"/>
                </a:solidFill>
                <a:latin typeface="Arial"/>
              </a:rPr>
              <a:t>▸  Gộp nhiều danh sách xếp hạng</a:t>
            </a:r>
          </a:p>
          <a:p>
            <a:pPr lvl="1">
              <a:spcAft>
                <a:spcPts val="800"/>
              </a:spcAft>
            </a:pPr>
            <a:r>
              <a:rPr sz="1200" b="0">
                <a:solidFill>
                  <a:srgbClr val="333333"/>
                </a:solidFill>
                <a:latin typeface="Arial"/>
              </a:rPr>
              <a:t>–  Không cần chuẩn hoá điểm giữa hai hệ</a:t>
            </a:r>
          </a:p>
          <a:p>
            <a:pPr lvl="1">
              <a:spcAft>
                <a:spcPts val="800"/>
              </a:spcAft>
            </a:pPr>
            <a:r>
              <a:rPr sz="1200" b="0">
                <a:solidFill>
                  <a:srgbClr val="333333"/>
                </a:solidFill>
                <a:latin typeface="Arial"/>
              </a:rPr>
              <a:t>–  Ổn định cho corpus &lt; 10.000 tài liệu</a:t>
            </a:r>
          </a:p>
        </p:txBody>
      </p:sp>
      <p:sp>
        <p:nvSpPr>
          <p:cNvPr id="14" name="Rounded Rectangle 13"/>
          <p:cNvSpPr/>
          <p:nvPr/>
        </p:nvSpPr>
        <p:spPr>
          <a:xfrm>
            <a:off x="457200" y="5669280"/>
            <a:ext cx="11247120" cy="59436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Dày đặc + Thưa bổ sung cho nhau → truy xuất lai vượt trội từng phương pháp đơn lẻ (Luan và cộng sự)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6</a:t>
            </a:r>
          </a:p>
        </p:txBody>
      </p:sp>
      <p:sp>
        <p:nvSpPr>
          <p:cNvPr id="6" name="Rounded Rectangle 5"/>
          <p:cNvSpPr/>
          <p:nvPr/>
        </p:nvSpPr>
        <p:spPr>
          <a:xfrm>
            <a:off x="365760" y="256032"/>
            <a:ext cx="3511296" cy="292608"/>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1 · Cơ sở lý thuyết</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Hướng tác tử · LangGraph · Con người trong vòng lặp</a:t>
            </a:r>
          </a:p>
        </p:txBody>
      </p:sp>
      <p:sp>
        <p:nvSpPr>
          <p:cNvPr id="8" name="Rounded Rectangle 7"/>
          <p:cNvSpPr/>
          <p:nvPr/>
        </p:nvSpPr>
        <p:spPr>
          <a:xfrm>
            <a:off x="457200" y="1600200"/>
            <a:ext cx="5486400" cy="420624"/>
          </a:xfrm>
          <a:prstGeom prst="round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LangGraph — máy trạng thái cho LLM</a:t>
            </a:r>
          </a:p>
        </p:txBody>
      </p:sp>
      <p:sp>
        <p:nvSpPr>
          <p:cNvPr id="9" name="TextBox 8"/>
          <p:cNvSpPr txBox="1"/>
          <p:nvPr/>
        </p:nvSpPr>
        <p:spPr>
          <a:xfrm>
            <a:off x="548640" y="2103120"/>
            <a:ext cx="5394960" cy="4114800"/>
          </a:xfrm>
          <a:prstGeom prst="rect">
            <a:avLst/>
          </a:prstGeom>
          <a:noFill/>
        </p:spPr>
        <p:txBody>
          <a:bodyPr wrap="square" anchor="t">
            <a:spAutoFit/>
          </a:bodyPr>
          <a:lstStyle/>
          <a:p>
            <a:pPr>
              <a:spcAft>
                <a:spcPts val="700"/>
              </a:spcAft>
            </a:pPr>
            <a:r>
              <a:rPr sz="1500" b="1">
                <a:solidFill>
                  <a:srgbClr val="212121"/>
                </a:solidFill>
                <a:latin typeface="Arial"/>
              </a:rPr>
              <a:t>▸  Nút (Node): xử lý + cập nhật trạng thái</a:t>
            </a:r>
          </a:p>
          <a:p>
            <a:pPr>
              <a:spcAft>
                <a:spcPts val="700"/>
              </a:spcAft>
            </a:pPr>
            <a:r>
              <a:rPr sz="1500" b="1">
                <a:solidFill>
                  <a:srgbClr val="212121"/>
                </a:solidFill>
                <a:latin typeface="Arial"/>
              </a:rPr>
              <a:t>▸  Cạnh có điều kiện: định tuyến đa ý định</a:t>
            </a:r>
          </a:p>
          <a:p>
            <a:pPr>
              <a:spcAft>
                <a:spcPts val="700"/>
              </a:spcAft>
            </a:pPr>
            <a:r>
              <a:rPr sz="1500" b="1">
                <a:solidFill>
                  <a:srgbClr val="212121"/>
                </a:solidFill>
                <a:latin typeface="Arial"/>
              </a:rPr>
              <a:t>▸  Trạng thái (AgentState): ngữ cảnh xuyên suốt</a:t>
            </a:r>
          </a:p>
          <a:p>
            <a:pPr>
              <a:spcAft>
                <a:spcPts val="700"/>
              </a:spcAft>
            </a:pPr>
            <a:r>
              <a:rPr sz="1500" b="1">
                <a:solidFill>
                  <a:srgbClr val="212121"/>
                </a:solidFill>
                <a:latin typeface="Arial"/>
              </a:rPr>
              <a:t>▸  Checkpointer: Sqlite (dev) / Postgres (prod)</a:t>
            </a:r>
          </a:p>
          <a:p>
            <a:pPr lvl="1">
              <a:spcAft>
                <a:spcPts val="700"/>
              </a:spcAft>
            </a:pPr>
            <a:r>
              <a:rPr sz="1300" b="0">
                <a:solidFill>
                  <a:srgbClr val="333333"/>
                </a:solidFill>
                <a:latin typeface="Arial"/>
              </a:rPr>
              <a:t>–  Lưu bền → hội thoại đa lượt, không mất state</a:t>
            </a:r>
          </a:p>
          <a:p>
            <a:pPr>
              <a:spcAft>
                <a:spcPts val="700"/>
              </a:spcAft>
            </a:pPr>
            <a:r>
              <a:rPr sz="1500" b="1">
                <a:solidFill>
                  <a:srgbClr val="212121"/>
                </a:solidFill>
                <a:latin typeface="Arial"/>
              </a:rPr>
              <a:t>▸  interrupt_before: tạm dừng chờ phê duyệt</a:t>
            </a:r>
          </a:p>
        </p:txBody>
      </p:sp>
      <p:sp>
        <p:nvSpPr>
          <p:cNvPr id="10" name="Rounded Rectangle 9"/>
          <p:cNvSpPr/>
          <p:nvPr/>
        </p:nvSpPr>
        <p:spPr>
          <a:xfrm>
            <a:off x="6245352" y="1600200"/>
            <a:ext cx="5486400" cy="420624"/>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HITL &amp; khoảng trống nghiên cứu</a:t>
            </a:r>
          </a:p>
        </p:txBody>
      </p:sp>
      <p:sp>
        <p:nvSpPr>
          <p:cNvPr id="11" name="TextBox 10"/>
          <p:cNvSpPr txBox="1"/>
          <p:nvPr/>
        </p:nvSpPr>
        <p:spPr>
          <a:xfrm>
            <a:off x="6336792" y="2103120"/>
            <a:ext cx="5394960" cy="4114800"/>
          </a:xfrm>
          <a:prstGeom prst="rect">
            <a:avLst/>
          </a:prstGeom>
          <a:noFill/>
        </p:spPr>
        <p:txBody>
          <a:bodyPr wrap="square" anchor="t">
            <a:spAutoFit/>
          </a:bodyPr>
          <a:lstStyle/>
          <a:p>
            <a:pPr>
              <a:spcAft>
                <a:spcPts val="800"/>
              </a:spcAft>
            </a:pPr>
            <a:r>
              <a:rPr sz="1500" b="1">
                <a:solidFill>
                  <a:srgbClr val="212121"/>
                </a:solidFill>
                <a:latin typeface="Arial"/>
              </a:rPr>
              <a:t>▸  Con người trong vòng lặp: duyệt thông tin rủi ro cao trước khi trả về</a:t>
            </a:r>
          </a:p>
          <a:p>
            <a:pPr lvl="1">
              <a:spcAft>
                <a:spcPts val="800"/>
              </a:spcAft>
            </a:pPr>
            <a:r>
              <a:rPr sz="1300" b="0">
                <a:solidFill>
                  <a:srgbClr val="333333"/>
                </a:solidFill>
                <a:latin typeface="Arial"/>
              </a:rPr>
              <a:t>–  Áp dụng cho luồng tra cứu web (Tavily)</a:t>
            </a:r>
          </a:p>
          <a:p>
            <a:pPr>
              <a:spcAft>
                <a:spcPts val="800"/>
              </a:spcAft>
            </a:pPr>
            <a:r>
              <a:rPr sz="1500" b="1">
                <a:solidFill>
                  <a:srgbClr val="212121"/>
                </a:solidFill>
                <a:latin typeface="Arial"/>
              </a:rPr>
              <a:t>▸  Khoảng trống: RAG pháp luật VN mới tập trung Bộ luật Lao động/Dân sự</a:t>
            </a:r>
          </a:p>
          <a:p>
            <a:pPr lvl="1">
              <a:spcAft>
                <a:spcPts val="800"/>
              </a:spcAft>
            </a:pPr>
            <a:r>
              <a:rPr sz="1300" b="0">
                <a:solidFill>
                  <a:srgbClr val="333333"/>
                </a:solidFill>
                <a:latin typeface="Arial"/>
              </a:rPr>
              <a:t>–  Chưa xử lý corpus giao thông 2024–2026, cấu trúc Điều→Khoản→Điểm, trừ điểm GPLX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7</a:t>
            </a:r>
          </a:p>
        </p:txBody>
      </p:sp>
      <p:sp>
        <p:nvSpPr>
          <p:cNvPr id="6" name="Rounded Rectangle 5"/>
          <p:cNvSpPr/>
          <p:nvPr/>
        </p:nvSpPr>
        <p:spPr>
          <a:xfrm>
            <a:off x="365760" y="256032"/>
            <a:ext cx="2487168" cy="292608"/>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2 · Thiết kế</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Kiến trúc tổng thể: hai pipeline tách biệt</a:t>
            </a:r>
          </a:p>
        </p:txBody>
      </p:sp>
      <p:sp>
        <p:nvSpPr>
          <p:cNvPr id="8" name="Rounded Rectangle 7"/>
          <p:cNvSpPr/>
          <p:nvPr/>
        </p:nvSpPr>
        <p:spPr>
          <a:xfrm>
            <a:off x="457200" y="1554480"/>
            <a:ext cx="2377440" cy="384048"/>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r>
              <a:rPr sz="1300" b="1">
                <a:solidFill>
                  <a:srgbClr val="FFFFFF"/>
                </a:solidFill>
                <a:latin typeface="Arial"/>
              </a:rPr>
              <a:t>NGOẠI TUYẾN (offline)</a:t>
            </a:r>
          </a:p>
        </p:txBody>
      </p:sp>
      <p:sp>
        <p:nvSpPr>
          <p:cNvPr id="9" name="Rounded Rectangle 8"/>
          <p:cNvSpPr/>
          <p:nvPr/>
        </p:nvSpPr>
        <p:spPr>
          <a:xfrm>
            <a:off x="457200" y="2057400"/>
            <a:ext cx="1874519" cy="7315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24 văn bản</a:t>
            </a:r>
          </a:p>
          <a:p>
            <a:pPr algn="ctr"/>
            <a:r>
              <a:rPr sz="1200" b="1">
                <a:solidFill>
                  <a:srgbClr val="FFFFFF"/>
                </a:solidFill>
                <a:latin typeface="Arial"/>
              </a:rPr>
              <a:t>PDF</a:t>
            </a:r>
          </a:p>
        </p:txBody>
      </p:sp>
      <p:sp>
        <p:nvSpPr>
          <p:cNvPr id="10" name="Rounded Rectangle 9"/>
          <p:cNvSpPr/>
          <p:nvPr/>
        </p:nvSpPr>
        <p:spPr>
          <a:xfrm>
            <a:off x="2514600" y="2057400"/>
            <a:ext cx="1874519" cy="7315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Làm sạch +</a:t>
            </a:r>
          </a:p>
          <a:p>
            <a:pPr algn="ctr"/>
            <a:r>
              <a:rPr sz="1200" b="1">
                <a:solidFill>
                  <a:srgbClr val="FFFFFF"/>
                </a:solidFill>
                <a:latin typeface="Arial"/>
              </a:rPr>
              <a:t>Chunking v6</a:t>
            </a:r>
          </a:p>
        </p:txBody>
      </p:sp>
      <p:sp>
        <p:nvSpPr>
          <p:cNvPr id="11" name="Rounded Rectangle 10"/>
          <p:cNvSpPr/>
          <p:nvPr/>
        </p:nvSpPr>
        <p:spPr>
          <a:xfrm>
            <a:off x="4572000" y="2057400"/>
            <a:ext cx="1874519" cy="7315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Nhúng E5-base</a:t>
            </a:r>
          </a:p>
          <a:p>
            <a:pPr algn="ctr"/>
            <a:r>
              <a:rPr sz="1200" b="1">
                <a:solidFill>
                  <a:srgbClr val="FFFFFF"/>
                </a:solidFill>
                <a:latin typeface="Arial"/>
              </a:rPr>
              <a:t>768 chiều</a:t>
            </a:r>
          </a:p>
        </p:txBody>
      </p:sp>
      <p:cxnSp>
        <p:nvCxnSpPr>
          <p:cNvPr id="12" name="Connector 11"/>
          <p:cNvCxnSpPr/>
          <p:nvPr/>
        </p:nvCxnSpPr>
        <p:spPr>
          <a:xfrm>
            <a:off x="2331720" y="2423160"/>
            <a:ext cx="182880" cy="0"/>
          </a:xfrm>
          <a:prstGeom prst="line">
            <a:avLst/>
          </a:prstGeom>
          <a:ln w="2032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89120" y="2423160"/>
            <a:ext cx="182880" cy="0"/>
          </a:xfrm>
          <a:prstGeom prst="line">
            <a:avLst/>
          </a:prstGeom>
          <a:ln w="2032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446520" y="2423160"/>
            <a:ext cx="2286000" cy="0"/>
          </a:xfrm>
          <a:prstGeom prst="line">
            <a:avLst/>
          </a:prstGeom>
          <a:ln w="2032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732520" y="2011680"/>
            <a:ext cx="2926080" cy="822960"/>
          </a:xfrm>
          <a:prstGeom prst="round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Qdrant — Traffic_Law_Hybrid</a:t>
            </a:r>
          </a:p>
          <a:p>
            <a:pPr algn="ctr"/>
            <a:r>
              <a:rPr sz="1100" b="1">
                <a:solidFill>
                  <a:srgbClr val="FFFFFF"/>
                </a:solidFill>
                <a:latin typeface="Arial"/>
              </a:rPr>
              <a:t>4.423 đoạn × 768d · HNSW</a:t>
            </a:r>
          </a:p>
          <a:p>
            <a:pPr algn="ctr"/>
            <a:r>
              <a:rPr sz="1100" b="1">
                <a:solidFill>
                  <a:srgbClr val="FFFFFF"/>
                </a:solidFill>
                <a:latin typeface="Arial"/>
              </a:rPr>
              <a:t>+ BM25 cache (pyvi)</a:t>
            </a:r>
          </a:p>
        </p:txBody>
      </p:sp>
      <p:sp>
        <p:nvSpPr>
          <p:cNvPr id="16" name="Rounded Rectangle 15"/>
          <p:cNvSpPr/>
          <p:nvPr/>
        </p:nvSpPr>
        <p:spPr>
          <a:xfrm>
            <a:off x="457200" y="3246120"/>
            <a:ext cx="2377440" cy="384048"/>
          </a:xfrm>
          <a:prstGeom prst="round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l"/>
            <a:r>
              <a:rPr sz="1300" b="1">
                <a:solidFill>
                  <a:srgbClr val="FFFFFF"/>
                </a:solidFill>
                <a:latin typeface="Arial"/>
              </a:rPr>
              <a:t>TRỰC TUYẾN (online)</a:t>
            </a:r>
          </a:p>
        </p:txBody>
      </p:sp>
      <p:sp>
        <p:nvSpPr>
          <p:cNvPr id="17" name="Rounded Rectangle 16"/>
          <p:cNvSpPr/>
          <p:nvPr/>
        </p:nvSpPr>
        <p:spPr>
          <a:xfrm>
            <a:off x="457200" y="3749039"/>
            <a:ext cx="1554480" cy="731520"/>
          </a:xfrm>
          <a:prstGeom prst="roundRect">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Người</a:t>
            </a:r>
          </a:p>
          <a:p>
            <a:pPr algn="ctr"/>
            <a:r>
              <a:rPr sz="1200" b="1">
                <a:solidFill>
                  <a:srgbClr val="FFFFFF"/>
                </a:solidFill>
                <a:latin typeface="Arial"/>
              </a:rPr>
              <a:t>dùng</a:t>
            </a:r>
          </a:p>
        </p:txBody>
      </p:sp>
      <p:sp>
        <p:nvSpPr>
          <p:cNvPr id="18" name="Rounded Rectangle 17"/>
          <p:cNvSpPr/>
          <p:nvPr/>
        </p:nvSpPr>
        <p:spPr>
          <a:xfrm>
            <a:off x="2240280" y="3749039"/>
            <a:ext cx="1828800" cy="731520"/>
          </a:xfrm>
          <a:prstGeom prst="round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analyzer</a:t>
            </a:r>
          </a:p>
          <a:p>
            <a:pPr algn="ctr"/>
            <a:r>
              <a:rPr sz="1100" b="1">
                <a:solidFill>
                  <a:srgbClr val="FFFFFF"/>
                </a:solidFill>
                <a:latin typeface="Arial"/>
              </a:rPr>
              <a:t>ý định + mở rộng QV</a:t>
            </a:r>
          </a:p>
        </p:txBody>
      </p:sp>
      <p:sp>
        <p:nvSpPr>
          <p:cNvPr id="19" name="Rounded Rectangle 18"/>
          <p:cNvSpPr/>
          <p:nvPr/>
        </p:nvSpPr>
        <p:spPr>
          <a:xfrm>
            <a:off x="4297680" y="3749039"/>
            <a:ext cx="1463040" cy="731520"/>
          </a:xfrm>
          <a:prstGeom prst="round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Định tuyến</a:t>
            </a:r>
          </a:p>
          <a:p>
            <a:pPr algn="ctr"/>
            <a:r>
              <a:rPr sz="1100" b="1">
                <a:solidFill>
                  <a:srgbClr val="FFFFFF"/>
                </a:solidFill>
                <a:latin typeface="Arial"/>
              </a:rPr>
              <a:t>4 nhánh</a:t>
            </a:r>
          </a:p>
        </p:txBody>
      </p:sp>
      <p:cxnSp>
        <p:nvCxnSpPr>
          <p:cNvPr id="20" name="Connector 19"/>
          <p:cNvCxnSpPr/>
          <p:nvPr/>
        </p:nvCxnSpPr>
        <p:spPr>
          <a:xfrm>
            <a:off x="2011680" y="4114800"/>
            <a:ext cx="228600" cy="0"/>
          </a:xfrm>
          <a:prstGeom prst="line">
            <a:avLst/>
          </a:prstGeom>
          <a:ln w="2032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069080" y="4114800"/>
            <a:ext cx="228600" cy="0"/>
          </a:xfrm>
          <a:prstGeom prst="line">
            <a:avLst/>
          </a:prstGeom>
          <a:ln w="2032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035040" y="3977639"/>
            <a:ext cx="4023360" cy="457200"/>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legal_rag — truy xuất lai + sinh P2</a:t>
            </a:r>
          </a:p>
        </p:txBody>
      </p:sp>
      <p:cxnSp>
        <p:nvCxnSpPr>
          <p:cNvPr id="23" name="Connector 22"/>
          <p:cNvCxnSpPr/>
          <p:nvPr/>
        </p:nvCxnSpPr>
        <p:spPr>
          <a:xfrm>
            <a:off x="5760720" y="4114800"/>
            <a:ext cx="274320" cy="91440"/>
          </a:xfrm>
          <a:prstGeom prst="line">
            <a:avLst/>
          </a:prstGeom>
          <a:ln w="1524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035040" y="4617720"/>
            <a:ext cx="4023360" cy="457200"/>
          </a:xfrm>
          <a:prstGeom prst="roundRect">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chit_chat</a:t>
            </a:r>
          </a:p>
        </p:txBody>
      </p:sp>
      <p:cxnSp>
        <p:nvCxnSpPr>
          <p:cNvPr id="25" name="Connector 24"/>
          <p:cNvCxnSpPr/>
          <p:nvPr/>
        </p:nvCxnSpPr>
        <p:spPr>
          <a:xfrm>
            <a:off x="5760720" y="4114800"/>
            <a:ext cx="274320" cy="731520"/>
          </a:xfrm>
          <a:prstGeom prst="line">
            <a:avLst/>
          </a:prstGeom>
          <a:ln w="1524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035040" y="5257800"/>
            <a:ext cx="4023360" cy="457200"/>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web_search → web_finalize (HITL)</a:t>
            </a:r>
          </a:p>
        </p:txBody>
      </p:sp>
      <p:cxnSp>
        <p:nvCxnSpPr>
          <p:cNvPr id="27" name="Connector 26"/>
          <p:cNvCxnSpPr/>
          <p:nvPr/>
        </p:nvCxnSpPr>
        <p:spPr>
          <a:xfrm>
            <a:off x="5760720" y="4114800"/>
            <a:ext cx="274320" cy="1371600"/>
          </a:xfrm>
          <a:prstGeom prst="line">
            <a:avLst/>
          </a:prstGeom>
          <a:ln w="1524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035040" y="5897880"/>
            <a:ext cx="4023360" cy="457200"/>
          </a:xfrm>
          <a:prstGeom prst="roundRect">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out_of_scope</a:t>
            </a:r>
          </a:p>
        </p:txBody>
      </p:sp>
      <p:cxnSp>
        <p:nvCxnSpPr>
          <p:cNvPr id="29" name="Connector 28"/>
          <p:cNvCxnSpPr/>
          <p:nvPr/>
        </p:nvCxnSpPr>
        <p:spPr>
          <a:xfrm>
            <a:off x="5760720" y="4114800"/>
            <a:ext cx="274320" cy="2011680"/>
          </a:xfrm>
          <a:prstGeom prst="line">
            <a:avLst/>
          </a:prstGeom>
          <a:ln w="1524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332720" y="4480560"/>
            <a:ext cx="1371600" cy="91440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Câu trả lời</a:t>
            </a:r>
          </a:p>
          <a:p>
            <a:pPr algn="ctr"/>
            <a:r>
              <a:rPr sz="1100" b="1">
                <a:solidFill>
                  <a:srgbClr val="FFFFFF"/>
                </a:solidFill>
                <a:latin typeface="Arial"/>
              </a:rPr>
              <a:t>+ trích dẫn</a:t>
            </a:r>
          </a:p>
          <a:p>
            <a:pPr algn="ctr"/>
            <a:r>
              <a:rPr sz="1100" b="1">
                <a:solidFill>
                  <a:srgbClr val="FFFFFF"/>
                </a:solidFill>
                <a:latin typeface="Arial"/>
              </a:rPr>
              <a:t>(SSE)</a:t>
            </a:r>
          </a:p>
        </p:txBody>
      </p:sp>
      <p:cxnSp>
        <p:nvCxnSpPr>
          <p:cNvPr id="31" name="Connector 30"/>
          <p:cNvCxnSpPr/>
          <p:nvPr/>
        </p:nvCxnSpPr>
        <p:spPr>
          <a:xfrm>
            <a:off x="10058400" y="4206240"/>
            <a:ext cx="274320" cy="731520"/>
          </a:xfrm>
          <a:prstGeom prst="line">
            <a:avLst/>
          </a:prstGeom>
          <a:ln w="1270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058400" y="4846320"/>
            <a:ext cx="274320" cy="91440"/>
          </a:xfrm>
          <a:prstGeom prst="line">
            <a:avLst/>
          </a:prstGeom>
          <a:ln w="1270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058400" y="4937760"/>
            <a:ext cx="274320" cy="548640"/>
          </a:xfrm>
          <a:prstGeom prst="line">
            <a:avLst/>
          </a:prstGeom>
          <a:ln w="1270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0058400" y="4937760"/>
            <a:ext cx="274320" cy="1188720"/>
          </a:xfrm>
          <a:prstGeom prst="line">
            <a:avLst/>
          </a:prstGeom>
          <a:ln w="1270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309360" y="2880360"/>
            <a:ext cx="3886200" cy="1097279"/>
          </a:xfrm>
          <a:prstGeom prst="line">
            <a:avLst/>
          </a:prstGeom>
          <a:ln w="17780">
            <a:solidFill>
              <a:srgbClr val="C2185B"/>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8</a:t>
            </a:r>
          </a:p>
        </p:txBody>
      </p:sp>
      <p:sp>
        <p:nvSpPr>
          <p:cNvPr id="6" name="Rounded Rectangle 5"/>
          <p:cNvSpPr/>
          <p:nvPr/>
        </p:nvSpPr>
        <p:spPr>
          <a:xfrm>
            <a:off x="365760" y="256032"/>
            <a:ext cx="2487168" cy="292608"/>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2 · Thiết kế</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Công nghệ sử dụng (tech stack)</a:t>
            </a:r>
          </a:p>
        </p:txBody>
      </p:sp>
      <p:graphicFrame>
        <p:nvGraphicFramePr>
          <p:cNvPr id="8" name="Table 7"/>
          <p:cNvGraphicFramePr>
            <a:graphicFrameLocks noGrp="1"/>
          </p:cNvGraphicFramePr>
          <p:nvPr/>
        </p:nvGraphicFramePr>
        <p:xfrm>
          <a:off x="457200" y="1691640"/>
          <a:ext cx="11247119" cy="4224528"/>
        </p:xfrm>
        <a:graphic>
          <a:graphicData uri="http://schemas.openxmlformats.org/drawingml/2006/table">
            <a:tbl>
              <a:tblPr firstRow="1" bandRow="1">
                <a:tableStyleId>{5C22544A-7EE6-4342-B048-85BDC9FD1C3A}</a:tableStyleId>
              </a:tblPr>
              <a:tblGrid>
                <a:gridCol w="2320834"/>
                <a:gridCol w="3570514"/>
                <a:gridCol w="5355771"/>
              </a:tblGrid>
              <a:tr h="384048">
                <a:tc>
                  <a:txBody>
                    <a:bodyPr wrap="square"/>
                    <a:lstStyle/>
                    <a:p>
                      <a:pPr algn="ctr"/>
                      <a:r>
                        <a:rPr sz="1400" b="1">
                          <a:solidFill>
                            <a:srgbClr val="FFFFFF"/>
                          </a:solidFill>
                          <a:latin typeface="Arial"/>
                        </a:rPr>
                        <a:t>Tầng</a:t>
                      </a:r>
                    </a:p>
                  </a:txBody>
                  <a:tcPr>
                    <a:solidFill>
                      <a:srgbClr val="E65C00"/>
                    </a:solidFill>
                  </a:tcPr>
                </a:tc>
                <a:tc>
                  <a:txBody>
                    <a:bodyPr wrap="square"/>
                    <a:lstStyle/>
                    <a:p>
                      <a:pPr algn="ctr"/>
                      <a:r>
                        <a:rPr sz="1400" b="1">
                          <a:solidFill>
                            <a:srgbClr val="FFFFFF"/>
                          </a:solidFill>
                          <a:latin typeface="Arial"/>
                        </a:rPr>
                        <a:t>Thư viện / Dịch vụ</a:t>
                      </a:r>
                    </a:p>
                  </a:txBody>
                  <a:tcPr>
                    <a:solidFill>
                      <a:srgbClr val="E65C00"/>
                    </a:solidFill>
                  </a:tcPr>
                </a:tc>
                <a:tc>
                  <a:txBody>
                    <a:bodyPr wrap="square"/>
                    <a:lstStyle/>
                    <a:p>
                      <a:pPr algn="ctr"/>
                      <a:r>
                        <a:rPr sz="1400" b="1">
                          <a:solidFill>
                            <a:srgbClr val="FFFFFF"/>
                          </a:solidFill>
                          <a:latin typeface="Arial"/>
                        </a:rPr>
                        <a:t>Lý do chọn</a:t>
                      </a:r>
                    </a:p>
                  </a:txBody>
                  <a:tcPr>
                    <a:solidFill>
                      <a:srgbClr val="E65C00"/>
                    </a:solidFill>
                  </a:tcPr>
                </a:tc>
              </a:tr>
              <a:tr h="384048">
                <a:tc>
                  <a:txBody>
                    <a:bodyPr wrap="square"/>
                    <a:lstStyle/>
                    <a:p>
                      <a:pPr algn="l"/>
                      <a:r>
                        <a:rPr sz="1300" b="0">
                          <a:solidFill>
                            <a:srgbClr val="212121"/>
                          </a:solidFill>
                          <a:latin typeface="Arial"/>
                        </a:rPr>
                        <a:t>Điều phối agent</a:t>
                      </a:r>
                    </a:p>
                  </a:txBody>
                  <a:tcPr>
                    <a:solidFill>
                      <a:srgbClr val="FFFFFF"/>
                    </a:solidFill>
                  </a:tcPr>
                </a:tc>
                <a:tc>
                  <a:txBody>
                    <a:bodyPr wrap="square"/>
                    <a:lstStyle/>
                    <a:p>
                      <a:pPr algn="ctr"/>
                      <a:r>
                        <a:rPr sz="1300" b="0">
                          <a:solidFill>
                            <a:srgbClr val="212121"/>
                          </a:solidFill>
                          <a:latin typeface="Arial"/>
                        </a:rPr>
                        <a:t>LangGraph 0.2.x</a:t>
                      </a:r>
                    </a:p>
                  </a:txBody>
                  <a:tcPr>
                    <a:solidFill>
                      <a:srgbClr val="FFFFFF"/>
                    </a:solidFill>
                  </a:tcPr>
                </a:tc>
                <a:tc>
                  <a:txBody>
                    <a:bodyPr wrap="square"/>
                    <a:lstStyle/>
                    <a:p>
                      <a:pPr algn="ctr"/>
                      <a:r>
                        <a:rPr sz="1300" b="0">
                          <a:solidFill>
                            <a:srgbClr val="212121"/>
                          </a:solidFill>
                          <a:latin typeface="Arial"/>
                        </a:rPr>
                        <a:t>State machine, HITL interrupt_before</a:t>
                      </a:r>
                    </a:p>
                  </a:txBody>
                  <a:tcPr>
                    <a:solidFill>
                      <a:srgbClr val="FFFFFF"/>
                    </a:solidFill>
                  </a:tcPr>
                </a:tc>
              </a:tr>
              <a:tr h="384048">
                <a:tc>
                  <a:txBody>
                    <a:bodyPr wrap="square"/>
                    <a:lstStyle/>
                    <a:p>
                      <a:pPr algn="l"/>
                      <a:r>
                        <a:rPr sz="1300" b="0">
                          <a:solidFill>
                            <a:srgbClr val="212121"/>
                          </a:solidFill>
                          <a:latin typeface="Arial"/>
                        </a:rPr>
                        <a:t>LLM sinh</a:t>
                      </a:r>
                    </a:p>
                  </a:txBody>
                  <a:tcPr>
                    <a:solidFill>
                      <a:srgbClr val="EEEEEE"/>
                    </a:solidFill>
                  </a:tcPr>
                </a:tc>
                <a:tc>
                  <a:txBody>
                    <a:bodyPr wrap="square"/>
                    <a:lstStyle/>
                    <a:p>
                      <a:pPr algn="ctr"/>
                      <a:r>
                        <a:rPr sz="1300" b="0">
                          <a:solidFill>
                            <a:srgbClr val="212121"/>
                          </a:solidFill>
                          <a:latin typeface="Arial"/>
                        </a:rPr>
                        <a:t>Gemini 3.1 Flash Lite</a:t>
                      </a:r>
                    </a:p>
                  </a:txBody>
                  <a:tcPr>
                    <a:solidFill>
                      <a:srgbClr val="EEEEEE"/>
                    </a:solidFill>
                  </a:tcPr>
                </a:tc>
                <a:tc>
                  <a:txBody>
                    <a:bodyPr wrap="square"/>
                    <a:lstStyle/>
                    <a:p>
                      <a:pPr algn="ctr"/>
                      <a:r>
                        <a:rPr sz="1300" b="0">
                          <a:solidFill>
                            <a:srgbClr val="212121"/>
                          </a:solidFill>
                          <a:latin typeface="Arial"/>
                        </a:rPr>
                        <a:t>1M context · $0,075/$0,30 per 1M token</a:t>
                      </a:r>
                    </a:p>
                  </a:txBody>
                  <a:tcPr>
                    <a:solidFill>
                      <a:srgbClr val="EEEEEE"/>
                    </a:solidFill>
                  </a:tcPr>
                </a:tc>
              </a:tr>
              <a:tr h="384048">
                <a:tc>
                  <a:txBody>
                    <a:bodyPr wrap="square"/>
                    <a:lstStyle/>
                    <a:p>
                      <a:pPr algn="l"/>
                      <a:r>
                        <a:rPr sz="1300" b="0">
                          <a:solidFill>
                            <a:srgbClr val="212121"/>
                          </a:solidFill>
                          <a:latin typeface="Arial"/>
                        </a:rPr>
                        <a:t>Embedding</a:t>
                      </a:r>
                    </a:p>
                  </a:txBody>
                  <a:tcPr>
                    <a:solidFill>
                      <a:srgbClr val="FFFFFF"/>
                    </a:solidFill>
                  </a:tcPr>
                </a:tc>
                <a:tc>
                  <a:txBody>
                    <a:bodyPr wrap="square"/>
                    <a:lstStyle/>
                    <a:p>
                      <a:pPr algn="ctr"/>
                      <a:r>
                        <a:rPr sz="1300" b="0">
                          <a:solidFill>
                            <a:srgbClr val="212121"/>
                          </a:solidFill>
                          <a:latin typeface="Arial"/>
                        </a:rPr>
                        <a:t>multilingual-e5-base</a:t>
                      </a:r>
                    </a:p>
                  </a:txBody>
                  <a:tcPr>
                    <a:solidFill>
                      <a:srgbClr val="FFFFFF"/>
                    </a:solidFill>
                  </a:tcPr>
                </a:tc>
                <a:tc>
                  <a:txBody>
                    <a:bodyPr wrap="square"/>
                    <a:lstStyle/>
                    <a:p>
                      <a:pPr algn="ctr"/>
                      <a:r>
                        <a:rPr sz="1300" b="0">
                          <a:solidFill>
                            <a:srgbClr val="212121"/>
                          </a:solidFill>
                          <a:latin typeface="Arial"/>
                        </a:rPr>
                        <a:t>768d · R@10 cao nhất trong 4 model</a:t>
                      </a:r>
                    </a:p>
                  </a:txBody>
                  <a:tcPr>
                    <a:solidFill>
                      <a:srgbClr val="FFFFFF"/>
                    </a:solidFill>
                  </a:tcPr>
                </a:tc>
              </a:tr>
              <a:tr h="384048">
                <a:tc>
                  <a:txBody>
                    <a:bodyPr wrap="square"/>
                    <a:lstStyle/>
                    <a:p>
                      <a:pPr algn="l"/>
                      <a:r>
                        <a:rPr sz="1300" b="0">
                          <a:solidFill>
                            <a:srgbClr val="212121"/>
                          </a:solidFill>
                          <a:latin typeface="Arial"/>
                        </a:rPr>
                        <a:t>Vector DB</a:t>
                      </a:r>
                    </a:p>
                  </a:txBody>
                  <a:tcPr>
                    <a:solidFill>
                      <a:srgbClr val="EEEEEE"/>
                    </a:solidFill>
                  </a:tcPr>
                </a:tc>
                <a:tc>
                  <a:txBody>
                    <a:bodyPr wrap="square"/>
                    <a:lstStyle/>
                    <a:p>
                      <a:pPr algn="ctr"/>
                      <a:r>
                        <a:rPr sz="1300" b="0">
                          <a:solidFill>
                            <a:srgbClr val="212121"/>
                          </a:solidFill>
                          <a:latin typeface="Arial"/>
                        </a:rPr>
                        <a:t>Qdrant 1.17</a:t>
                      </a:r>
                    </a:p>
                  </a:txBody>
                  <a:tcPr>
                    <a:solidFill>
                      <a:srgbClr val="EEEEEE"/>
                    </a:solidFill>
                  </a:tcPr>
                </a:tc>
                <a:tc>
                  <a:txBody>
                    <a:bodyPr wrap="square"/>
                    <a:lstStyle/>
                    <a:p>
                      <a:pPr algn="ctr"/>
                      <a:r>
                        <a:rPr sz="1300" b="0">
                          <a:solidFill>
                            <a:srgbClr val="212121"/>
                          </a:solidFill>
                          <a:latin typeface="Arial"/>
                        </a:rPr>
                        <a:t>Payload filter · HTTP API · HNSW</a:t>
                      </a:r>
                    </a:p>
                  </a:txBody>
                  <a:tcPr>
                    <a:solidFill>
                      <a:srgbClr val="EEEEEE"/>
                    </a:solidFill>
                  </a:tcPr>
                </a:tc>
              </a:tr>
              <a:tr h="384048">
                <a:tc>
                  <a:txBody>
                    <a:bodyPr wrap="square"/>
                    <a:lstStyle/>
                    <a:p>
                      <a:pPr algn="l"/>
                      <a:r>
                        <a:rPr sz="1300" b="0">
                          <a:solidFill>
                            <a:srgbClr val="212121"/>
                          </a:solidFill>
                          <a:latin typeface="Arial"/>
                        </a:rPr>
                        <a:t>Sparse</a:t>
                      </a:r>
                    </a:p>
                  </a:txBody>
                  <a:tcPr>
                    <a:solidFill>
                      <a:srgbClr val="FFFFFF"/>
                    </a:solidFill>
                  </a:tcPr>
                </a:tc>
                <a:tc>
                  <a:txBody>
                    <a:bodyPr wrap="square"/>
                    <a:lstStyle/>
                    <a:p>
                      <a:pPr algn="ctr"/>
                      <a:r>
                        <a:rPr sz="1300" b="0">
                          <a:solidFill>
                            <a:srgbClr val="212121"/>
                          </a:solidFill>
                          <a:latin typeface="Arial"/>
                        </a:rPr>
                        <a:t>rank_bm25 + pyvi</a:t>
                      </a:r>
                    </a:p>
                  </a:txBody>
                  <a:tcPr>
                    <a:solidFill>
                      <a:srgbClr val="FFFFFF"/>
                    </a:solidFill>
                  </a:tcPr>
                </a:tc>
                <a:tc>
                  <a:txBody>
                    <a:bodyPr wrap="square"/>
                    <a:lstStyle/>
                    <a:p>
                      <a:pPr algn="ctr"/>
                      <a:r>
                        <a:rPr sz="1300" b="0">
                          <a:solidFill>
                            <a:srgbClr val="212121"/>
                          </a:solidFill>
                          <a:latin typeface="Arial"/>
                        </a:rPr>
                        <a:t>Tách từ ghép tiếng Việt</a:t>
                      </a:r>
                    </a:p>
                  </a:txBody>
                  <a:tcPr>
                    <a:solidFill>
                      <a:srgbClr val="FFFFFF"/>
                    </a:solidFill>
                  </a:tcPr>
                </a:tc>
              </a:tr>
              <a:tr h="384048">
                <a:tc>
                  <a:txBody>
                    <a:bodyPr wrap="square"/>
                    <a:lstStyle/>
                    <a:p>
                      <a:pPr algn="l"/>
                      <a:r>
                        <a:rPr sz="1300" b="0">
                          <a:solidFill>
                            <a:srgbClr val="212121"/>
                          </a:solidFill>
                          <a:latin typeface="Arial"/>
                        </a:rPr>
                        <a:t>Backend</a:t>
                      </a:r>
                    </a:p>
                  </a:txBody>
                  <a:tcPr>
                    <a:solidFill>
                      <a:srgbClr val="EEEEEE"/>
                    </a:solidFill>
                  </a:tcPr>
                </a:tc>
                <a:tc>
                  <a:txBody>
                    <a:bodyPr wrap="square"/>
                    <a:lstStyle/>
                    <a:p>
                      <a:pPr algn="ctr"/>
                      <a:r>
                        <a:rPr sz="1300" b="0">
                          <a:solidFill>
                            <a:srgbClr val="212121"/>
                          </a:solidFill>
                          <a:latin typeface="Arial"/>
                        </a:rPr>
                        <a:t>FastAPI + uvicorn</a:t>
                      </a:r>
                    </a:p>
                  </a:txBody>
                  <a:tcPr>
                    <a:solidFill>
                      <a:srgbClr val="EEEEEE"/>
                    </a:solidFill>
                  </a:tcPr>
                </a:tc>
                <a:tc>
                  <a:txBody>
                    <a:bodyPr wrap="square"/>
                    <a:lstStyle/>
                    <a:p>
                      <a:pPr algn="ctr"/>
                      <a:r>
                        <a:rPr sz="1300" b="0">
                          <a:solidFill>
                            <a:srgbClr val="212121"/>
                          </a:solidFill>
                          <a:latin typeface="Arial"/>
                        </a:rPr>
                        <a:t>Async · SSE streaming</a:t>
                      </a:r>
                    </a:p>
                  </a:txBody>
                  <a:tcPr>
                    <a:solidFill>
                      <a:srgbClr val="EEEEEE"/>
                    </a:solidFill>
                  </a:tcPr>
                </a:tc>
              </a:tr>
              <a:tr h="384048">
                <a:tc>
                  <a:txBody>
                    <a:bodyPr wrap="square"/>
                    <a:lstStyle/>
                    <a:p>
                      <a:pPr algn="l"/>
                      <a:r>
                        <a:rPr sz="1300" b="0">
                          <a:solidFill>
                            <a:srgbClr val="212121"/>
                          </a:solidFill>
                          <a:latin typeface="Arial"/>
                        </a:rPr>
                        <a:t>Frontend</a:t>
                      </a:r>
                    </a:p>
                  </a:txBody>
                  <a:tcPr>
                    <a:solidFill>
                      <a:srgbClr val="FFFFFF"/>
                    </a:solidFill>
                  </a:tcPr>
                </a:tc>
                <a:tc>
                  <a:txBody>
                    <a:bodyPr wrap="square"/>
                    <a:lstStyle/>
                    <a:p>
                      <a:pPr algn="ctr"/>
                      <a:r>
                        <a:rPr sz="1300" b="0">
                          <a:solidFill>
                            <a:srgbClr val="212121"/>
                          </a:solidFill>
                          <a:latin typeface="Arial"/>
                        </a:rPr>
                        <a:t>Next.js 14 + Tailwind</a:t>
                      </a:r>
                    </a:p>
                  </a:txBody>
                  <a:tcPr>
                    <a:solidFill>
                      <a:srgbClr val="FFFFFF"/>
                    </a:solidFill>
                  </a:tcPr>
                </a:tc>
                <a:tc>
                  <a:txBody>
                    <a:bodyPr wrap="square"/>
                    <a:lstStyle/>
                    <a:p>
                      <a:pPr algn="ctr"/>
                      <a:r>
                        <a:rPr sz="1300" b="0">
                          <a:solidFill>
                            <a:srgbClr val="212121"/>
                          </a:solidFill>
                          <a:latin typeface="Arial"/>
                        </a:rPr>
                        <a:t>Auth gate · citation panel</a:t>
                      </a:r>
                    </a:p>
                  </a:txBody>
                  <a:tcPr>
                    <a:solidFill>
                      <a:srgbClr val="FFFFFF"/>
                    </a:solidFill>
                  </a:tcPr>
                </a:tc>
              </a:tr>
              <a:tr h="384048">
                <a:tc>
                  <a:txBody>
                    <a:bodyPr wrap="square"/>
                    <a:lstStyle/>
                    <a:p>
                      <a:pPr algn="l"/>
                      <a:r>
                        <a:rPr sz="1300" b="0">
                          <a:solidFill>
                            <a:srgbClr val="212121"/>
                          </a:solidFill>
                          <a:latin typeface="Arial"/>
                        </a:rPr>
                        <a:t>Judge eval</a:t>
                      </a:r>
                    </a:p>
                  </a:txBody>
                  <a:tcPr>
                    <a:solidFill>
                      <a:srgbClr val="EEEEEE"/>
                    </a:solidFill>
                  </a:tcPr>
                </a:tc>
                <a:tc>
                  <a:txBody>
                    <a:bodyPr wrap="square"/>
                    <a:lstStyle/>
                    <a:p>
                      <a:pPr algn="ctr"/>
                      <a:r>
                        <a:rPr sz="1300" b="0">
                          <a:solidFill>
                            <a:srgbClr val="212121"/>
                          </a:solidFill>
                          <a:latin typeface="Arial"/>
                        </a:rPr>
                        <a:t>OpenAI gpt-4o-mini</a:t>
                      </a:r>
                    </a:p>
                  </a:txBody>
                  <a:tcPr>
                    <a:solidFill>
                      <a:srgbClr val="EEEEEE"/>
                    </a:solidFill>
                  </a:tcPr>
                </a:tc>
                <a:tc>
                  <a:txBody>
                    <a:bodyPr wrap="square"/>
                    <a:lstStyle/>
                    <a:p>
                      <a:pPr algn="ctr"/>
                      <a:r>
                        <a:rPr sz="1300" b="0">
                          <a:solidFill>
                            <a:srgbClr val="212121"/>
                          </a:solidFill>
                          <a:latin typeface="Arial"/>
                        </a:rPr>
                        <a:t>RAGAS · judge độc lập</a:t>
                      </a:r>
                    </a:p>
                  </a:txBody>
                  <a:tcPr>
                    <a:solidFill>
                      <a:srgbClr val="EEEEEE"/>
                    </a:solidFill>
                  </a:tcPr>
                </a:tc>
              </a:tr>
              <a:tr h="384048">
                <a:tc>
                  <a:txBody>
                    <a:bodyPr wrap="square"/>
                    <a:lstStyle/>
                    <a:p>
                      <a:pPr algn="l"/>
                      <a:r>
                        <a:rPr sz="1300" b="0">
                          <a:solidFill>
                            <a:srgbClr val="212121"/>
                          </a:solidFill>
                          <a:latin typeface="Arial"/>
                        </a:rPr>
                        <a:t>Tra cứu web</a:t>
                      </a:r>
                    </a:p>
                  </a:txBody>
                  <a:tcPr>
                    <a:solidFill>
                      <a:srgbClr val="FFFFFF"/>
                    </a:solidFill>
                  </a:tcPr>
                </a:tc>
                <a:tc>
                  <a:txBody>
                    <a:bodyPr wrap="square"/>
                    <a:lstStyle/>
                    <a:p>
                      <a:pPr algn="ctr"/>
                      <a:r>
                        <a:rPr sz="1300" b="0">
                          <a:solidFill>
                            <a:srgbClr val="212121"/>
                          </a:solidFill>
                          <a:latin typeface="Arial"/>
                        </a:rPr>
                        <a:t>Tavily</a:t>
                      </a:r>
                    </a:p>
                  </a:txBody>
                  <a:tcPr>
                    <a:solidFill>
                      <a:srgbClr val="FFFFFF"/>
                    </a:solidFill>
                  </a:tcPr>
                </a:tc>
                <a:tc>
                  <a:txBody>
                    <a:bodyPr wrap="square"/>
                    <a:lstStyle/>
                    <a:p>
                      <a:pPr algn="ctr"/>
                      <a:r>
                        <a:rPr sz="1300" b="0">
                          <a:solidFill>
                            <a:srgbClr val="212121"/>
                          </a:solidFill>
                          <a:latin typeface="Arial"/>
                        </a:rPr>
                        <a:t>HITL · free tier</a:t>
                      </a:r>
                    </a:p>
                  </a:txBody>
                  <a:tcPr>
                    <a:solidFill>
                      <a:srgbClr val="FFFFFF"/>
                    </a:solidFill>
                  </a:tcPr>
                </a:tc>
              </a:tr>
              <a:tr h="384048">
                <a:tc>
                  <a:txBody>
                    <a:bodyPr wrap="square"/>
                    <a:lstStyle/>
                    <a:p>
                      <a:pPr algn="l"/>
                      <a:r>
                        <a:rPr sz="1300" b="0">
                          <a:solidFill>
                            <a:srgbClr val="212121"/>
                          </a:solidFill>
                          <a:latin typeface="Arial"/>
                        </a:rPr>
                        <a:t>Quan sát</a:t>
                      </a:r>
                    </a:p>
                  </a:txBody>
                  <a:tcPr>
                    <a:solidFill>
                      <a:srgbClr val="EEEEEE"/>
                    </a:solidFill>
                  </a:tcPr>
                </a:tc>
                <a:tc>
                  <a:txBody>
                    <a:bodyPr wrap="square"/>
                    <a:lstStyle/>
                    <a:p>
                      <a:pPr algn="ctr"/>
                      <a:r>
                        <a:rPr sz="1300" b="0">
                          <a:solidFill>
                            <a:srgbClr val="212121"/>
                          </a:solidFill>
                          <a:latin typeface="Arial"/>
                        </a:rPr>
                        <a:t>LangSmith</a:t>
                      </a:r>
                    </a:p>
                  </a:txBody>
                  <a:tcPr>
                    <a:solidFill>
                      <a:srgbClr val="EEEEEE"/>
                    </a:solidFill>
                  </a:tcPr>
                </a:tc>
                <a:tc>
                  <a:txBody>
                    <a:bodyPr wrap="square"/>
                    <a:lstStyle/>
                    <a:p>
                      <a:pPr algn="ctr"/>
                      <a:r>
                        <a:rPr sz="1300" b="0">
                          <a:solidFill>
                            <a:srgbClr val="212121"/>
                          </a:solidFill>
                          <a:latin typeface="Arial"/>
                        </a:rPr>
                        <a:t>Phân tích chi phí node-level</a:t>
                      </a:r>
                    </a:p>
                  </a:txBody>
                  <a:tcPr>
                    <a:solidFill>
                      <a:srgbClr val="EEEEEE"/>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9</a:t>
            </a:r>
          </a:p>
        </p:txBody>
      </p:sp>
      <p:sp>
        <p:nvSpPr>
          <p:cNvPr id="6" name="Rounded Rectangle 5"/>
          <p:cNvSpPr/>
          <p:nvPr/>
        </p:nvSpPr>
        <p:spPr>
          <a:xfrm>
            <a:off x="365760" y="256032"/>
            <a:ext cx="2926080" cy="292608"/>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2 · Ngoại tuyến</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Bước 1 — Chuẩn hoá văn bản pháp luật (PDF → Markdown)</a:t>
            </a:r>
          </a:p>
        </p:txBody>
      </p:sp>
      <p:sp>
        <p:nvSpPr>
          <p:cNvPr id="8" name="Rounded Rectangle 7"/>
          <p:cNvSpPr/>
          <p:nvPr/>
        </p:nvSpPr>
        <p:spPr>
          <a:xfrm>
            <a:off x="457200" y="1600200"/>
            <a:ext cx="5486400" cy="420624"/>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3 script làm sạch chuyên biệt (pdfplumber)</a:t>
            </a:r>
          </a:p>
        </p:txBody>
      </p:sp>
      <p:sp>
        <p:nvSpPr>
          <p:cNvPr id="9" name="TextBox 8"/>
          <p:cNvSpPr txBox="1"/>
          <p:nvPr/>
        </p:nvSpPr>
        <p:spPr>
          <a:xfrm>
            <a:off x="548640" y="2103120"/>
            <a:ext cx="5394960" cy="2743200"/>
          </a:xfrm>
          <a:prstGeom prst="rect">
            <a:avLst/>
          </a:prstGeom>
          <a:noFill/>
        </p:spPr>
        <p:txBody>
          <a:bodyPr wrap="square" anchor="t">
            <a:spAutoFit/>
          </a:bodyPr>
          <a:lstStyle/>
          <a:p>
            <a:pPr>
              <a:spcAft>
                <a:spcPts val="800"/>
              </a:spcAft>
            </a:pPr>
            <a:r>
              <a:rPr sz="1500" b="1">
                <a:solidFill>
                  <a:srgbClr val="212121"/>
                </a:solidFill>
                <a:latin typeface="Arial"/>
              </a:rPr>
              <a:t>▸  clean_luat — Luật: phần/chương/điều, header mỗi trang</a:t>
            </a:r>
          </a:p>
          <a:p>
            <a:pPr>
              <a:spcAft>
                <a:spcPts val="800"/>
              </a:spcAft>
            </a:pPr>
            <a:r>
              <a:rPr sz="1500" b="1">
                <a:solidFill>
                  <a:srgbClr val="212121"/>
                </a:solidFill>
                <a:latin typeface="Arial"/>
              </a:rPr>
              <a:t>▸  clean_nghidinh — NĐ: bảng mức phạt → Markdown</a:t>
            </a:r>
          </a:p>
          <a:p>
            <a:pPr>
              <a:spcAft>
                <a:spcPts val="800"/>
              </a:spcAft>
            </a:pPr>
            <a:r>
              <a:rPr sz="1500" b="1">
                <a:solidFill>
                  <a:srgbClr val="212121"/>
                </a:solidFill>
                <a:latin typeface="Arial"/>
              </a:rPr>
              <a:t>▸  clean_thongtu — TT: phụ lục, tiêu đề lồng nhau</a:t>
            </a:r>
          </a:p>
          <a:p>
            <a:pPr lvl="1">
              <a:spcAft>
                <a:spcPts val="800"/>
              </a:spcAft>
            </a:pPr>
            <a:r>
              <a:rPr sz="1300" b="0">
                <a:solidFill>
                  <a:srgbClr val="333333"/>
                </a:solidFill>
                <a:latin typeface="Arial"/>
              </a:rPr>
              <a:t>–  Lọc header/footer, nối câu bị ngắt trang, bảo toàn bảng</a:t>
            </a:r>
          </a:p>
        </p:txBody>
      </p:sp>
      <p:sp>
        <p:nvSpPr>
          <p:cNvPr id="10" name="Rounded Rectangle 9"/>
          <p:cNvSpPr/>
          <p:nvPr/>
        </p:nvSpPr>
        <p:spPr>
          <a:xfrm>
            <a:off x="6245352" y="1600200"/>
            <a:ext cx="5486400" cy="420624"/>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Lọc văn bản hết hiệu lực (trường status)</a:t>
            </a:r>
          </a:p>
        </p:txBody>
      </p:sp>
      <p:sp>
        <p:nvSpPr>
          <p:cNvPr id="11" name="TextBox 10"/>
          <p:cNvSpPr txBox="1"/>
          <p:nvPr/>
        </p:nvSpPr>
        <p:spPr>
          <a:xfrm>
            <a:off x="6336792" y="2103120"/>
            <a:ext cx="5394960" cy="2743200"/>
          </a:xfrm>
          <a:prstGeom prst="rect">
            <a:avLst/>
          </a:prstGeom>
          <a:noFill/>
        </p:spPr>
        <p:txBody>
          <a:bodyPr wrap="square" anchor="t">
            <a:spAutoFit/>
          </a:bodyPr>
          <a:lstStyle/>
          <a:p>
            <a:pPr>
              <a:spcAft>
                <a:spcPts val="1000"/>
              </a:spcAft>
            </a:pPr>
            <a:r>
              <a:rPr sz="1500" b="1">
                <a:solidFill>
                  <a:srgbClr val="212121"/>
                </a:solidFill>
                <a:latin typeface="Arial"/>
              </a:rPr>
              <a:t>▸  active → đưa vào index</a:t>
            </a:r>
          </a:p>
          <a:p>
            <a:pPr>
              <a:spcAft>
                <a:spcPts val="1000"/>
              </a:spcAft>
            </a:pPr>
            <a:r>
              <a:rPr sz="1500" b="1">
                <a:solidFill>
                  <a:srgbClr val="212121"/>
                </a:solidFill>
                <a:latin typeface="Arial"/>
              </a:rPr>
              <a:t>▸  repealed → bỏ qua (vd Luật GTĐB 2008)</a:t>
            </a:r>
          </a:p>
          <a:p>
            <a:pPr>
              <a:spcAft>
                <a:spcPts val="1000"/>
              </a:spcAft>
            </a:pPr>
            <a:r>
              <a:rPr sz="1500" b="1">
                <a:solidFill>
                  <a:srgbClr val="212121"/>
                </a:solidFill>
                <a:latin typeface="Arial"/>
              </a:rPr>
              <a:t>▸  partially_repealed → bỏ mảng đường bộ (vd NĐ 100/2019 bị NĐ 168 thay)</a:t>
            </a:r>
          </a:p>
        </p:txBody>
      </p:sp>
      <p:sp>
        <p:nvSpPr>
          <p:cNvPr id="12" name="Rounded Rectangle 11"/>
          <p:cNvSpPr/>
          <p:nvPr/>
        </p:nvSpPr>
        <p:spPr>
          <a:xfrm>
            <a:off x="457200" y="5074920"/>
            <a:ext cx="11247120" cy="868680"/>
          </a:xfrm>
          <a:prstGeom prst="round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0">
                <a:solidFill>
                  <a:srgbClr val="212121"/>
                </a:solidFill>
                <a:latin typeface="Arial"/>
              </a:rPr>
              <a:t>Vì sao quan trọng: văn bản pháp luật là PDF layout phức tạp (bảng phạt, ngắt dòng giữa câu).</a:t>
            </a:r>
          </a:p>
          <a:p>
            <a:pPr algn="ctr"/>
            <a:r>
              <a:rPr sz="1400" b="0">
                <a:solidFill>
                  <a:srgbClr val="212121"/>
                </a:solidFill>
                <a:latin typeface="Arial"/>
              </a:rPr>
              <a:t>Làm sạch sai → chunking &amp; trích dẫn sai theo. Lọc status đảm bảo không trả về điều luật đã bị bãi bỏ.</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10</a:t>
            </a:r>
          </a:p>
        </p:txBody>
      </p:sp>
      <p:sp>
        <p:nvSpPr>
          <p:cNvPr id="6" name="Rounded Rectangle 5"/>
          <p:cNvSpPr/>
          <p:nvPr/>
        </p:nvSpPr>
        <p:spPr>
          <a:xfrm>
            <a:off x="365760" y="256032"/>
            <a:ext cx="2926080" cy="292608"/>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2 · Ngoại tuyến</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Bước 2 — Chunking phân cấp v6 (đóng góp cốt lõi)</a:t>
            </a:r>
          </a:p>
        </p:txBody>
      </p:sp>
      <p:sp>
        <p:nvSpPr>
          <p:cNvPr id="8" name="Rounded Rectangle 7"/>
          <p:cNvSpPr/>
          <p:nvPr/>
        </p:nvSpPr>
        <p:spPr>
          <a:xfrm>
            <a:off x="457200" y="1645920"/>
            <a:ext cx="2743200" cy="64008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L1 · ĐIỀU</a:t>
            </a:r>
          </a:p>
          <a:p>
            <a:pPr algn="ctr"/>
            <a:r>
              <a:rPr sz="1200" b="1">
                <a:solidFill>
                  <a:srgbClr val="FFFFFF"/>
                </a:solidFill>
                <a:latin typeface="Arial"/>
              </a:rPr>
              <a:t>≤ 1.000 token → 1 chunk</a:t>
            </a:r>
          </a:p>
        </p:txBody>
      </p:sp>
      <p:sp>
        <p:nvSpPr>
          <p:cNvPr id="9" name="Rounded Rectangle 8"/>
          <p:cNvSpPr/>
          <p:nvPr/>
        </p:nvSpPr>
        <p:spPr>
          <a:xfrm>
            <a:off x="457200" y="2423160"/>
            <a:ext cx="2743200" cy="64008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L2 · KHOẢN</a:t>
            </a:r>
          </a:p>
          <a:p>
            <a:pPr algn="ctr"/>
            <a:r>
              <a:rPr sz="1200" b="1">
                <a:solidFill>
                  <a:srgbClr val="FFFFFF"/>
                </a:solidFill>
                <a:latin typeface="Arial"/>
              </a:rPr>
              <a:t>≤ 500 token → 1 chunk</a:t>
            </a:r>
          </a:p>
        </p:txBody>
      </p:sp>
      <p:sp>
        <p:nvSpPr>
          <p:cNvPr id="10" name="Rounded Rectangle 9"/>
          <p:cNvSpPr/>
          <p:nvPr/>
        </p:nvSpPr>
        <p:spPr>
          <a:xfrm>
            <a:off x="457200" y="3200400"/>
            <a:ext cx="2743200" cy="640080"/>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L3 · ĐIỂM</a:t>
            </a:r>
          </a:p>
          <a:p>
            <a:pPr algn="ctr"/>
            <a:r>
              <a:rPr sz="1200" b="1">
                <a:solidFill>
                  <a:srgbClr val="FFFFFF"/>
                </a:solidFill>
                <a:latin typeface="Arial"/>
              </a:rPr>
              <a:t>chunk độc lập + làm giàu</a:t>
            </a:r>
          </a:p>
        </p:txBody>
      </p:sp>
      <p:cxnSp>
        <p:nvCxnSpPr>
          <p:cNvPr id="11" name="Connector 10"/>
          <p:cNvCxnSpPr/>
          <p:nvPr/>
        </p:nvCxnSpPr>
        <p:spPr>
          <a:xfrm>
            <a:off x="1828800" y="2286000"/>
            <a:ext cx="0" cy="137160"/>
          </a:xfrm>
          <a:prstGeom prst="line">
            <a:avLst/>
          </a:prstGeom>
          <a:ln w="1778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828800" y="3063240"/>
            <a:ext cx="0" cy="137160"/>
          </a:xfrm>
          <a:prstGeom prst="line">
            <a:avLst/>
          </a:prstGeom>
          <a:ln w="1778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7200" y="4114800"/>
            <a:ext cx="2743200" cy="1554480"/>
          </a:xfrm>
          <a:prstGeom prst="round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212121"/>
                </a:solidFill>
                <a:latin typeface="Arial"/>
              </a:rPr>
              <a:t>Phân bố 4.423 chunk</a:t>
            </a:r>
          </a:p>
          <a:p>
            <a:pPr algn="ctr"/>
            <a:r>
              <a:rPr sz="1300" b="1">
                <a:solidFill>
                  <a:srgbClr val="212121"/>
                </a:solidFill>
                <a:latin typeface="Arial"/>
              </a:rPr>
              <a:t/>
            </a:r>
          </a:p>
          <a:p>
            <a:pPr algn="ctr"/>
            <a:r>
              <a:rPr sz="1300" b="1">
                <a:solidFill>
                  <a:srgbClr val="212121"/>
                </a:solidFill>
                <a:latin typeface="Arial"/>
              </a:rPr>
              <a:t>L1 Điều: 486 (11%)</a:t>
            </a:r>
          </a:p>
          <a:p>
            <a:pPr algn="ctr"/>
            <a:r>
              <a:rPr sz="1300" b="1">
                <a:solidFill>
                  <a:srgbClr val="212121"/>
                </a:solidFill>
                <a:latin typeface="Arial"/>
              </a:rPr>
              <a:t>L2 Khoản: 1.282 (29%)</a:t>
            </a:r>
          </a:p>
          <a:p>
            <a:pPr algn="ctr"/>
            <a:r>
              <a:rPr sz="1300" b="1">
                <a:solidFill>
                  <a:srgbClr val="212121"/>
                </a:solidFill>
                <a:latin typeface="Arial"/>
              </a:rPr>
              <a:t>L3 Điểm: 2.655 (60%)</a:t>
            </a:r>
          </a:p>
        </p:txBody>
      </p:sp>
      <p:sp>
        <p:nvSpPr>
          <p:cNvPr id="14" name="Rounded Rectangle 13"/>
          <p:cNvSpPr/>
          <p:nvPr/>
        </p:nvSpPr>
        <p:spPr>
          <a:xfrm>
            <a:off x="3474720" y="1645920"/>
            <a:ext cx="8229600" cy="420624"/>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5 cải tiến của v6 — giải bài toán Điểm thiếu chunk</a:t>
            </a:r>
          </a:p>
        </p:txBody>
      </p:sp>
      <p:sp>
        <p:nvSpPr>
          <p:cNvPr id="15" name="TextBox 14"/>
          <p:cNvSpPr txBox="1"/>
          <p:nvPr/>
        </p:nvSpPr>
        <p:spPr>
          <a:xfrm>
            <a:off x="3566160" y="2148840"/>
            <a:ext cx="8138160" cy="2377440"/>
          </a:xfrm>
          <a:prstGeom prst="rect">
            <a:avLst/>
          </a:prstGeom>
          <a:noFill/>
        </p:spPr>
        <p:txBody>
          <a:bodyPr wrap="square" anchor="t">
            <a:spAutoFit/>
          </a:bodyPr>
          <a:lstStyle/>
          <a:p>
            <a:pPr>
              <a:spcAft>
                <a:spcPts val="700"/>
              </a:spcAft>
            </a:pPr>
            <a:r>
              <a:rPr sz="1500" b="1">
                <a:solidFill>
                  <a:srgbClr val="212121"/>
                </a:solidFill>
                <a:latin typeface="Arial"/>
              </a:rPr>
              <a:t>▸  Giữ Điểm ngắn (≥5 token), không lọc bỏ</a:t>
            </a:r>
          </a:p>
          <a:p>
            <a:pPr>
              <a:spcAft>
                <a:spcPts val="700"/>
              </a:spcAft>
            </a:pPr>
            <a:r>
              <a:rPr sz="1500" b="1">
                <a:solidFill>
                  <a:srgbClr val="212121"/>
                </a:solidFill>
                <a:latin typeface="Arial"/>
              </a:rPr>
              <a:t>▸  Ngưỡng strict 80 token cho nghị định</a:t>
            </a:r>
          </a:p>
          <a:p>
            <a:pPr>
              <a:spcAft>
                <a:spcPts val="700"/>
              </a:spcAft>
            </a:pPr>
            <a:r>
              <a:rPr sz="1500" b="1">
                <a:solidFill>
                  <a:srgbClr val="212121"/>
                </a:solidFill>
                <a:latin typeface="Arial"/>
              </a:rPr>
              <a:t>▸  NĐ có ≥2 Điểm → luôn tách L3</a:t>
            </a:r>
          </a:p>
          <a:p>
            <a:pPr>
              <a:spcAft>
                <a:spcPts val="700"/>
              </a:spcAft>
            </a:pPr>
            <a:r>
              <a:rPr sz="1500" b="1">
                <a:solidFill>
                  <a:srgbClr val="212121"/>
                </a:solidFill>
                <a:latin typeface="Arial"/>
              </a:rPr>
              <a:t>▸  Regex bắt cả 'đ)' và Điểm sau dấu chấm phẩy</a:t>
            </a:r>
          </a:p>
          <a:p>
            <a:pPr>
              <a:spcAft>
                <a:spcPts val="700"/>
              </a:spcAft>
            </a:pPr>
            <a:r>
              <a:rPr sz="1500" b="1">
                <a:solidFill>
                  <a:srgbClr val="212121"/>
                </a:solidFill>
                <a:latin typeface="Arial"/>
              </a:rPr>
              <a:t>▸  Làm giàu: chunk Điểm tự chứa phần mở đầu Khoản ('Phạt tiền X–Y đồng đối với…')</a:t>
            </a:r>
          </a:p>
        </p:txBody>
      </p:sp>
      <p:sp>
        <p:nvSpPr>
          <p:cNvPr id="16" name="Rounded Rectangle 15"/>
          <p:cNvSpPr/>
          <p:nvPr/>
        </p:nvSpPr>
        <p:spPr>
          <a:xfrm>
            <a:off x="3474720" y="4709160"/>
            <a:ext cx="8229600" cy="960120"/>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Kết quả: tỉ lệ Điểm pháp lý của NĐ 168 KHÔNG có chunk độc lập giảm 77,5% → 11,7%.</a:t>
            </a:r>
          </a:p>
          <a:p>
            <a:pPr algn="ctr"/>
            <a:r>
              <a:rPr sz="1400" b="1">
                <a:solidFill>
                  <a:srgbClr val="FFFFFF"/>
                </a:solidFill>
                <a:latin typeface="Arial"/>
              </a:rPr>
              <a:t>Biên chunk TRÙNG biên trích dẫn pháp lý → lấy đúng chunk là tự có đúng Khoản để trích dẫn.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11</a:t>
            </a:r>
          </a:p>
        </p:txBody>
      </p:sp>
      <p:sp>
        <p:nvSpPr>
          <p:cNvPr id="6" name="Rounded Rectangle 5"/>
          <p:cNvSpPr/>
          <p:nvPr/>
        </p:nvSpPr>
        <p:spPr>
          <a:xfrm>
            <a:off x="365760" y="256032"/>
            <a:ext cx="2926080" cy="292608"/>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2 · Ngoại tuyến</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Bước 3 — Nhúng vector &amp; đánh chỉ mục vào Qdrant</a:t>
            </a:r>
          </a:p>
        </p:txBody>
      </p:sp>
      <p:sp>
        <p:nvSpPr>
          <p:cNvPr id="8" name="TextBox 7"/>
          <p:cNvSpPr txBox="1"/>
          <p:nvPr/>
        </p:nvSpPr>
        <p:spPr>
          <a:xfrm>
            <a:off x="548640" y="1691640"/>
            <a:ext cx="11155680" cy="4480560"/>
          </a:xfrm>
          <a:prstGeom prst="rect">
            <a:avLst/>
          </a:prstGeom>
          <a:noFill/>
        </p:spPr>
        <p:txBody>
          <a:bodyPr wrap="square" anchor="t">
            <a:spAutoFit/>
          </a:bodyPr>
          <a:lstStyle/>
          <a:p>
            <a:pPr>
              <a:spcAft>
                <a:spcPts val="1000"/>
              </a:spcAft>
            </a:pPr>
            <a:r>
              <a:rPr sz="1700" b="1">
                <a:solidFill>
                  <a:srgbClr val="212121"/>
                </a:solidFill>
                <a:latin typeface="Arial"/>
              </a:rPr>
              <a:t>▸  E5-base mã hoá 4.423 chunk, batch 64</a:t>
            </a:r>
          </a:p>
          <a:p>
            <a:pPr lvl="1">
              <a:spcAft>
                <a:spcPts val="1000"/>
              </a:spcAft>
            </a:pPr>
            <a:r>
              <a:rPr sz="1500" b="0">
                <a:solidFill>
                  <a:srgbClr val="333333"/>
                </a:solidFill>
                <a:latin typeface="Arial"/>
              </a:rPr>
              <a:t>–  Bắt buộc prefix 'passage: ' khi nhúng đoạn, 'query: ' khi nhúng truy vấn</a:t>
            </a:r>
          </a:p>
          <a:p>
            <a:pPr lvl="1">
              <a:spcAft>
                <a:spcPts val="1000"/>
              </a:spcAft>
            </a:pPr>
            <a:r>
              <a:rPr sz="1500" b="0">
                <a:solidFill>
                  <a:srgbClr val="333333"/>
                </a:solidFill>
                <a:latin typeface="Arial"/>
              </a:rPr>
              <a:t>–  Dùng sai prefix → giảm ~30% recall (vấn đề kỹ thuật #1)</a:t>
            </a:r>
          </a:p>
          <a:p>
            <a:pPr>
              <a:spcAft>
                <a:spcPts val="1000"/>
              </a:spcAft>
            </a:pPr>
            <a:r>
              <a:rPr sz="1700" b="1">
                <a:solidFill>
                  <a:srgbClr val="212121"/>
                </a:solidFill>
                <a:latin typeface="Arial"/>
              </a:rPr>
              <a:t>▸  Collection Traffic_Law_Hybrid: 768d, Cosine, HNSW m=16/ef=100</a:t>
            </a:r>
          </a:p>
          <a:p>
            <a:pPr>
              <a:spcAft>
                <a:spcPts val="1000"/>
              </a:spcAft>
            </a:pPr>
            <a:r>
              <a:rPr sz="1700" b="1">
                <a:solidFill>
                  <a:srgbClr val="212121"/>
                </a:solidFill>
                <a:latin typeface="Arial"/>
              </a:rPr>
              <a:t>▸  3 payload index KEYWORD: doc_id, status, topic → lọc nhanh tại query time</a:t>
            </a:r>
          </a:p>
          <a:p>
            <a:pPr>
              <a:spcAft>
                <a:spcPts val="1000"/>
              </a:spcAft>
            </a:pPr>
            <a:r>
              <a:rPr sz="1700" b="1">
                <a:solidFill>
                  <a:srgbClr val="212121"/>
                </a:solidFill>
                <a:latin typeface="Arial"/>
              </a:rPr>
              <a:t>▸  Mỗi chunk gắn metadata đầy đủ: chunk_id, doc_id, dieu, khoan, diem, level…</a:t>
            </a:r>
          </a:p>
          <a:p>
            <a:pPr>
              <a:spcAft>
                <a:spcPts val="1000"/>
              </a:spcAft>
            </a:pPr>
            <a:r>
              <a:rPr sz="1700" b="1">
                <a:solidFill>
                  <a:srgbClr val="212121"/>
                </a:solidFill>
                <a:latin typeface="Arial"/>
              </a:rPr>
              <a:t>▸  BM25 cache: tokenize pyvi rồi lưu JSONL → khởi động lại &lt; 0,5s (không rebuild)</a:t>
            </a:r>
          </a:p>
          <a:p>
            <a:pPr>
              <a:spcAft>
                <a:spcPts val="1000"/>
              </a:spcAft>
            </a:pPr>
            <a:r>
              <a:rPr sz="1700" b="1">
                <a:solidFill>
                  <a:srgbClr val="212121"/>
                </a:solidFill>
                <a:latin typeface="Arial"/>
              </a:rPr>
              <a:t>▸  Tổng dung lượng sau index: ~26 MB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12</a:t>
            </a:r>
          </a:p>
        </p:txBody>
      </p:sp>
      <p:sp>
        <p:nvSpPr>
          <p:cNvPr id="6" name="Rounded Rectangle 5"/>
          <p:cNvSpPr/>
          <p:nvPr/>
        </p:nvSpPr>
        <p:spPr>
          <a:xfrm>
            <a:off x="365760" y="256032"/>
            <a:ext cx="2779776" cy="292608"/>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2 · Trực tuyến</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Truy xuất lai — pipeline 5 bước</a:t>
            </a:r>
          </a:p>
        </p:txBody>
      </p:sp>
      <p:sp>
        <p:nvSpPr>
          <p:cNvPr id="8" name="Rounded Rectangle 7"/>
          <p:cNvSpPr/>
          <p:nvPr/>
        </p:nvSpPr>
        <p:spPr>
          <a:xfrm>
            <a:off x="548640" y="1691640"/>
            <a:ext cx="3840480" cy="713232"/>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1 · Mở rộng truy vấn</a:t>
            </a:r>
          </a:p>
        </p:txBody>
      </p:sp>
      <p:sp>
        <p:nvSpPr>
          <p:cNvPr id="9" name="TextBox 8"/>
          <p:cNvSpPr txBox="1"/>
          <p:nvPr/>
        </p:nvSpPr>
        <p:spPr>
          <a:xfrm>
            <a:off x="4617720" y="1746504"/>
            <a:ext cx="7132320" cy="640080"/>
          </a:xfrm>
          <a:prstGeom prst="rect">
            <a:avLst/>
          </a:prstGeom>
          <a:noFill/>
        </p:spPr>
        <p:txBody>
          <a:bodyPr wrap="square" anchor="t">
            <a:spAutoFit/>
          </a:bodyPr>
          <a:lstStyle/>
          <a:p>
            <a:pPr algn="r"/>
            <a:r>
              <a:rPr sz="1400" b="0">
                <a:solidFill>
                  <a:srgbClr val="212121"/>
                </a:solidFill>
                <a:latin typeface="Arial"/>
              </a:rPr>
              <a:t>analyzer sinh 1–5 biến thể; giải tham chiếu hội thoại</a:t>
            </a:r>
          </a:p>
        </p:txBody>
      </p:sp>
      <p:cxnSp>
        <p:nvCxnSpPr>
          <p:cNvPr id="10" name="Connector 9"/>
          <p:cNvCxnSpPr/>
          <p:nvPr/>
        </p:nvCxnSpPr>
        <p:spPr>
          <a:xfrm>
            <a:off x="2468880" y="2404872"/>
            <a:ext cx="0" cy="128016"/>
          </a:xfrm>
          <a:prstGeom prst="line">
            <a:avLst/>
          </a:prstGeom>
          <a:ln w="1778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2532888"/>
            <a:ext cx="3840480" cy="713232"/>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2 · Dày đặc + Thưa</a:t>
            </a:r>
          </a:p>
        </p:txBody>
      </p:sp>
      <p:sp>
        <p:nvSpPr>
          <p:cNvPr id="12" name="TextBox 11"/>
          <p:cNvSpPr txBox="1"/>
          <p:nvPr/>
        </p:nvSpPr>
        <p:spPr>
          <a:xfrm>
            <a:off x="4617720" y="2587752"/>
            <a:ext cx="7132320" cy="640080"/>
          </a:xfrm>
          <a:prstGeom prst="rect">
            <a:avLst/>
          </a:prstGeom>
          <a:noFill/>
        </p:spPr>
        <p:txBody>
          <a:bodyPr wrap="square" anchor="t">
            <a:spAutoFit/>
          </a:bodyPr>
          <a:lstStyle/>
          <a:p>
            <a:pPr algn="r"/>
            <a:r>
              <a:rPr sz="1400" b="0">
                <a:solidFill>
                  <a:srgbClr val="212121"/>
                </a:solidFill>
                <a:latin typeface="Arial"/>
              </a:rPr>
              <a:t>E5 (lọc status=active) + BM25 Okapi → mỗi nhánh top-2k</a:t>
            </a:r>
          </a:p>
        </p:txBody>
      </p:sp>
      <p:cxnSp>
        <p:nvCxnSpPr>
          <p:cNvPr id="13" name="Connector 12"/>
          <p:cNvCxnSpPr/>
          <p:nvPr/>
        </p:nvCxnSpPr>
        <p:spPr>
          <a:xfrm>
            <a:off x="2468880" y="3246120"/>
            <a:ext cx="0" cy="128016"/>
          </a:xfrm>
          <a:prstGeom prst="line">
            <a:avLst/>
          </a:prstGeom>
          <a:ln w="1778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374136"/>
            <a:ext cx="3840480" cy="713232"/>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3 · Hợp nhất RRF (k=60)</a:t>
            </a:r>
          </a:p>
        </p:txBody>
      </p:sp>
      <p:sp>
        <p:nvSpPr>
          <p:cNvPr id="15" name="TextBox 14"/>
          <p:cNvSpPr txBox="1"/>
          <p:nvPr/>
        </p:nvSpPr>
        <p:spPr>
          <a:xfrm>
            <a:off x="4617720" y="3429000"/>
            <a:ext cx="7132320" cy="640080"/>
          </a:xfrm>
          <a:prstGeom prst="rect">
            <a:avLst/>
          </a:prstGeom>
          <a:noFill/>
        </p:spPr>
        <p:txBody>
          <a:bodyPr wrap="square" anchor="t">
            <a:spAutoFit/>
          </a:bodyPr>
          <a:lstStyle/>
          <a:p>
            <a:pPr algn="r"/>
            <a:r>
              <a:rPr sz="1400" b="0">
                <a:solidFill>
                  <a:srgbClr val="212121"/>
                </a:solidFill>
                <a:latin typeface="Arial"/>
              </a:rPr>
              <a:t>gộp mọi danh sách → top-30 không trùng</a:t>
            </a:r>
          </a:p>
        </p:txBody>
      </p:sp>
      <p:cxnSp>
        <p:nvCxnSpPr>
          <p:cNvPr id="16" name="Connector 15"/>
          <p:cNvCxnSpPr/>
          <p:nvPr/>
        </p:nvCxnSpPr>
        <p:spPr>
          <a:xfrm>
            <a:off x="2468880" y="4087368"/>
            <a:ext cx="0" cy="128016"/>
          </a:xfrm>
          <a:prstGeom prst="line">
            <a:avLst/>
          </a:prstGeom>
          <a:ln w="1778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4215384"/>
            <a:ext cx="3840480" cy="713232"/>
          </a:xfrm>
          <a:prstGeom prst="round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4 · Làm giàu + giải tham chiếu chéo</a:t>
            </a:r>
          </a:p>
        </p:txBody>
      </p:sp>
      <p:sp>
        <p:nvSpPr>
          <p:cNvPr id="18" name="TextBox 17"/>
          <p:cNvSpPr txBox="1"/>
          <p:nvPr/>
        </p:nvSpPr>
        <p:spPr>
          <a:xfrm>
            <a:off x="4617720" y="4270248"/>
            <a:ext cx="7132320" cy="640080"/>
          </a:xfrm>
          <a:prstGeom prst="rect">
            <a:avLst/>
          </a:prstGeom>
          <a:noFill/>
        </p:spPr>
        <p:txBody>
          <a:bodyPr wrap="square" anchor="t">
            <a:spAutoFit/>
          </a:bodyPr>
          <a:lstStyle/>
          <a:p>
            <a:pPr algn="r"/>
            <a:r>
              <a:rPr sz="1400" b="0">
                <a:solidFill>
                  <a:srgbClr val="212121"/>
                </a:solidFill>
                <a:latin typeface="Arial"/>
              </a:rPr>
              <a:t>sibling ±2 khoản · regex 'Điều X Khoản Y' · diversity cap</a:t>
            </a:r>
          </a:p>
        </p:txBody>
      </p:sp>
      <p:cxnSp>
        <p:nvCxnSpPr>
          <p:cNvPr id="19" name="Connector 18"/>
          <p:cNvCxnSpPr/>
          <p:nvPr/>
        </p:nvCxnSpPr>
        <p:spPr>
          <a:xfrm>
            <a:off x="2468880" y="4928616"/>
            <a:ext cx="0" cy="128016"/>
          </a:xfrm>
          <a:prstGeom prst="line">
            <a:avLst/>
          </a:prstGeom>
          <a:ln w="1778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5056632"/>
            <a:ext cx="3840480" cy="713232"/>
          </a:xfrm>
          <a:prstGeom prst="round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5 · (tuỳ chọn) Xếp hạng lại</a:t>
            </a:r>
          </a:p>
        </p:txBody>
      </p:sp>
      <p:sp>
        <p:nvSpPr>
          <p:cNvPr id="21" name="TextBox 20"/>
          <p:cNvSpPr txBox="1"/>
          <p:nvPr/>
        </p:nvSpPr>
        <p:spPr>
          <a:xfrm>
            <a:off x="4617720" y="5111496"/>
            <a:ext cx="7132320" cy="640080"/>
          </a:xfrm>
          <a:prstGeom prst="rect">
            <a:avLst/>
          </a:prstGeom>
          <a:noFill/>
        </p:spPr>
        <p:txBody>
          <a:bodyPr wrap="square" anchor="t">
            <a:spAutoFit/>
          </a:bodyPr>
          <a:lstStyle/>
          <a:p>
            <a:pPr algn="r"/>
            <a:r>
              <a:rPr sz="1400" b="0">
                <a:solidFill>
                  <a:srgbClr val="212121"/>
                </a:solidFill>
                <a:latin typeface="Arial"/>
              </a:rPr>
              <a:t>cross-encoder bge-reranker → giữ top-10</a:t>
            </a:r>
          </a:p>
        </p:txBody>
      </p:sp>
      <p:sp>
        <p:nvSpPr>
          <p:cNvPr id="22" name="Rounded Rectangle 21"/>
          <p:cNvSpPr/>
          <p:nvPr/>
        </p:nvSpPr>
        <p:spPr>
          <a:xfrm>
            <a:off x="548640" y="5897880"/>
            <a:ext cx="11201400" cy="45720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Sibling &amp; cross-ref đặc trị NĐ 168: mức phạt tiền và mức trừ điểm ở hai khoản khác nhau, liên kết qua tham chiếu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13</a:t>
            </a:r>
          </a:p>
        </p:txBody>
      </p:sp>
      <p:sp>
        <p:nvSpPr>
          <p:cNvPr id="6" name="Rounded Rectangle 5"/>
          <p:cNvSpPr/>
          <p:nvPr/>
        </p:nvSpPr>
        <p:spPr>
          <a:xfrm>
            <a:off x="365760" y="256032"/>
            <a:ext cx="2779776" cy="292608"/>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2 · Trực tuyến</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Sinh văn bản — Lệnh hướng dẫn (14 quy tắc) &amp; lọc trích dẫn</a:t>
            </a:r>
          </a:p>
        </p:txBody>
      </p:sp>
      <p:sp>
        <p:nvSpPr>
          <p:cNvPr id="8" name="Rounded Rectangle 7"/>
          <p:cNvSpPr/>
          <p:nvPr/>
        </p:nvSpPr>
        <p:spPr>
          <a:xfrm>
            <a:off x="457200" y="1600200"/>
            <a:ext cx="5486400" cy="420624"/>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Lệnh hướng dẫn đầy đủ quy tắc (P2)</a:t>
            </a:r>
          </a:p>
        </p:txBody>
      </p:sp>
      <p:sp>
        <p:nvSpPr>
          <p:cNvPr id="9" name="TextBox 8"/>
          <p:cNvSpPr txBox="1"/>
          <p:nvPr/>
        </p:nvSpPr>
        <p:spPr>
          <a:xfrm>
            <a:off x="548640" y="2103120"/>
            <a:ext cx="5394960" cy="3931920"/>
          </a:xfrm>
          <a:prstGeom prst="rect">
            <a:avLst/>
          </a:prstGeom>
          <a:noFill/>
        </p:spPr>
        <p:txBody>
          <a:bodyPr wrap="square" anchor="t">
            <a:spAutoFit/>
          </a:bodyPr>
          <a:lstStyle/>
          <a:p>
            <a:pPr>
              <a:spcAft>
                <a:spcPts val="600"/>
              </a:spcAft>
            </a:pPr>
            <a:r>
              <a:rPr sz="1400" b="1">
                <a:solidFill>
                  <a:srgbClr val="212121"/>
                </a:solidFill>
                <a:latin typeface="Arial"/>
              </a:rPr>
              <a:t>▸  Chỉ dùng NGỮ CẢNH, không suy luận ngoài → chống ảo giác</a:t>
            </a:r>
          </a:p>
          <a:p>
            <a:pPr>
              <a:spcAft>
                <a:spcPts val="600"/>
              </a:spcAft>
            </a:pPr>
            <a:r>
              <a:rPr sz="1400" b="1">
                <a:solidFill>
                  <a:srgbClr val="212121"/>
                </a:solidFill>
                <a:latin typeface="Arial"/>
              </a:rPr>
              <a:t>▸  Mọi mức phạt/điểm phải kèm [doc_id, Điều, Khoản, Điểm]</a:t>
            </a:r>
          </a:p>
          <a:p>
            <a:pPr>
              <a:spcAft>
                <a:spcPts val="600"/>
              </a:spcAft>
            </a:pPr>
            <a:r>
              <a:rPr sz="1400" b="1">
                <a:solidFill>
                  <a:srgbClr val="212121"/>
                </a:solidFill>
                <a:latin typeface="Arial"/>
              </a:rPr>
              <a:t>▸  Không đủ thông tin → từ chối an toàn</a:t>
            </a:r>
          </a:p>
          <a:p>
            <a:pPr>
              <a:spcAft>
                <a:spcPts val="600"/>
              </a:spcAft>
            </a:pPr>
            <a:r>
              <a:rPr sz="1400" b="1">
                <a:solidFill>
                  <a:srgbClr val="212121"/>
                </a:solidFill>
                <a:latin typeface="Arial"/>
              </a:rPr>
              <a:t>▸  Phân biệt phương tiện: Đ6 ô tô · Đ7 mô tô · Đ8 chuyên dùng</a:t>
            </a:r>
          </a:p>
          <a:p>
            <a:pPr>
              <a:spcAft>
                <a:spcPts val="600"/>
              </a:spcAft>
            </a:pPr>
            <a:r>
              <a:rPr sz="1400" b="1">
                <a:solidFill>
                  <a:srgbClr val="212121"/>
                </a:solidFill>
                <a:latin typeface="Arial"/>
              </a:rPr>
              <a:t>▸  Cross-reference: ghép mức phạt tiền với mức trừ điểm</a:t>
            </a:r>
          </a:p>
          <a:p>
            <a:pPr>
              <a:spcAft>
                <a:spcPts val="600"/>
              </a:spcAft>
            </a:pPr>
            <a:r>
              <a:rPr sz="1400" b="1">
                <a:solidFill>
                  <a:srgbClr val="212121"/>
                </a:solidFill>
                <a:latin typeface="Arial"/>
              </a:rPr>
              <a:t>▸  Câu đa ý → tách bullet, in đậm số tiền/điểm</a:t>
            </a:r>
          </a:p>
        </p:txBody>
      </p:sp>
      <p:sp>
        <p:nvSpPr>
          <p:cNvPr id="10" name="Rounded Rectangle 9"/>
          <p:cNvSpPr/>
          <p:nvPr/>
        </p:nvSpPr>
        <p:spPr>
          <a:xfrm>
            <a:off x="6245352" y="1600200"/>
            <a:ext cx="5486400" cy="420624"/>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Đầu ra có cấu trúc + Citation Sanitation</a:t>
            </a:r>
          </a:p>
        </p:txBody>
      </p:sp>
      <p:sp>
        <p:nvSpPr>
          <p:cNvPr id="11" name="TextBox 10"/>
          <p:cNvSpPr txBox="1"/>
          <p:nvPr/>
        </p:nvSpPr>
        <p:spPr>
          <a:xfrm>
            <a:off x="6336792" y="2103120"/>
            <a:ext cx="5394960" cy="3931920"/>
          </a:xfrm>
          <a:prstGeom prst="rect">
            <a:avLst/>
          </a:prstGeom>
          <a:noFill/>
        </p:spPr>
        <p:txBody>
          <a:bodyPr wrap="square" anchor="t">
            <a:spAutoFit/>
          </a:bodyPr>
          <a:lstStyle/>
          <a:p>
            <a:pPr>
              <a:spcAft>
                <a:spcPts val="800"/>
              </a:spcAft>
            </a:pPr>
            <a:r>
              <a:rPr sz="1400" b="1">
                <a:solidFill>
                  <a:srgbClr val="212121"/>
                </a:solidFill>
                <a:latin typeface="Arial"/>
              </a:rPr>
              <a:t>▸  Pydantic GeneratedAnswer: answer + sources[]</a:t>
            </a:r>
          </a:p>
          <a:p>
            <a:pPr lvl="1">
              <a:spcAft>
                <a:spcPts val="800"/>
              </a:spcAft>
            </a:pPr>
            <a:r>
              <a:rPr sz="1200" b="0">
                <a:solidFill>
                  <a:srgbClr val="333333"/>
                </a:solidFill>
                <a:latin typeface="Arial"/>
              </a:rPr>
              <a:t>–  Gemini trả JSON đã validate, không parse chuỗi</a:t>
            </a:r>
          </a:p>
          <a:p>
            <a:pPr>
              <a:spcAft>
                <a:spcPts val="800"/>
              </a:spcAft>
            </a:pPr>
            <a:r>
              <a:rPr sz="1400" b="1">
                <a:solidFill>
                  <a:srgbClr val="212121"/>
                </a:solidFill>
                <a:latin typeface="Arial"/>
              </a:rPr>
              <a:t>▸  Lọc trích dẫn (hậu xử lý): so từng citation với metadata 10 chunk thực sự trong prompt</a:t>
            </a:r>
          </a:p>
          <a:p>
            <a:pPr lvl="1">
              <a:spcAft>
                <a:spcPts val="800"/>
              </a:spcAft>
            </a:pPr>
            <a:r>
              <a:rPr sz="1200" b="0">
                <a:solidFill>
                  <a:srgbClr val="333333"/>
                </a:solidFill>
                <a:latin typeface="Arial"/>
              </a:rPr>
              <a:t>–  Citation không khớp (vd Điều 99 bịa) → loại bỏ trước khi tới người dùng</a:t>
            </a:r>
          </a:p>
          <a:p>
            <a:pPr>
              <a:spcAft>
                <a:spcPts val="800"/>
              </a:spcAft>
            </a:pPr>
            <a:r>
              <a:rPr sz="1400" b="1">
                <a:solidFill>
                  <a:srgbClr val="212121"/>
                </a:solidFill>
                <a:latin typeface="Arial"/>
              </a:rPr>
              <a:t>▸  → Lớp phòng thủ cuối chống ảo giác trích dẫn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14</a:t>
            </a:r>
          </a:p>
        </p:txBody>
      </p:sp>
      <p:sp>
        <p:nvSpPr>
          <p:cNvPr id="6" name="Rounded Rectangle 5"/>
          <p:cNvSpPr/>
          <p:nvPr/>
        </p:nvSpPr>
        <p:spPr>
          <a:xfrm>
            <a:off x="365760" y="256032"/>
            <a:ext cx="2048256" cy="292608"/>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2 · Agent</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Agent LangGraph — 6 nút, định tuyến &amp; HITL</a:t>
            </a:r>
          </a:p>
        </p:txBody>
      </p:sp>
      <p:sp>
        <p:nvSpPr>
          <p:cNvPr id="8" name="Rounded Rectangle 7"/>
          <p:cNvSpPr/>
          <p:nvPr/>
        </p:nvSpPr>
        <p:spPr>
          <a:xfrm>
            <a:off x="457200" y="1691640"/>
            <a:ext cx="1554480" cy="640080"/>
          </a:xfrm>
          <a:prstGeom prst="roundRect">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BẮT ĐẦU</a:t>
            </a:r>
          </a:p>
        </p:txBody>
      </p:sp>
      <p:sp>
        <p:nvSpPr>
          <p:cNvPr id="9" name="Rounded Rectangle 8"/>
          <p:cNvSpPr/>
          <p:nvPr/>
        </p:nvSpPr>
        <p:spPr>
          <a:xfrm>
            <a:off x="2286000" y="1691640"/>
            <a:ext cx="2103120" cy="640080"/>
          </a:xfrm>
          <a:prstGeom prst="round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analyzer</a:t>
            </a:r>
          </a:p>
          <a:p>
            <a:pPr algn="ctr"/>
            <a:r>
              <a:rPr sz="1200" b="1">
                <a:solidFill>
                  <a:srgbClr val="FFFFFF"/>
                </a:solidFill>
                <a:latin typeface="Arial"/>
              </a:rPr>
              <a:t>ý định·loại xe·QV</a:t>
            </a:r>
          </a:p>
        </p:txBody>
      </p:sp>
      <p:sp>
        <p:nvSpPr>
          <p:cNvPr id="10" name="Rounded Rectangle 9"/>
          <p:cNvSpPr/>
          <p:nvPr/>
        </p:nvSpPr>
        <p:spPr>
          <a:xfrm>
            <a:off x="4663440" y="1691640"/>
            <a:ext cx="1737360" cy="640080"/>
          </a:xfrm>
          <a:prstGeom prst="roundRect">
            <a:avLst/>
          </a:prstGeom>
          <a:solidFill>
            <a:srgbClr val="F57F1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định tuyến</a:t>
            </a:r>
          </a:p>
          <a:p>
            <a:pPr algn="ctr"/>
            <a:r>
              <a:rPr sz="1200" b="1">
                <a:solidFill>
                  <a:srgbClr val="FFFFFF"/>
                </a:solidFill>
                <a:latin typeface="Arial"/>
              </a:rPr>
              <a:t>theo danh mục</a:t>
            </a:r>
          </a:p>
        </p:txBody>
      </p:sp>
      <p:cxnSp>
        <p:nvCxnSpPr>
          <p:cNvPr id="11" name="Connector 10"/>
          <p:cNvCxnSpPr/>
          <p:nvPr/>
        </p:nvCxnSpPr>
        <p:spPr>
          <a:xfrm>
            <a:off x="2011680" y="201168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389120" y="201168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949440" y="1417320"/>
            <a:ext cx="3657600" cy="566928"/>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legal_rag — truy xuất lai + P2</a:t>
            </a:r>
          </a:p>
        </p:txBody>
      </p:sp>
      <p:cxnSp>
        <p:nvCxnSpPr>
          <p:cNvPr id="14" name="Connector 13"/>
          <p:cNvCxnSpPr/>
          <p:nvPr/>
        </p:nvCxnSpPr>
        <p:spPr>
          <a:xfrm flipV="1">
            <a:off x="6400800" y="1700784"/>
            <a:ext cx="548640" cy="310896"/>
          </a:xfrm>
          <a:prstGeom prst="line">
            <a:avLst/>
          </a:prstGeom>
          <a:ln w="1397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49440" y="2240280"/>
            <a:ext cx="3657600" cy="566928"/>
          </a:xfrm>
          <a:prstGeom prst="roundRect">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chit_chat — template tĩnh</a:t>
            </a:r>
          </a:p>
        </p:txBody>
      </p:sp>
      <p:cxnSp>
        <p:nvCxnSpPr>
          <p:cNvPr id="16" name="Connector 15"/>
          <p:cNvCxnSpPr/>
          <p:nvPr/>
        </p:nvCxnSpPr>
        <p:spPr>
          <a:xfrm>
            <a:off x="6400800" y="2011680"/>
            <a:ext cx="548640" cy="512064"/>
          </a:xfrm>
          <a:prstGeom prst="line">
            <a:avLst/>
          </a:prstGeom>
          <a:ln w="1397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49440" y="3063240"/>
            <a:ext cx="3657600" cy="566928"/>
          </a:xfrm>
          <a:prstGeom prst="roundRect">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out_of_scope — từ chối</a:t>
            </a:r>
          </a:p>
        </p:txBody>
      </p:sp>
      <p:cxnSp>
        <p:nvCxnSpPr>
          <p:cNvPr id="18" name="Connector 17"/>
          <p:cNvCxnSpPr/>
          <p:nvPr/>
        </p:nvCxnSpPr>
        <p:spPr>
          <a:xfrm>
            <a:off x="6400800" y="2011680"/>
            <a:ext cx="548640" cy="1335024"/>
          </a:xfrm>
          <a:prstGeom prst="line">
            <a:avLst/>
          </a:prstGeom>
          <a:ln w="1397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949440" y="3886200"/>
            <a:ext cx="3657600" cy="566928"/>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web_search (Tavily)</a:t>
            </a:r>
          </a:p>
        </p:txBody>
      </p:sp>
      <p:cxnSp>
        <p:nvCxnSpPr>
          <p:cNvPr id="20" name="Connector 19"/>
          <p:cNvCxnSpPr/>
          <p:nvPr/>
        </p:nvCxnSpPr>
        <p:spPr>
          <a:xfrm>
            <a:off x="6400800" y="2011680"/>
            <a:ext cx="548640" cy="2157983"/>
          </a:xfrm>
          <a:prstGeom prst="line">
            <a:avLst/>
          </a:prstGeom>
          <a:ln w="1397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744200" y="2148840"/>
            <a:ext cx="1005840" cy="640080"/>
          </a:xfrm>
          <a:prstGeom prst="roundRect">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KẾT</a:t>
            </a:r>
          </a:p>
          <a:p>
            <a:pPr algn="ctr"/>
            <a:r>
              <a:rPr sz="1200" b="1">
                <a:solidFill>
                  <a:srgbClr val="FFFFFF"/>
                </a:solidFill>
                <a:latin typeface="Arial"/>
              </a:rPr>
              <a:t>THÚC</a:t>
            </a:r>
          </a:p>
        </p:txBody>
      </p:sp>
      <p:sp>
        <p:nvSpPr>
          <p:cNvPr id="22" name="Rounded Rectangle 21"/>
          <p:cNvSpPr/>
          <p:nvPr/>
        </p:nvSpPr>
        <p:spPr>
          <a:xfrm>
            <a:off x="6949440" y="4709160"/>
            <a:ext cx="3657600" cy="566928"/>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web_finalize — tạm dừng chờ duyệt (HITL)</a:t>
            </a:r>
          </a:p>
        </p:txBody>
      </p:sp>
      <p:cxnSp>
        <p:nvCxnSpPr>
          <p:cNvPr id="23" name="Connector 22"/>
          <p:cNvCxnSpPr/>
          <p:nvPr/>
        </p:nvCxnSpPr>
        <p:spPr>
          <a:xfrm>
            <a:off x="8778240" y="4453128"/>
            <a:ext cx="0" cy="256032"/>
          </a:xfrm>
          <a:prstGeom prst="line">
            <a:avLst/>
          </a:prstGeom>
          <a:ln w="17780">
            <a:solidFill>
              <a:srgbClr val="C6282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607040" y="1700784"/>
            <a:ext cx="164592" cy="768096"/>
          </a:xfrm>
          <a:prstGeom prst="line">
            <a:avLst/>
          </a:prstGeom>
          <a:ln w="1270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0607040" y="2468880"/>
            <a:ext cx="164592" cy="54864"/>
          </a:xfrm>
          <a:prstGeom prst="line">
            <a:avLst/>
          </a:prstGeom>
          <a:ln w="1270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0607040" y="2468880"/>
            <a:ext cx="164592" cy="877824"/>
          </a:xfrm>
          <a:prstGeom prst="line">
            <a:avLst/>
          </a:prstGeom>
          <a:ln w="1270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0607040" y="2788920"/>
            <a:ext cx="320040" cy="2203704"/>
          </a:xfrm>
          <a:prstGeom prst="line">
            <a:avLst/>
          </a:prstGeom>
          <a:ln w="1270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57200" y="5486400"/>
            <a:ext cx="11292840" cy="868680"/>
          </a:xfrm>
          <a:prstGeom prst="round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0">
                <a:solidFill>
                  <a:srgbClr val="212121"/>
                </a:solidFill>
                <a:latin typeface="Arial"/>
              </a:rPr>
              <a:t>HITL: web_search thu ≤3 snippet → interrupt_before['web_finalize'] → /pending → Admin Console</a:t>
            </a:r>
          </a:p>
          <a:p>
            <a:pPr algn="ctr"/>
            <a:r>
              <a:rPr sz="1300" b="0">
                <a:solidFill>
                  <a:srgbClr val="212121"/>
                </a:solidFill>
                <a:latin typeface="Arial"/>
              </a:rPr>
              <a:t>Approve (resume web_finalize, gắn nhãn cảnh báo tra cứu internet) hoặc Reject (xoá thread). Timeout 10 phút.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15</a:t>
            </a:r>
          </a:p>
        </p:txBody>
      </p:sp>
      <p:sp>
        <p:nvSpPr>
          <p:cNvPr id="6" name="Rounded Rectangle 5"/>
          <p:cNvSpPr/>
          <p:nvPr/>
        </p:nvSpPr>
        <p:spPr>
          <a:xfrm>
            <a:off x="365760" y="256032"/>
            <a:ext cx="2487168"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Đánh giá</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Thiết kế thực nghiệm — 40 câu, 8 danh mục, 10 thực nghiệm</a:t>
            </a:r>
          </a:p>
        </p:txBody>
      </p:sp>
      <p:sp>
        <p:nvSpPr>
          <p:cNvPr id="8" name="Rounded Rectangle 7"/>
          <p:cNvSpPr/>
          <p:nvPr/>
        </p:nvSpPr>
        <p:spPr>
          <a:xfrm>
            <a:off x="457200" y="1600200"/>
            <a:ext cx="5486400" cy="420624"/>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Bộ đánh giá 40 câu / 8 danh mục</a:t>
            </a:r>
          </a:p>
        </p:txBody>
      </p:sp>
      <p:sp>
        <p:nvSpPr>
          <p:cNvPr id="9" name="TextBox 8"/>
          <p:cNvSpPr txBox="1"/>
          <p:nvPr/>
        </p:nvSpPr>
        <p:spPr>
          <a:xfrm>
            <a:off x="548640" y="2103120"/>
            <a:ext cx="5394960" cy="3931920"/>
          </a:xfrm>
          <a:prstGeom prst="rect">
            <a:avLst/>
          </a:prstGeom>
          <a:noFill/>
        </p:spPr>
        <p:txBody>
          <a:bodyPr wrap="square" anchor="t">
            <a:spAutoFit/>
          </a:bodyPr>
          <a:lstStyle/>
          <a:p>
            <a:pPr>
              <a:spcAft>
                <a:spcPts val="700"/>
              </a:spcAft>
            </a:pPr>
            <a:r>
              <a:rPr sz="1400" b="1">
                <a:solidFill>
                  <a:srgbClr val="212121"/>
                </a:solidFill>
                <a:latin typeface="Arial"/>
              </a:rPr>
              <a:t>▸  5 câu mỗi danh mục, xây thủ công từ tình huống thực</a:t>
            </a:r>
          </a:p>
          <a:p>
            <a:pPr lvl="1">
              <a:spcAft>
                <a:spcPts val="700"/>
              </a:spcAft>
            </a:pPr>
            <a:r>
              <a:rPr sz="1200" b="0">
                <a:solidFill>
                  <a:srgbClr val="333333"/>
                </a:solidFill>
                <a:latin typeface="Arial"/>
              </a:rPr>
              <a:t>–  Phạt đơn nghĩa · Đa ý định · Tham chiếu chéo</a:t>
            </a:r>
          </a:p>
          <a:p>
            <a:pPr lvl="1">
              <a:spcAft>
                <a:spcPts val="700"/>
              </a:spcAft>
            </a:pPr>
            <a:r>
              <a:rPr sz="1200" b="0">
                <a:solidFill>
                  <a:srgbClr val="333333"/>
                </a:solidFill>
                <a:latin typeface="Arial"/>
              </a:rPr>
              <a:t>–  Thủ tục · Ngoài phạm vi · Ngắn, đa nghĩa</a:t>
            </a:r>
          </a:p>
          <a:p>
            <a:pPr lvl="1">
              <a:spcAft>
                <a:spcPts val="700"/>
              </a:spcAft>
            </a:pPr>
            <a:r>
              <a:rPr sz="1200" b="0">
                <a:solidFill>
                  <a:srgbClr val="333333"/>
                </a:solidFill>
                <a:latin typeface="Arial"/>
              </a:rPr>
              <a:t>–  Đa hành vi · Ràng buộc phương tiện</a:t>
            </a:r>
          </a:p>
          <a:p>
            <a:pPr>
              <a:spcAft>
                <a:spcPts val="700"/>
              </a:spcAft>
            </a:pPr>
            <a:r>
              <a:rPr sz="1400" b="1">
                <a:solidFill>
                  <a:srgbClr val="212121"/>
                </a:solidFill>
                <a:latin typeface="Arial"/>
              </a:rPr>
              <a:t>▸  Mỗi câu có đáp án chuẩn + trích dẫn chuẩn (cấp Khoản)</a:t>
            </a:r>
          </a:p>
          <a:p>
            <a:pPr>
              <a:spcAft>
                <a:spcPts val="700"/>
              </a:spcAft>
            </a:pPr>
            <a:r>
              <a:rPr sz="1400" b="1">
                <a:solidFill>
                  <a:srgbClr val="212121"/>
                </a:solidFill>
                <a:latin typeface="Arial"/>
              </a:rPr>
              <a:t>▸  5 câu ngoài phạm vi lọc khỏi đo truy xuất → giữ 35 câu pháp lý</a:t>
            </a:r>
          </a:p>
        </p:txBody>
      </p:sp>
      <p:sp>
        <p:nvSpPr>
          <p:cNvPr id="10" name="Rounded Rectangle 9"/>
          <p:cNvSpPr/>
          <p:nvPr/>
        </p:nvSpPr>
        <p:spPr>
          <a:xfrm>
            <a:off x="6245352" y="1600200"/>
            <a:ext cx="5486400" cy="420624"/>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Bộ metric đa chiều</a:t>
            </a:r>
          </a:p>
        </p:txBody>
      </p:sp>
      <p:sp>
        <p:nvSpPr>
          <p:cNvPr id="11" name="TextBox 10"/>
          <p:cNvSpPr txBox="1"/>
          <p:nvPr/>
        </p:nvSpPr>
        <p:spPr>
          <a:xfrm>
            <a:off x="6336792" y="2103120"/>
            <a:ext cx="5394960" cy="3931920"/>
          </a:xfrm>
          <a:prstGeom prst="rect">
            <a:avLst/>
          </a:prstGeom>
          <a:noFill/>
        </p:spPr>
        <p:txBody>
          <a:bodyPr wrap="square" anchor="t">
            <a:spAutoFit/>
          </a:bodyPr>
          <a:lstStyle/>
          <a:p>
            <a:pPr>
              <a:spcAft>
                <a:spcPts val="600"/>
              </a:spcAft>
            </a:pPr>
            <a:r>
              <a:rPr sz="1400" b="1">
                <a:solidFill>
                  <a:srgbClr val="212121"/>
                </a:solidFill>
                <a:latin typeface="Arial"/>
              </a:rPr>
              <a:t>▸  Truy xuất: Recall@k, MRR, nDCG@10 (cấp Khoản &amp; cấp tài liệu)</a:t>
            </a:r>
          </a:p>
          <a:p>
            <a:pPr>
              <a:spcAft>
                <a:spcPts val="600"/>
              </a:spcAft>
            </a:pPr>
            <a:r>
              <a:rPr sz="1400" b="1">
                <a:solidFill>
                  <a:srgbClr val="212121"/>
                </a:solidFill>
                <a:latin typeface="Arial"/>
              </a:rPr>
              <a:t>▸  Trích dẫn: Citation P / R / F1 (metric cốt lõi)</a:t>
            </a:r>
          </a:p>
          <a:p>
            <a:pPr>
              <a:spcAft>
                <a:spcPts val="600"/>
              </a:spcAft>
            </a:pPr>
            <a:r>
              <a:rPr sz="1400" b="1">
                <a:solidFill>
                  <a:srgbClr val="212121"/>
                </a:solidFill>
                <a:latin typeface="Arial"/>
              </a:rPr>
              <a:t>▸  Câu trả lời: Token-F1, ROUGE-L, Refusal rate</a:t>
            </a:r>
          </a:p>
          <a:p>
            <a:pPr>
              <a:spcAft>
                <a:spcPts val="600"/>
              </a:spcAft>
            </a:pPr>
            <a:r>
              <a:rPr sz="1400" b="1">
                <a:solidFill>
                  <a:srgbClr val="212121"/>
                </a:solidFill>
                <a:latin typeface="Arial"/>
              </a:rPr>
              <a:t>▸  Kiến trúc: Category Accuracy của router</a:t>
            </a:r>
          </a:p>
          <a:p>
            <a:pPr>
              <a:spcAft>
                <a:spcPts val="600"/>
              </a:spcAft>
            </a:pPr>
            <a:r>
              <a:rPr sz="1400" b="1">
                <a:solidFill>
                  <a:srgbClr val="212121"/>
                </a:solidFill>
                <a:latin typeface="Arial"/>
              </a:rPr>
              <a:t>▸  RAGAS (gpt-4o-mini): faithfulness, context precision/recall</a:t>
            </a:r>
          </a:p>
          <a:p>
            <a:pPr>
              <a:spcAft>
                <a:spcPts val="600"/>
              </a:spcAft>
            </a:pPr>
            <a:r>
              <a:rPr sz="1400" b="1">
                <a:solidFill>
                  <a:srgbClr val="212121"/>
                </a:solidFill>
                <a:latin typeface="Arial"/>
              </a:rPr>
              <a:t>▸  Vận hành: cost/câu, latency, error rate (LangSmith)</a:t>
            </a:r>
          </a:p>
        </p:txBody>
      </p:sp>
      <p:sp>
        <p:nvSpPr>
          <p:cNvPr id="12" name="Rounded Rectangle 11"/>
          <p:cNvSpPr/>
          <p:nvPr/>
        </p:nvSpPr>
        <p:spPr>
          <a:xfrm>
            <a:off x="457200" y="5989320"/>
            <a:ext cx="11247120" cy="384048"/>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10 thực nghiệm đối chứng theo thứ tự từ dưới lên (phân đoạn → nhúng → DB → lệnh HD → truy xuất → kiến trúc) — đổi 1 biến/lần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16</a:t>
            </a:r>
          </a:p>
        </p:txBody>
      </p:sp>
      <p:sp>
        <p:nvSpPr>
          <p:cNvPr id="6" name="Rounded Rectangle 5"/>
          <p:cNvSpPr/>
          <p:nvPr/>
        </p:nvSpPr>
        <p:spPr>
          <a:xfrm>
            <a:off x="365760" y="256032"/>
            <a:ext cx="2340864"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Mục 3.3</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Phân đoạn phân cấp vs cố định 512 — phát hiện then chốt</a:t>
            </a:r>
          </a:p>
        </p:txBody>
      </p:sp>
      <p:pic>
        <p:nvPicPr>
          <p:cNvPr id="8" name="Picture 7" descr="rq2_chunking_answer.png"/>
          <p:cNvPicPr>
            <a:picLocks noChangeAspect="1"/>
          </p:cNvPicPr>
          <p:nvPr/>
        </p:nvPicPr>
        <p:blipFill>
          <a:blip r:embed="rId2"/>
          <a:stretch>
            <a:fillRect/>
          </a:stretch>
        </p:blipFill>
        <p:spPr>
          <a:xfrm>
            <a:off x="548640" y="1883733"/>
            <a:ext cx="7040880" cy="4096373"/>
          </a:xfrm>
          <a:prstGeom prst="rect">
            <a:avLst/>
          </a:prstGeom>
        </p:spPr>
      </p:pic>
      <p:sp>
        <p:nvSpPr>
          <p:cNvPr id="9" name="TextBox 8"/>
          <p:cNvSpPr txBox="1"/>
          <p:nvPr/>
        </p:nvSpPr>
        <p:spPr>
          <a:xfrm>
            <a:off x="7818120" y="1737360"/>
            <a:ext cx="4023360" cy="4389120"/>
          </a:xfrm>
          <a:prstGeom prst="rect">
            <a:avLst/>
          </a:prstGeom>
          <a:noFill/>
        </p:spPr>
        <p:txBody>
          <a:bodyPr wrap="square" anchor="t">
            <a:spAutoFit/>
          </a:bodyPr>
          <a:lstStyle/>
          <a:p>
            <a:pPr>
              <a:spcAft>
                <a:spcPts val="700"/>
              </a:spcAft>
            </a:pPr>
            <a:r>
              <a:rPr sz="1600" b="1">
                <a:solidFill>
                  <a:srgbClr val="212121"/>
                </a:solidFill>
                <a:latin typeface="Arial"/>
              </a:rPr>
              <a:t>▸  Citation-Recall (cấp Khoản):</a:t>
            </a:r>
          </a:p>
          <a:p>
            <a:pPr lvl="1">
              <a:spcAft>
                <a:spcPts val="700"/>
              </a:spcAft>
            </a:pPr>
            <a:r>
              <a:rPr sz="1400" b="0">
                <a:solidFill>
                  <a:srgbClr val="333333"/>
                </a:solidFill>
                <a:latin typeface="Arial"/>
              </a:rPr>
              <a:t>–  0,410 vs 0,171 → ×2,4</a:t>
            </a:r>
          </a:p>
          <a:p>
            <a:pPr>
              <a:spcAft>
                <a:spcPts val="700"/>
              </a:spcAft>
            </a:pPr>
            <a:r>
              <a:rPr sz="1600" b="1">
                <a:solidFill>
                  <a:srgbClr val="212121"/>
                </a:solidFill>
                <a:latin typeface="Arial"/>
              </a:rPr>
              <a:t>▸  Cit-R cấp tài liệu:</a:t>
            </a:r>
          </a:p>
          <a:p>
            <a:pPr lvl="1">
              <a:spcAft>
                <a:spcPts val="700"/>
              </a:spcAft>
            </a:pPr>
            <a:r>
              <a:rPr sz="1400" b="0">
                <a:solidFill>
                  <a:srgbClr val="333333"/>
                </a:solidFill>
                <a:latin typeface="Arial"/>
              </a:rPr>
              <a:t>–  0,814 vs 0,457</a:t>
            </a:r>
          </a:p>
          <a:p>
            <a:pPr>
              <a:spcAft>
                <a:spcPts val="700"/>
              </a:spcAft>
            </a:pPr>
            <a:r>
              <a:rPr sz="1600" b="1">
                <a:solidFill>
                  <a:srgbClr val="212121"/>
                </a:solidFill>
                <a:latin typeface="Arial"/>
              </a:rPr>
              <a:t>▸  Refusal: 0,20 vs 0,37</a:t>
            </a:r>
          </a:p>
          <a:p>
            <a:pPr>
              <a:spcAft>
                <a:spcPts val="700"/>
              </a:spcAft>
            </a:pPr>
            <a:r>
              <a:rPr sz="1600" b="1">
                <a:solidFill>
                  <a:srgbClr val="212121"/>
                </a:solidFill>
                <a:latin typeface="Arial"/>
              </a:rPr>
              <a:t>▸  F1 token gần hoà (0,327 ≈ 0,325)</a:t>
            </a:r>
          </a:p>
          <a:p>
            <a:pPr lvl="1">
              <a:spcAft>
                <a:spcPts val="700"/>
              </a:spcAft>
            </a:pPr>
            <a:r>
              <a:rPr sz="1400" b="0">
                <a:solidFill>
                  <a:srgbClr val="333333"/>
                </a:solidFill>
                <a:latin typeface="Arial"/>
              </a:rPr>
              <a:t>–  fixed-512 viết dài, trùng n-gram nhưng KHÔNG cite đúng</a:t>
            </a:r>
          </a:p>
          <a:p>
            <a:pPr>
              <a:spcAft>
                <a:spcPts val="700"/>
              </a:spcAft>
            </a:pPr>
            <a:r>
              <a:rPr sz="1600" b="1">
                <a:solidFill>
                  <a:srgbClr val="212121"/>
                </a:solidFill>
                <a:latin typeface="Arial"/>
              </a:rPr>
              <a:t>▸  → Biên chunk = biên trích dẫn là chìa khoá</a:t>
            </a:r>
          </a:p>
        </p:txBody>
      </p:sp>
      <p:sp>
        <p:nvSpPr>
          <p:cNvPr id="10" name="TextBox 9"/>
          <p:cNvSpPr txBox="1"/>
          <p:nvPr/>
        </p:nvSpPr>
        <p:spPr>
          <a:xfrm>
            <a:off x="457200" y="6035040"/>
            <a:ext cx="11247120" cy="365760"/>
          </a:xfrm>
          <a:prstGeom prst="rect">
            <a:avLst/>
          </a:prstGeom>
          <a:noFill/>
        </p:spPr>
        <p:txBody>
          <a:bodyPr wrap="square" anchor="t">
            <a:spAutoFit/>
          </a:bodyPr>
          <a:lstStyle/>
          <a:p>
            <a:pPr algn="ctr"/>
            <a:r>
              <a:rPr sz="1200" b="0">
                <a:solidFill>
                  <a:srgbClr val="606060"/>
                </a:solidFill>
                <a:latin typeface="Arial"/>
              </a:rPr>
              <a:t>Hình 10 — Đầu–cuối: F1, ROUGE-L, Citation-Recall, tỷ lệ từ chối (phân cấp vs cố định 512)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17</a:t>
            </a:r>
          </a:p>
        </p:txBody>
      </p:sp>
      <p:sp>
        <p:nvSpPr>
          <p:cNvPr id="6" name="Rounded Rectangle 5"/>
          <p:cNvSpPr/>
          <p:nvPr/>
        </p:nvSpPr>
        <p:spPr>
          <a:xfrm>
            <a:off x="365760" y="256032"/>
            <a:ext cx="2340864"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Mục 3.4</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Chọn mô hình nhúng văn bản đa ngôn ngữ</a:t>
            </a:r>
          </a:p>
        </p:txBody>
      </p:sp>
      <p:pic>
        <p:nvPicPr>
          <p:cNvPr id="8" name="Picture 7" descr="rq3_embedding_recall.png"/>
          <p:cNvPicPr>
            <a:picLocks noChangeAspect="1"/>
          </p:cNvPicPr>
          <p:nvPr/>
        </p:nvPicPr>
        <p:blipFill>
          <a:blip r:embed="rId2"/>
          <a:stretch>
            <a:fillRect/>
          </a:stretch>
        </p:blipFill>
        <p:spPr>
          <a:xfrm>
            <a:off x="548640" y="2031730"/>
            <a:ext cx="7040880" cy="3800378"/>
          </a:xfrm>
          <a:prstGeom prst="rect">
            <a:avLst/>
          </a:prstGeom>
        </p:spPr>
      </p:pic>
      <p:sp>
        <p:nvSpPr>
          <p:cNvPr id="9" name="TextBox 8"/>
          <p:cNvSpPr txBox="1"/>
          <p:nvPr/>
        </p:nvSpPr>
        <p:spPr>
          <a:xfrm>
            <a:off x="7818120" y="1737360"/>
            <a:ext cx="4023360" cy="4389120"/>
          </a:xfrm>
          <a:prstGeom prst="rect">
            <a:avLst/>
          </a:prstGeom>
          <a:noFill/>
        </p:spPr>
        <p:txBody>
          <a:bodyPr wrap="square" anchor="t">
            <a:spAutoFit/>
          </a:bodyPr>
          <a:lstStyle/>
          <a:p>
            <a:pPr>
              <a:spcAft>
                <a:spcPts val="700"/>
              </a:spcAft>
            </a:pPr>
            <a:r>
              <a:rPr sz="1600" b="1">
                <a:solidFill>
                  <a:srgbClr val="212121"/>
                </a:solidFill>
                <a:latin typeface="Arial"/>
              </a:rPr>
              <a:t>▸  multilingual-e5-base ★</a:t>
            </a:r>
          </a:p>
          <a:p>
            <a:pPr lvl="1">
              <a:spcAft>
                <a:spcPts val="700"/>
              </a:spcAft>
            </a:pPr>
            <a:r>
              <a:rPr sz="1400" b="0">
                <a:solidFill>
                  <a:srgbClr val="333333"/>
                </a:solidFill>
                <a:latin typeface="Arial"/>
              </a:rPr>
              <a:t>–  R@10 = 0,424 · MRR 0,277 (cao nhất)</a:t>
            </a:r>
          </a:p>
          <a:p>
            <a:pPr lvl="1">
              <a:spcAft>
                <a:spcPts val="700"/>
              </a:spcAft>
            </a:pPr>
            <a:r>
              <a:rPr sz="1400" b="0">
                <a:solidFill>
                  <a:srgbClr val="333333"/>
                </a:solidFill>
                <a:latin typeface="Arial"/>
              </a:rPr>
              <a:t>–  768d · max_seq 512</a:t>
            </a:r>
          </a:p>
          <a:p>
            <a:pPr>
              <a:spcAft>
                <a:spcPts val="700"/>
              </a:spcAft>
            </a:pPr>
            <a:r>
              <a:rPr sz="1600" b="1">
                <a:solidFill>
                  <a:srgbClr val="212121"/>
                </a:solidFill>
                <a:latin typeface="Arial"/>
              </a:rPr>
              <a:t>▸  e5-small: R@10 0,367 (rẻ, nhanh nhất)</a:t>
            </a:r>
          </a:p>
          <a:p>
            <a:pPr>
              <a:spcAft>
                <a:spcPts val="700"/>
              </a:spcAft>
            </a:pPr>
            <a:r>
              <a:rPr sz="1600" b="1">
                <a:solidFill>
                  <a:srgbClr val="212121"/>
                </a:solidFill>
                <a:latin typeface="Arial"/>
              </a:rPr>
              <a:t>▸  mpnet thua do max_seq=128 cắt khoản dài</a:t>
            </a:r>
          </a:p>
          <a:p>
            <a:pPr>
              <a:spcAft>
                <a:spcPts val="700"/>
              </a:spcAft>
            </a:pPr>
            <a:r>
              <a:rPr sz="1600" b="1">
                <a:solidFill>
                  <a:srgbClr val="212121"/>
                </a:solidFill>
                <a:latin typeface="Arial"/>
              </a:rPr>
              <a:t>▸  sbert yếu dù 768d (không InfoNCE)</a:t>
            </a:r>
          </a:p>
          <a:p>
            <a:pPr>
              <a:spcAft>
                <a:spcPts val="700"/>
              </a:spcAft>
            </a:pPr>
            <a:r>
              <a:rPr sz="1600" b="1">
                <a:solidFill>
                  <a:srgbClr val="212121"/>
                </a:solidFill>
                <a:latin typeface="Arial"/>
              </a:rPr>
              <a:t>▸  → Chọn e5-base: chất lượng cao, giữ 768d sẵn có</a:t>
            </a:r>
          </a:p>
        </p:txBody>
      </p:sp>
      <p:sp>
        <p:nvSpPr>
          <p:cNvPr id="10" name="TextBox 9"/>
          <p:cNvSpPr txBox="1"/>
          <p:nvPr/>
        </p:nvSpPr>
        <p:spPr>
          <a:xfrm>
            <a:off x="457200" y="6035040"/>
            <a:ext cx="11247120" cy="365760"/>
          </a:xfrm>
          <a:prstGeom prst="rect">
            <a:avLst/>
          </a:prstGeom>
          <a:noFill/>
        </p:spPr>
        <p:txBody>
          <a:bodyPr wrap="square" anchor="t">
            <a:spAutoFit/>
          </a:bodyPr>
          <a:lstStyle/>
          <a:p>
            <a:pPr algn="ctr"/>
            <a:r>
              <a:rPr sz="1200" b="0">
                <a:solidFill>
                  <a:srgbClr val="606060"/>
                </a:solidFill>
                <a:latin typeface="Arial"/>
              </a:rPr>
              <a:t>Hình 12 — Recall@5/10/20 và MRR của 4 mô hình nhúng (chỉ nhánh dày đặc, 35 câu)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18</a:t>
            </a:r>
          </a:p>
        </p:txBody>
      </p:sp>
      <p:sp>
        <p:nvSpPr>
          <p:cNvPr id="6" name="Rounded Rectangle 5"/>
          <p:cNvSpPr/>
          <p:nvPr/>
        </p:nvSpPr>
        <p:spPr>
          <a:xfrm>
            <a:off x="365760" y="256032"/>
            <a:ext cx="2340864"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Mục 3.6</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Lệnh hướng dẫn: không HD / chỉ vai trò / đầy đủ quy tắc</a:t>
            </a:r>
          </a:p>
        </p:txBody>
      </p:sp>
      <p:pic>
        <p:nvPicPr>
          <p:cNvPr id="8" name="Picture 7" descr="rq5_prompts_comparison.png"/>
          <p:cNvPicPr>
            <a:picLocks noChangeAspect="1"/>
          </p:cNvPicPr>
          <p:nvPr/>
        </p:nvPicPr>
        <p:blipFill>
          <a:blip r:embed="rId2"/>
          <a:stretch>
            <a:fillRect/>
          </a:stretch>
        </p:blipFill>
        <p:spPr>
          <a:xfrm>
            <a:off x="548640" y="2238543"/>
            <a:ext cx="7040880" cy="3386752"/>
          </a:xfrm>
          <a:prstGeom prst="rect">
            <a:avLst/>
          </a:prstGeom>
        </p:spPr>
      </p:pic>
      <p:sp>
        <p:nvSpPr>
          <p:cNvPr id="9" name="TextBox 8"/>
          <p:cNvSpPr txBox="1"/>
          <p:nvPr/>
        </p:nvSpPr>
        <p:spPr>
          <a:xfrm>
            <a:off x="7818120" y="1737360"/>
            <a:ext cx="4023360" cy="4389120"/>
          </a:xfrm>
          <a:prstGeom prst="rect">
            <a:avLst/>
          </a:prstGeom>
          <a:noFill/>
        </p:spPr>
        <p:txBody>
          <a:bodyPr wrap="square" anchor="t">
            <a:spAutoFit/>
          </a:bodyPr>
          <a:lstStyle/>
          <a:p>
            <a:pPr>
              <a:spcAft>
                <a:spcPts val="700"/>
              </a:spcAft>
            </a:pPr>
            <a:r>
              <a:rPr sz="1600" b="1">
                <a:solidFill>
                  <a:srgbClr val="212121"/>
                </a:solidFill>
                <a:latin typeface="Arial"/>
              </a:rPr>
              <a:t>▸  Đầy đủ quy tắc (P2) ★</a:t>
            </a:r>
          </a:p>
          <a:p>
            <a:pPr lvl="1">
              <a:spcAft>
                <a:spcPts val="700"/>
              </a:spcAft>
            </a:pPr>
            <a:r>
              <a:rPr sz="1400" b="0">
                <a:solidFill>
                  <a:srgbClr val="333333"/>
                </a:solidFill>
                <a:latin typeface="Arial"/>
              </a:rPr>
              <a:t>–  Citation-F1 = 0,279</a:t>
            </a:r>
          </a:p>
          <a:p>
            <a:pPr lvl="1">
              <a:spcAft>
                <a:spcPts val="700"/>
              </a:spcAft>
            </a:pPr>
            <a:r>
              <a:rPr sz="1400" b="0">
                <a:solidFill>
                  <a:srgbClr val="333333"/>
                </a:solidFill>
                <a:latin typeface="Arial"/>
              </a:rPr>
              <a:t>–  ×8,7 so không HD (0,032), ×4,2 so chỉ vai trò</a:t>
            </a:r>
          </a:p>
          <a:p>
            <a:pPr>
              <a:spcAft>
                <a:spcPts val="700"/>
              </a:spcAft>
            </a:pPr>
            <a:r>
              <a:rPr sz="1600" b="1">
                <a:solidFill>
                  <a:srgbClr val="212121"/>
                </a:solidFill>
                <a:latin typeface="Arial"/>
              </a:rPr>
              <a:t>▸  Độ trễ thấp nhất 7,1s (quy tắc ép ngắn gọn)</a:t>
            </a:r>
          </a:p>
          <a:p>
            <a:pPr>
              <a:spcAft>
                <a:spcPts val="700"/>
              </a:spcAft>
            </a:pPr>
            <a:r>
              <a:rPr sz="1600" b="1">
                <a:solidFill>
                  <a:srgbClr val="212121"/>
                </a:solidFill>
                <a:latin typeface="Arial"/>
              </a:rPr>
              <a:t>▸  Từ chối 0,20 = từ chối đúng lúc khi thiếu ngữ cảnh</a:t>
            </a:r>
          </a:p>
          <a:p>
            <a:pPr>
              <a:spcAft>
                <a:spcPts val="700"/>
              </a:spcAft>
            </a:pPr>
            <a:r>
              <a:rPr sz="1600" b="1">
                <a:solidFill>
                  <a:srgbClr val="212121"/>
                </a:solidFill>
                <a:latin typeface="Arial"/>
              </a:rPr>
              <a:t>▸  2 biến thể đầu F1 cao hơn nhưng 'viết tuôn', không cite</a:t>
            </a:r>
          </a:p>
        </p:txBody>
      </p:sp>
      <p:sp>
        <p:nvSpPr>
          <p:cNvPr id="10" name="TextBox 9"/>
          <p:cNvSpPr txBox="1"/>
          <p:nvPr/>
        </p:nvSpPr>
        <p:spPr>
          <a:xfrm>
            <a:off x="457200" y="6035040"/>
            <a:ext cx="11247120" cy="365760"/>
          </a:xfrm>
          <a:prstGeom prst="rect">
            <a:avLst/>
          </a:prstGeom>
          <a:noFill/>
        </p:spPr>
        <p:txBody>
          <a:bodyPr wrap="square" anchor="t">
            <a:spAutoFit/>
          </a:bodyPr>
          <a:lstStyle/>
          <a:p>
            <a:pPr algn="ctr"/>
            <a:r>
              <a:rPr sz="1200" b="0">
                <a:solidFill>
                  <a:srgbClr val="606060"/>
                </a:solidFill>
                <a:latin typeface="Arial"/>
              </a:rPr>
              <a:t>Hình 16 — Citation-P/R/F1 và tỷ lệ từ chối của 3 biến thể lệnh hướng dẫn (35 câu pháp lý)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19</a:t>
            </a:r>
          </a:p>
        </p:txBody>
      </p:sp>
      <p:sp>
        <p:nvSpPr>
          <p:cNvPr id="6" name="Rounded Rectangle 5"/>
          <p:cNvSpPr/>
          <p:nvPr/>
        </p:nvSpPr>
        <p:spPr>
          <a:xfrm>
            <a:off x="365760" y="256032"/>
            <a:ext cx="2633472"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Mục 3.7.2</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Mở rộng truy vấn — mức cải thiện lớn nhất</a:t>
            </a:r>
          </a:p>
        </p:txBody>
      </p:sp>
      <p:pic>
        <p:nvPicPr>
          <p:cNvPr id="8" name="Picture 7" descr="rq9_rewrite_comparison.png"/>
          <p:cNvPicPr>
            <a:picLocks noChangeAspect="1"/>
          </p:cNvPicPr>
          <p:nvPr/>
        </p:nvPicPr>
        <p:blipFill>
          <a:blip r:embed="rId2"/>
          <a:stretch>
            <a:fillRect/>
          </a:stretch>
        </p:blipFill>
        <p:spPr>
          <a:xfrm>
            <a:off x="548640" y="2673275"/>
            <a:ext cx="7040880" cy="2517289"/>
          </a:xfrm>
          <a:prstGeom prst="rect">
            <a:avLst/>
          </a:prstGeom>
        </p:spPr>
      </p:pic>
      <p:sp>
        <p:nvSpPr>
          <p:cNvPr id="9" name="TextBox 8"/>
          <p:cNvSpPr txBox="1"/>
          <p:nvPr/>
        </p:nvSpPr>
        <p:spPr>
          <a:xfrm>
            <a:off x="7818120" y="1737360"/>
            <a:ext cx="4023360" cy="4389120"/>
          </a:xfrm>
          <a:prstGeom prst="rect">
            <a:avLst/>
          </a:prstGeom>
          <a:noFill/>
        </p:spPr>
        <p:txBody>
          <a:bodyPr wrap="square" anchor="t">
            <a:spAutoFit/>
          </a:bodyPr>
          <a:lstStyle/>
          <a:p>
            <a:pPr>
              <a:spcAft>
                <a:spcPts val="700"/>
              </a:spcAft>
            </a:pPr>
            <a:r>
              <a:rPr sz="1600" b="1">
                <a:solidFill>
                  <a:srgbClr val="212121"/>
                </a:solidFill>
                <a:latin typeface="Arial"/>
              </a:rPr>
              <a:t>▸  Recall@10: 0,324 → 0,581</a:t>
            </a:r>
          </a:p>
          <a:p>
            <a:pPr lvl="1">
              <a:spcAft>
                <a:spcPts val="700"/>
              </a:spcAft>
            </a:pPr>
            <a:r>
              <a:rPr sz="1400" b="0">
                <a:solidFill>
                  <a:srgbClr val="333333"/>
                </a:solidFill>
                <a:latin typeface="Arial"/>
              </a:rPr>
              <a:t>–  +26 điểm % — tăng lớn nhất toàn ablation</a:t>
            </a:r>
          </a:p>
          <a:p>
            <a:pPr>
              <a:spcAft>
                <a:spcPts val="700"/>
              </a:spcAft>
            </a:pPr>
            <a:r>
              <a:rPr sz="1600" b="1">
                <a:solidFill>
                  <a:srgbClr val="212121"/>
                </a:solidFill>
                <a:latin typeface="Arial"/>
              </a:rPr>
              <a:t>▸  nDCG@10: +14 điểm</a:t>
            </a:r>
          </a:p>
          <a:p>
            <a:pPr>
              <a:spcAft>
                <a:spcPts val="700"/>
              </a:spcAft>
            </a:pPr>
            <a:r>
              <a:rPr sz="1600" b="1">
                <a:solidFill>
                  <a:srgbClr val="212121"/>
                </a:solidFill>
                <a:latin typeface="Arial"/>
              </a:rPr>
              <a:t>▸  Độ trễ chỉ +7% (thêm 1 lời gọi LLM)</a:t>
            </a:r>
          </a:p>
          <a:p>
            <a:pPr>
              <a:spcAft>
                <a:spcPts val="700"/>
              </a:spcAft>
            </a:pPr>
            <a:r>
              <a:rPr sz="1600" b="1">
                <a:solidFill>
                  <a:srgbClr val="212121"/>
                </a:solidFill>
                <a:latin typeface="Arial"/>
              </a:rPr>
              <a:t>▸  Đảo chiều so kho cũ: nhờ đoạn cấp Điểm nhỏ &amp; chính xác</a:t>
            </a:r>
          </a:p>
          <a:p>
            <a:pPr>
              <a:spcAft>
                <a:spcPts val="700"/>
              </a:spcAft>
            </a:pPr>
            <a:r>
              <a:rPr sz="1600" b="1">
                <a:solidFill>
                  <a:srgbClr val="212121"/>
                </a:solidFill>
                <a:latin typeface="Arial"/>
              </a:rPr>
              <a:t>▸  → Bật mở rộng truy vấn khi vận hành thực tế</a:t>
            </a:r>
          </a:p>
        </p:txBody>
      </p:sp>
      <p:sp>
        <p:nvSpPr>
          <p:cNvPr id="10" name="TextBox 9"/>
          <p:cNvSpPr txBox="1"/>
          <p:nvPr/>
        </p:nvSpPr>
        <p:spPr>
          <a:xfrm>
            <a:off x="457200" y="6035040"/>
            <a:ext cx="11247120" cy="365760"/>
          </a:xfrm>
          <a:prstGeom prst="rect">
            <a:avLst/>
          </a:prstGeom>
          <a:noFill/>
        </p:spPr>
        <p:txBody>
          <a:bodyPr wrap="square" anchor="t">
            <a:spAutoFit/>
          </a:bodyPr>
          <a:lstStyle/>
          <a:p>
            <a:pPr algn="ctr"/>
            <a:r>
              <a:rPr sz="1200" b="0">
                <a:solidFill>
                  <a:srgbClr val="606060"/>
                </a:solidFill>
                <a:latin typeface="Arial"/>
              </a:rPr>
              <a:t>Hình 19 — R@5, R@10, nDCG@10, F1 giữa không mở rộng và có mở rộng truy vấn (35 câu pháp lý)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20</a:t>
            </a:r>
          </a:p>
        </p:txBody>
      </p:sp>
      <p:sp>
        <p:nvSpPr>
          <p:cNvPr id="6" name="Rounded Rectangle 5"/>
          <p:cNvSpPr/>
          <p:nvPr/>
        </p:nvSpPr>
        <p:spPr>
          <a:xfrm>
            <a:off x="365760" y="256032"/>
            <a:ext cx="3511296"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Mục 3.7.3 &amp; 3.5</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Xếp hạng lại &amp; cơ sở dữ liệu vector — đánh đổi thực dụng</a:t>
            </a:r>
          </a:p>
        </p:txBody>
      </p:sp>
      <p:pic>
        <p:nvPicPr>
          <p:cNvPr id="8" name="Picture 7" descr="rq10_reranker_comparison.png"/>
          <p:cNvPicPr>
            <a:picLocks noChangeAspect="1"/>
          </p:cNvPicPr>
          <p:nvPr/>
        </p:nvPicPr>
        <p:blipFill>
          <a:blip r:embed="rId2"/>
          <a:stretch>
            <a:fillRect/>
          </a:stretch>
        </p:blipFill>
        <p:spPr>
          <a:xfrm>
            <a:off x="548640" y="2670585"/>
            <a:ext cx="7040880" cy="2522668"/>
          </a:xfrm>
          <a:prstGeom prst="rect">
            <a:avLst/>
          </a:prstGeom>
        </p:spPr>
      </p:pic>
      <p:sp>
        <p:nvSpPr>
          <p:cNvPr id="9" name="TextBox 8"/>
          <p:cNvSpPr txBox="1"/>
          <p:nvPr/>
        </p:nvSpPr>
        <p:spPr>
          <a:xfrm>
            <a:off x="7818120" y="1737360"/>
            <a:ext cx="4023360" cy="4389120"/>
          </a:xfrm>
          <a:prstGeom prst="rect">
            <a:avLst/>
          </a:prstGeom>
          <a:noFill/>
        </p:spPr>
        <p:txBody>
          <a:bodyPr wrap="square" anchor="t">
            <a:spAutoFit/>
          </a:bodyPr>
          <a:lstStyle/>
          <a:p>
            <a:pPr>
              <a:spcAft>
                <a:spcPts val="700"/>
              </a:spcAft>
            </a:pPr>
            <a:r>
              <a:rPr sz="1600" b="1">
                <a:solidFill>
                  <a:srgbClr val="212121"/>
                </a:solidFill>
                <a:latin typeface="Arial"/>
              </a:rPr>
              <a:t>▸  Xếp hạng lại (Mục 3.7.3):</a:t>
            </a:r>
          </a:p>
          <a:p>
            <a:pPr lvl="1">
              <a:spcAft>
                <a:spcPts val="700"/>
              </a:spcAft>
            </a:pPr>
            <a:r>
              <a:rPr sz="1400" b="0">
                <a:solidFill>
                  <a:srgbClr val="333333"/>
                </a:solidFill>
                <a:latin typeface="Arial"/>
              </a:rPr>
              <a:t>–  R@10 0,324 → 0,481 (+48,5%)</a:t>
            </a:r>
          </a:p>
          <a:p>
            <a:pPr lvl="1">
              <a:spcAft>
                <a:spcPts val="700"/>
              </a:spcAft>
            </a:pPr>
            <a:r>
              <a:rPr sz="1400" b="0">
                <a:solidFill>
                  <a:srgbClr val="333333"/>
                </a:solidFill>
                <a:latin typeface="Arial"/>
              </a:rPr>
              <a:t>–  NHƯNG độ trễ ×156 trên CPU (~110s)</a:t>
            </a:r>
          </a:p>
          <a:p>
            <a:pPr lvl="1">
              <a:spcAft>
                <a:spcPts val="700"/>
              </a:spcAft>
            </a:pPr>
            <a:r>
              <a:rPr sz="1400" b="0">
                <a:solidFill>
                  <a:srgbClr val="333333"/>
                </a:solidFill>
                <a:latin typeface="Arial"/>
              </a:rPr>
              <a:t>–  → TẮT mặc định, bật khi có GPU</a:t>
            </a:r>
          </a:p>
          <a:p>
            <a:pPr>
              <a:spcAft>
                <a:spcPts val="700"/>
              </a:spcAft>
            </a:pPr>
            <a:r>
              <a:rPr sz="1600" b="1">
                <a:solidFill>
                  <a:srgbClr val="212121"/>
                </a:solidFill>
                <a:latin typeface="Arial"/>
              </a:rPr>
              <a:t>▸  Cơ sở dữ liệu vector (Mục 3.5):</a:t>
            </a:r>
          </a:p>
          <a:p>
            <a:pPr lvl="1">
              <a:spcAft>
                <a:spcPts val="700"/>
              </a:spcAft>
            </a:pPr>
            <a:r>
              <a:rPr sz="1400" b="0">
                <a:solidFill>
                  <a:srgbClr val="333333"/>
                </a:solidFill>
                <a:latin typeface="Arial"/>
              </a:rPr>
              <a:t>–  Qdrant/Chroma/FAISS R@10 ~0,42</a:t>
            </a:r>
          </a:p>
          <a:p>
            <a:pPr lvl="1">
              <a:spcAft>
                <a:spcPts val="700"/>
              </a:spcAft>
            </a:pPr>
            <a:r>
              <a:rPr sz="1400" b="0">
                <a:solidFill>
                  <a:srgbClr val="333333"/>
                </a:solidFill>
                <a:latin typeface="Arial"/>
              </a:rPr>
              <a:t>–  Chênh độ trễ (4ms↔0,08ms) không đáng so LLM</a:t>
            </a:r>
          </a:p>
          <a:p>
            <a:pPr lvl="1">
              <a:spcAft>
                <a:spcPts val="700"/>
              </a:spcAft>
            </a:pPr>
            <a:r>
              <a:rPr sz="1400" b="0">
                <a:solidFill>
                  <a:srgbClr val="333333"/>
                </a:solidFill>
                <a:latin typeface="Arial"/>
              </a:rPr>
              <a:t>–  → Giữ Qdrant vì lọc payload + HTTP API</a:t>
            </a:r>
          </a:p>
        </p:txBody>
      </p:sp>
      <p:sp>
        <p:nvSpPr>
          <p:cNvPr id="10" name="TextBox 9"/>
          <p:cNvSpPr txBox="1"/>
          <p:nvPr/>
        </p:nvSpPr>
        <p:spPr>
          <a:xfrm>
            <a:off x="457200" y="6035040"/>
            <a:ext cx="11247120" cy="365760"/>
          </a:xfrm>
          <a:prstGeom prst="rect">
            <a:avLst/>
          </a:prstGeom>
          <a:noFill/>
        </p:spPr>
        <p:txBody>
          <a:bodyPr wrap="square" anchor="t">
            <a:spAutoFit/>
          </a:bodyPr>
          <a:lstStyle/>
          <a:p>
            <a:pPr algn="ctr"/>
            <a:r>
              <a:rPr sz="1200" b="0">
                <a:solidFill>
                  <a:srgbClr val="606060"/>
                </a:solidFill>
                <a:latin typeface="Arial"/>
              </a:rPr>
              <a:t>Hình 21 — R@10, MRR, nDCG@10 &amp; độ trễ trước/sau bge-reranker-v2-m3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21</a:t>
            </a:r>
          </a:p>
        </p:txBody>
      </p:sp>
      <p:sp>
        <p:nvSpPr>
          <p:cNvPr id="6" name="Rounded Rectangle 5"/>
          <p:cNvSpPr/>
          <p:nvPr/>
        </p:nvSpPr>
        <p:spPr>
          <a:xfrm>
            <a:off x="365760" y="256032"/>
            <a:ext cx="2340864"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Mục 3.8</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So sánh kiến trúc hệ thống &amp; 'bẫy' của F1</a:t>
            </a:r>
          </a:p>
        </p:txBody>
      </p:sp>
      <p:pic>
        <p:nvPicPr>
          <p:cNvPr id="8" name="Picture 7" descr="rq1_pipeline_comparison.png"/>
          <p:cNvPicPr>
            <a:picLocks noChangeAspect="1"/>
          </p:cNvPicPr>
          <p:nvPr/>
        </p:nvPicPr>
        <p:blipFill>
          <a:blip r:embed="rId2"/>
          <a:stretch>
            <a:fillRect/>
          </a:stretch>
        </p:blipFill>
        <p:spPr>
          <a:xfrm>
            <a:off x="548640" y="1979002"/>
            <a:ext cx="7040880" cy="3905835"/>
          </a:xfrm>
          <a:prstGeom prst="rect">
            <a:avLst/>
          </a:prstGeom>
        </p:spPr>
      </p:pic>
      <p:sp>
        <p:nvSpPr>
          <p:cNvPr id="9" name="TextBox 8"/>
          <p:cNvSpPr txBox="1"/>
          <p:nvPr/>
        </p:nvSpPr>
        <p:spPr>
          <a:xfrm>
            <a:off x="7818120" y="1737360"/>
            <a:ext cx="4023360" cy="4389120"/>
          </a:xfrm>
          <a:prstGeom prst="rect">
            <a:avLst/>
          </a:prstGeom>
          <a:noFill/>
        </p:spPr>
        <p:txBody>
          <a:bodyPr wrap="square" anchor="t">
            <a:spAutoFit/>
          </a:bodyPr>
          <a:lstStyle/>
          <a:p>
            <a:pPr>
              <a:spcAft>
                <a:spcPts val="700"/>
              </a:spcAft>
            </a:pPr>
            <a:r>
              <a:rPr sz="1600" b="1">
                <a:solidFill>
                  <a:srgbClr val="212121"/>
                </a:solidFill>
                <a:latin typeface="Arial"/>
              </a:rPr>
              <a:t>▸  RAG hướng tác tử ★ Phân loại = 0,975</a:t>
            </a:r>
          </a:p>
          <a:p>
            <a:pPr lvl="1">
              <a:spcAft>
                <a:spcPts val="700"/>
              </a:spcAft>
            </a:pPr>
            <a:r>
              <a:rPr sz="1400" b="0">
                <a:solidFill>
                  <a:srgbClr val="333333"/>
                </a:solidFill>
                <a:latin typeface="Arial"/>
              </a:rPr>
              <a:t>–  vs RAG cơ bản 0,875 · định tuyến 100% câu OOS đúng</a:t>
            </a:r>
          </a:p>
          <a:p>
            <a:pPr>
              <a:spcAft>
                <a:spcPts val="700"/>
              </a:spcAft>
            </a:pPr>
            <a:r>
              <a:rPr sz="1600" b="1">
                <a:solidFill>
                  <a:srgbClr val="212121"/>
                </a:solidFill>
                <a:latin typeface="Arial"/>
              </a:rPr>
              <a:t>▸  Lưu ý: chỉ Gemini F1 cao nhất (0,370) là SAI LỆCH:</a:t>
            </a:r>
          </a:p>
          <a:p>
            <a:pPr lvl="1">
              <a:spcAft>
                <a:spcPts val="700"/>
              </a:spcAft>
            </a:pPr>
            <a:r>
              <a:rPr sz="1400" b="0">
                <a:solidFill>
                  <a:srgbClr val="333333"/>
                </a:solidFill>
                <a:latin typeface="Arial"/>
              </a:rPr>
              <a:t>–  câu OOS từ chối trùng n-gram + bịa nguồn dài</a:t>
            </a:r>
          </a:p>
          <a:p>
            <a:pPr>
              <a:spcAft>
                <a:spcPts val="700"/>
              </a:spcAft>
            </a:pPr>
            <a:r>
              <a:rPr sz="1600" b="1">
                <a:solidFill>
                  <a:srgbClr val="212121"/>
                </a:solidFill>
                <a:latin typeface="Arial"/>
              </a:rPr>
              <a:t>▸  → F1 token gây hiểu nhầm; phân loại &amp; Cit-R mới thực chất</a:t>
            </a:r>
          </a:p>
          <a:p>
            <a:pPr>
              <a:spcAft>
                <a:spcPts val="700"/>
              </a:spcAft>
            </a:pPr>
            <a:r>
              <a:rPr sz="1600" b="1">
                <a:solidFill>
                  <a:srgbClr val="212121"/>
                </a:solidFill>
                <a:latin typeface="Arial"/>
              </a:rPr>
              <a:t>▸  Độ trễ tác tử bị giãn cách 2s; thực tế ~20–25s</a:t>
            </a:r>
          </a:p>
        </p:txBody>
      </p:sp>
      <p:sp>
        <p:nvSpPr>
          <p:cNvPr id="10" name="TextBox 9"/>
          <p:cNvSpPr txBox="1"/>
          <p:nvPr/>
        </p:nvSpPr>
        <p:spPr>
          <a:xfrm>
            <a:off x="457200" y="6035040"/>
            <a:ext cx="11247120" cy="365760"/>
          </a:xfrm>
          <a:prstGeom prst="rect">
            <a:avLst/>
          </a:prstGeom>
          <a:noFill/>
        </p:spPr>
        <p:txBody>
          <a:bodyPr wrap="square" anchor="t">
            <a:spAutoFit/>
          </a:bodyPr>
          <a:lstStyle/>
          <a:p>
            <a:pPr algn="ctr"/>
            <a:r>
              <a:rPr sz="1200" b="0">
                <a:solidFill>
                  <a:srgbClr val="606060"/>
                </a:solidFill>
                <a:latin typeface="Arial"/>
              </a:rPr>
              <a:t>Hình 22 — F1, ROUGE-L, độ trễ, độ chính xác phân loại: chỉ Gemini / RAG cơ bản / RAG hướng tác tử</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22</a:t>
            </a:r>
          </a:p>
        </p:txBody>
      </p:sp>
      <p:sp>
        <p:nvSpPr>
          <p:cNvPr id="6" name="Rounded Rectangle 5"/>
          <p:cNvSpPr/>
          <p:nvPr/>
        </p:nvSpPr>
        <p:spPr>
          <a:xfrm>
            <a:off x="365760" y="256032"/>
            <a:ext cx="2340864"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Mục 3.9</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Đánh giá chất lượng câu trả lời bằng RAGAS (gpt-4o-mini)</a:t>
            </a:r>
          </a:p>
        </p:txBody>
      </p:sp>
      <p:pic>
        <p:nvPicPr>
          <p:cNvPr id="8" name="Picture 7" descr="rq7_ragas.png"/>
          <p:cNvPicPr>
            <a:picLocks noChangeAspect="1"/>
          </p:cNvPicPr>
          <p:nvPr/>
        </p:nvPicPr>
        <p:blipFill>
          <a:blip r:embed="rId2"/>
          <a:stretch>
            <a:fillRect/>
          </a:stretch>
        </p:blipFill>
        <p:spPr>
          <a:xfrm>
            <a:off x="548640" y="1976944"/>
            <a:ext cx="7040880" cy="3909951"/>
          </a:xfrm>
          <a:prstGeom prst="rect">
            <a:avLst/>
          </a:prstGeom>
        </p:spPr>
      </p:pic>
      <p:sp>
        <p:nvSpPr>
          <p:cNvPr id="9" name="TextBox 8"/>
          <p:cNvSpPr txBox="1"/>
          <p:nvPr/>
        </p:nvSpPr>
        <p:spPr>
          <a:xfrm>
            <a:off x="7818120" y="1737360"/>
            <a:ext cx="4023360" cy="4389120"/>
          </a:xfrm>
          <a:prstGeom prst="rect">
            <a:avLst/>
          </a:prstGeom>
          <a:noFill/>
        </p:spPr>
        <p:txBody>
          <a:bodyPr wrap="square" anchor="t">
            <a:spAutoFit/>
          </a:bodyPr>
          <a:lstStyle/>
          <a:p>
            <a:pPr>
              <a:spcAft>
                <a:spcPts val="700"/>
              </a:spcAft>
            </a:pPr>
            <a:r>
              <a:rPr sz="1600" b="1">
                <a:solidFill>
                  <a:srgbClr val="212121"/>
                </a:solidFill>
                <a:latin typeface="Arial"/>
              </a:rPr>
              <a:t>▸  context_precision = 0,885 (rất cao)</a:t>
            </a:r>
          </a:p>
          <a:p>
            <a:pPr lvl="1">
              <a:spcAft>
                <a:spcPts val="700"/>
              </a:spcAft>
            </a:pPr>
            <a:r>
              <a:rPr sz="1400" b="0">
                <a:solidFill>
                  <a:srgbClr val="333333"/>
                </a:solidFill>
                <a:latin typeface="Arial"/>
              </a:rPr>
              <a:t>–  chunk lấy lên đa số liên quan, ít nhiễu</a:t>
            </a:r>
          </a:p>
          <a:p>
            <a:pPr>
              <a:spcAft>
                <a:spcPts val="700"/>
              </a:spcAft>
            </a:pPr>
            <a:r>
              <a:rPr sz="1600" b="1">
                <a:solidFill>
                  <a:srgbClr val="212121"/>
                </a:solidFill>
                <a:latin typeface="Arial"/>
              </a:rPr>
              <a:t>▸  faithfulness = 0,550</a:t>
            </a:r>
          </a:p>
          <a:p>
            <a:pPr lvl="1">
              <a:spcAft>
                <a:spcPts val="700"/>
              </a:spcAft>
            </a:pPr>
            <a:r>
              <a:rPr sz="1400" b="0">
                <a:solidFill>
                  <a:srgbClr val="333333"/>
                </a:solidFill>
                <a:latin typeface="Arial"/>
              </a:rPr>
              <a:t>–  hơn nửa khẳng định bám ngữ cảnh</a:t>
            </a:r>
          </a:p>
          <a:p>
            <a:pPr>
              <a:spcAft>
                <a:spcPts val="700"/>
              </a:spcAft>
            </a:pPr>
            <a:r>
              <a:rPr sz="1600" b="1">
                <a:solidFill>
                  <a:srgbClr val="212121"/>
                </a:solidFill>
                <a:latin typeface="Arial"/>
              </a:rPr>
              <a:t>▸  context_recall = 0,452 = BOTTLENECK</a:t>
            </a:r>
          </a:p>
          <a:p>
            <a:pPr lvl="1">
              <a:spcAft>
                <a:spcPts val="700"/>
              </a:spcAft>
            </a:pPr>
            <a:r>
              <a:rPr sz="1400" b="0">
                <a:solidFill>
                  <a:srgbClr val="333333"/>
                </a:solidFill>
                <a:latin typeface="Arial"/>
              </a:rPr>
              <a:t>–  mới bắt ~45% facts cần thiết</a:t>
            </a:r>
          </a:p>
          <a:p>
            <a:pPr>
              <a:spcAft>
                <a:spcPts val="700"/>
              </a:spcAft>
            </a:pPr>
            <a:r>
              <a:rPr sz="1600" b="1">
                <a:solidFill>
                  <a:srgbClr val="212121"/>
                </a:solidFill>
                <a:latin typeface="Arial"/>
              </a:rPr>
              <a:t>▸  answer_relevancy: lỗi lib RAGAS 0.2 (không kết luận)</a:t>
            </a:r>
          </a:p>
        </p:txBody>
      </p:sp>
      <p:sp>
        <p:nvSpPr>
          <p:cNvPr id="10" name="TextBox 9"/>
          <p:cNvSpPr txBox="1"/>
          <p:nvPr/>
        </p:nvSpPr>
        <p:spPr>
          <a:xfrm>
            <a:off x="457200" y="6035040"/>
            <a:ext cx="11247120" cy="365760"/>
          </a:xfrm>
          <a:prstGeom prst="rect">
            <a:avLst/>
          </a:prstGeom>
          <a:noFill/>
        </p:spPr>
        <p:txBody>
          <a:bodyPr wrap="square" anchor="t">
            <a:spAutoFit/>
          </a:bodyPr>
          <a:lstStyle/>
          <a:p>
            <a:pPr algn="ctr"/>
            <a:r>
              <a:rPr sz="1200" b="0">
                <a:solidFill>
                  <a:srgbClr val="606060"/>
                </a:solidFill>
                <a:latin typeface="Arial"/>
              </a:rPr>
              <a:t>Hình 23 — Phân phối độ chính xác ngữ cảnh, độ trung thực, độ phủ ngữ cảnh (n=35)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23</a:t>
            </a:r>
          </a:p>
        </p:txBody>
      </p:sp>
      <p:sp>
        <p:nvSpPr>
          <p:cNvPr id="6" name="Rounded Rectangle 5"/>
          <p:cNvSpPr/>
          <p:nvPr/>
        </p:nvSpPr>
        <p:spPr>
          <a:xfrm>
            <a:off x="365760" y="256032"/>
            <a:ext cx="2487168"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Mục 3.10</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Phân tích chi phí &amp; hiệu năng vận hành</a:t>
            </a:r>
          </a:p>
        </p:txBody>
      </p:sp>
      <p:pic>
        <p:nvPicPr>
          <p:cNvPr id="8" name="Picture 7" descr="rq8_node_breakdown.png"/>
          <p:cNvPicPr>
            <a:picLocks noChangeAspect="1"/>
          </p:cNvPicPr>
          <p:nvPr/>
        </p:nvPicPr>
        <p:blipFill>
          <a:blip r:embed="rId2"/>
          <a:stretch>
            <a:fillRect/>
          </a:stretch>
        </p:blipFill>
        <p:spPr>
          <a:xfrm>
            <a:off x="548640" y="1790406"/>
            <a:ext cx="7040880" cy="4283027"/>
          </a:xfrm>
          <a:prstGeom prst="rect">
            <a:avLst/>
          </a:prstGeom>
        </p:spPr>
      </p:pic>
      <p:sp>
        <p:nvSpPr>
          <p:cNvPr id="9" name="TextBox 8"/>
          <p:cNvSpPr txBox="1"/>
          <p:nvPr/>
        </p:nvSpPr>
        <p:spPr>
          <a:xfrm>
            <a:off x="7818120" y="1737360"/>
            <a:ext cx="4023360" cy="4389120"/>
          </a:xfrm>
          <a:prstGeom prst="rect">
            <a:avLst/>
          </a:prstGeom>
          <a:noFill/>
        </p:spPr>
        <p:txBody>
          <a:bodyPr wrap="square" anchor="t">
            <a:spAutoFit/>
          </a:bodyPr>
          <a:lstStyle/>
          <a:p>
            <a:pPr>
              <a:spcAft>
                <a:spcPts val="700"/>
              </a:spcAft>
            </a:pPr>
            <a:r>
              <a:rPr sz="1600" b="1">
                <a:solidFill>
                  <a:srgbClr val="212121"/>
                </a:solidFill>
                <a:latin typeface="Arial"/>
              </a:rPr>
              <a:t>▸  Cost = $0,00344 / câu</a:t>
            </a:r>
          </a:p>
          <a:p>
            <a:pPr lvl="1">
              <a:spcAft>
                <a:spcPts val="700"/>
              </a:spcAft>
            </a:pPr>
            <a:r>
              <a:rPr sz="1400" b="0">
                <a:solidFill>
                  <a:srgbClr val="333333"/>
                </a:solidFill>
                <a:latin typeface="Arial"/>
              </a:rPr>
              <a:t>–  legal_rag chiếm 77%</a:t>
            </a:r>
          </a:p>
          <a:p>
            <a:pPr lvl="1">
              <a:spcAft>
                <a:spcPts val="700"/>
              </a:spcAft>
            </a:pPr>
            <a:r>
              <a:rPr sz="1400" b="0">
                <a:solidFill>
                  <a:srgbClr val="333333"/>
                </a:solidFill>
                <a:latin typeface="Arial"/>
              </a:rPr>
              <a:t>–  ≈ $46/tháng cho 10.000 query</a:t>
            </a:r>
          </a:p>
          <a:p>
            <a:pPr>
              <a:spcAft>
                <a:spcPts val="700"/>
              </a:spcAft>
            </a:pPr>
            <a:r>
              <a:rPr sz="1600" b="1">
                <a:solidFill>
                  <a:srgbClr val="212121"/>
                </a:solidFill>
                <a:latin typeface="Arial"/>
              </a:rPr>
              <a:t>▸  Latency agentic mean 33s (có throttle); ~20–25s thực</a:t>
            </a:r>
          </a:p>
          <a:p>
            <a:pPr>
              <a:spcAft>
                <a:spcPts val="700"/>
              </a:spcAft>
            </a:pPr>
            <a:r>
              <a:rPr sz="1600" b="1">
                <a:solidFill>
                  <a:srgbClr val="212121"/>
                </a:solidFill>
                <a:latin typeface="Arial"/>
              </a:rPr>
              <a:t>▸  Gemini error rate = 14,6%</a:t>
            </a:r>
          </a:p>
          <a:p>
            <a:pPr lvl="1">
              <a:spcAft>
                <a:spcPts val="700"/>
              </a:spcAft>
            </a:pPr>
            <a:r>
              <a:rPr sz="1400" b="0">
                <a:solidFill>
                  <a:srgbClr val="333333"/>
                </a:solidFill>
                <a:latin typeface="Arial"/>
              </a:rPr>
              <a:t>–  free-tier rate limit; cần stable paid tier → &lt;2%</a:t>
            </a:r>
          </a:p>
        </p:txBody>
      </p:sp>
      <p:sp>
        <p:nvSpPr>
          <p:cNvPr id="10" name="TextBox 9"/>
          <p:cNvSpPr txBox="1"/>
          <p:nvPr/>
        </p:nvSpPr>
        <p:spPr>
          <a:xfrm>
            <a:off x="457200" y="6035040"/>
            <a:ext cx="11247120" cy="365760"/>
          </a:xfrm>
          <a:prstGeom prst="rect">
            <a:avLst/>
          </a:prstGeom>
          <a:noFill/>
        </p:spPr>
        <p:txBody>
          <a:bodyPr wrap="square" anchor="t">
            <a:spAutoFit/>
          </a:bodyPr>
          <a:lstStyle/>
          <a:p>
            <a:pPr algn="ctr"/>
            <a:r>
              <a:rPr sz="1200" b="0">
                <a:solidFill>
                  <a:srgbClr val="606060"/>
                </a:solidFill>
                <a:latin typeface="Arial"/>
              </a:rPr>
              <a:t>Hình 24 — Phân bố chi phí &amp; thời gian theo từng nút (truy vết, 1.964 lượt chạy)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24</a:t>
            </a:r>
          </a:p>
        </p:txBody>
      </p:sp>
      <p:sp>
        <p:nvSpPr>
          <p:cNvPr id="6" name="Rounded Rectangle 5"/>
          <p:cNvSpPr/>
          <p:nvPr/>
        </p:nvSpPr>
        <p:spPr>
          <a:xfrm>
            <a:off x="365760" y="256032"/>
            <a:ext cx="2487168" cy="29260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3 · Tổng hợp</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Tổng hợp quyết định thiết kế từ thực nghiệm (Bảng 25)</a:t>
            </a:r>
          </a:p>
        </p:txBody>
      </p:sp>
      <p:graphicFrame>
        <p:nvGraphicFramePr>
          <p:cNvPr id="8" name="Table 7"/>
          <p:cNvGraphicFramePr>
            <a:graphicFrameLocks noGrp="1"/>
          </p:cNvGraphicFramePr>
          <p:nvPr/>
        </p:nvGraphicFramePr>
        <p:xfrm>
          <a:off x="457200" y="1691640"/>
          <a:ext cx="11247120" cy="4224528"/>
        </p:xfrm>
        <a:graphic>
          <a:graphicData uri="http://schemas.openxmlformats.org/drawingml/2006/table">
            <a:tbl>
              <a:tblPr firstRow="1" bandRow="1">
                <a:tableStyleId>{5C22544A-7EE6-4342-B048-85BDC9FD1C3A}</a:tableStyleId>
              </a:tblPr>
              <a:tblGrid>
                <a:gridCol w="2103120"/>
                <a:gridCol w="4297680"/>
                <a:gridCol w="914400"/>
                <a:gridCol w="3931920"/>
              </a:tblGrid>
              <a:tr h="384048">
                <a:tc>
                  <a:txBody>
                    <a:bodyPr wrap="square"/>
                    <a:lstStyle/>
                    <a:p>
                      <a:pPr algn="ctr"/>
                      <a:r>
                        <a:rPr sz="1300" b="1">
                          <a:solidFill>
                            <a:srgbClr val="FFFFFF"/>
                          </a:solidFill>
                          <a:latin typeface="Arial"/>
                        </a:rPr>
                        <a:t>Thành phần</a:t>
                      </a:r>
                    </a:p>
                  </a:txBody>
                  <a:tcPr>
                    <a:solidFill>
                      <a:srgbClr val="2E7D32"/>
                    </a:solidFill>
                  </a:tcPr>
                </a:tc>
                <a:tc>
                  <a:txBody>
                    <a:bodyPr wrap="square"/>
                    <a:lstStyle/>
                    <a:p>
                      <a:pPr algn="ctr"/>
                      <a:r>
                        <a:rPr sz="1300" b="1">
                          <a:solidFill>
                            <a:srgbClr val="FFFFFF"/>
                          </a:solidFill>
                          <a:latin typeface="Arial"/>
                        </a:rPr>
                        <a:t>Lựa chọn</a:t>
                      </a:r>
                    </a:p>
                  </a:txBody>
                  <a:tcPr>
                    <a:solidFill>
                      <a:srgbClr val="2E7D32"/>
                    </a:solidFill>
                  </a:tcPr>
                </a:tc>
                <a:tc>
                  <a:txBody>
                    <a:bodyPr wrap="square"/>
                    <a:lstStyle/>
                    <a:p>
                      <a:pPr algn="ctr"/>
                      <a:r>
                        <a:rPr sz="1300" b="1">
                          <a:solidFill>
                            <a:srgbClr val="FFFFFF"/>
                          </a:solidFill>
                          <a:latin typeface="Arial"/>
                        </a:rPr>
                        <a:t>Mục</a:t>
                      </a:r>
                    </a:p>
                  </a:txBody>
                  <a:tcPr>
                    <a:solidFill>
                      <a:srgbClr val="2E7D32"/>
                    </a:solidFill>
                  </a:tcPr>
                </a:tc>
                <a:tc>
                  <a:txBody>
                    <a:bodyPr wrap="square"/>
                    <a:lstStyle/>
                    <a:p>
                      <a:pPr algn="ctr"/>
                      <a:r>
                        <a:rPr sz="1300" b="1">
                          <a:solidFill>
                            <a:srgbClr val="FFFFFF"/>
                          </a:solidFill>
                          <a:latin typeface="Arial"/>
                        </a:rPr>
                        <a:t>Số liệu chính</a:t>
                      </a:r>
                    </a:p>
                  </a:txBody>
                  <a:tcPr>
                    <a:solidFill>
                      <a:srgbClr val="2E7D32"/>
                    </a:solidFill>
                  </a:tcPr>
                </a:tc>
              </a:tr>
              <a:tr h="384048">
                <a:tc>
                  <a:txBody>
                    <a:bodyPr wrap="square"/>
                    <a:lstStyle/>
                    <a:p>
                      <a:pPr algn="l"/>
                      <a:r>
                        <a:rPr sz="1200" b="1">
                          <a:solidFill>
                            <a:srgbClr val="212121"/>
                          </a:solidFill>
                          <a:latin typeface="Arial"/>
                        </a:rPr>
                        <a:t>Phân đoạn</a:t>
                      </a:r>
                    </a:p>
                  </a:txBody>
                  <a:tcPr>
                    <a:solidFill>
                      <a:srgbClr val="FFF3E0"/>
                    </a:solidFill>
                  </a:tcPr>
                </a:tc>
                <a:tc>
                  <a:txBody>
                    <a:bodyPr wrap="square"/>
                    <a:lstStyle/>
                    <a:p>
                      <a:pPr algn="ctr"/>
                      <a:r>
                        <a:rPr sz="1200" b="1">
                          <a:solidFill>
                            <a:srgbClr val="212121"/>
                          </a:solidFill>
                          <a:latin typeface="Arial"/>
                        </a:rPr>
                        <a:t>Phân cấp Điều→Khoản→Điểm</a:t>
                      </a:r>
                    </a:p>
                  </a:txBody>
                  <a:tcPr>
                    <a:solidFill>
                      <a:srgbClr val="FFF3E0"/>
                    </a:solidFill>
                  </a:tcPr>
                </a:tc>
                <a:tc>
                  <a:txBody>
                    <a:bodyPr wrap="square"/>
                    <a:lstStyle/>
                    <a:p>
                      <a:pPr algn="ctr"/>
                      <a:r>
                        <a:rPr sz="1200" b="1">
                          <a:solidFill>
                            <a:srgbClr val="212121"/>
                          </a:solidFill>
                          <a:latin typeface="Arial"/>
                        </a:rPr>
                        <a:t>3.3</a:t>
                      </a:r>
                    </a:p>
                  </a:txBody>
                  <a:tcPr>
                    <a:solidFill>
                      <a:srgbClr val="FFF3E0"/>
                    </a:solidFill>
                  </a:tcPr>
                </a:tc>
                <a:tc>
                  <a:txBody>
                    <a:bodyPr wrap="square"/>
                    <a:lstStyle/>
                    <a:p>
                      <a:pPr algn="ctr"/>
                      <a:r>
                        <a:rPr sz="1200" b="1">
                          <a:solidFill>
                            <a:srgbClr val="212121"/>
                          </a:solidFill>
                          <a:latin typeface="Arial"/>
                        </a:rPr>
                        <a:t>Cit-R 0,41 vs 0,17 (×2,4)</a:t>
                      </a:r>
                    </a:p>
                  </a:txBody>
                  <a:tcPr>
                    <a:solidFill>
                      <a:srgbClr val="FFF3E0"/>
                    </a:solidFill>
                  </a:tcPr>
                </a:tc>
              </a:tr>
              <a:tr h="384048">
                <a:tc>
                  <a:txBody>
                    <a:bodyPr wrap="square"/>
                    <a:lstStyle/>
                    <a:p>
                      <a:pPr algn="l"/>
                      <a:r>
                        <a:rPr sz="1200" b="0">
                          <a:solidFill>
                            <a:srgbClr val="212121"/>
                          </a:solidFill>
                          <a:latin typeface="Arial"/>
                        </a:rPr>
                        <a:t>Mô hình nhúng</a:t>
                      </a:r>
                    </a:p>
                  </a:txBody>
                  <a:tcPr>
                    <a:solidFill>
                      <a:srgbClr val="EEEEEE"/>
                    </a:solidFill>
                  </a:tcPr>
                </a:tc>
                <a:tc>
                  <a:txBody>
                    <a:bodyPr wrap="square"/>
                    <a:lstStyle/>
                    <a:p>
                      <a:pPr algn="ctr"/>
                      <a:r>
                        <a:rPr sz="1200" b="0">
                          <a:solidFill>
                            <a:srgbClr val="212121"/>
                          </a:solidFill>
                          <a:latin typeface="Arial"/>
                        </a:rPr>
                        <a:t>multilingual-e5-base 768d</a:t>
                      </a:r>
                    </a:p>
                  </a:txBody>
                  <a:tcPr>
                    <a:solidFill>
                      <a:srgbClr val="EEEEEE"/>
                    </a:solidFill>
                  </a:tcPr>
                </a:tc>
                <a:tc>
                  <a:txBody>
                    <a:bodyPr wrap="square"/>
                    <a:lstStyle/>
                    <a:p>
                      <a:pPr algn="ctr"/>
                      <a:r>
                        <a:rPr sz="1200" b="0">
                          <a:solidFill>
                            <a:srgbClr val="212121"/>
                          </a:solidFill>
                          <a:latin typeface="Arial"/>
                        </a:rPr>
                        <a:t>3.4</a:t>
                      </a:r>
                    </a:p>
                  </a:txBody>
                  <a:tcPr>
                    <a:solidFill>
                      <a:srgbClr val="EEEEEE"/>
                    </a:solidFill>
                  </a:tcPr>
                </a:tc>
                <a:tc>
                  <a:txBody>
                    <a:bodyPr wrap="square"/>
                    <a:lstStyle/>
                    <a:p>
                      <a:pPr algn="ctr"/>
                      <a:r>
                        <a:rPr sz="1200" b="0">
                          <a:solidFill>
                            <a:srgbClr val="212121"/>
                          </a:solidFill>
                          <a:latin typeface="Arial"/>
                        </a:rPr>
                        <a:t>R@10 0,42 (cao nhất 4 MH)</a:t>
                      </a:r>
                    </a:p>
                  </a:txBody>
                  <a:tcPr>
                    <a:solidFill>
                      <a:srgbClr val="EEEEEE"/>
                    </a:solidFill>
                  </a:tcPr>
                </a:tc>
              </a:tr>
              <a:tr h="384048">
                <a:tc>
                  <a:txBody>
                    <a:bodyPr wrap="square"/>
                    <a:lstStyle/>
                    <a:p>
                      <a:pPr algn="l"/>
                      <a:r>
                        <a:rPr sz="1200" b="0">
                          <a:solidFill>
                            <a:srgbClr val="212121"/>
                          </a:solidFill>
                          <a:latin typeface="Arial"/>
                        </a:rPr>
                        <a:t>Cơ sở DL vector</a:t>
                      </a:r>
                    </a:p>
                  </a:txBody>
                  <a:tcPr>
                    <a:solidFill>
                      <a:srgbClr val="FFFFFF"/>
                    </a:solidFill>
                  </a:tcPr>
                </a:tc>
                <a:tc>
                  <a:txBody>
                    <a:bodyPr wrap="square"/>
                    <a:lstStyle/>
                    <a:p>
                      <a:pPr algn="ctr"/>
                      <a:r>
                        <a:rPr sz="1200" b="0">
                          <a:solidFill>
                            <a:srgbClr val="212121"/>
                          </a:solidFill>
                          <a:latin typeface="Arial"/>
                        </a:rPr>
                        <a:t>Qdrant 1.17 HNSW + chỉ mục payload</a:t>
                      </a:r>
                    </a:p>
                  </a:txBody>
                  <a:tcPr>
                    <a:solidFill>
                      <a:srgbClr val="FFFFFF"/>
                    </a:solidFill>
                  </a:tcPr>
                </a:tc>
                <a:tc>
                  <a:txBody>
                    <a:bodyPr wrap="square"/>
                    <a:lstStyle/>
                    <a:p>
                      <a:pPr algn="ctr"/>
                      <a:r>
                        <a:rPr sz="1200" b="0">
                          <a:solidFill>
                            <a:srgbClr val="212121"/>
                          </a:solidFill>
                          <a:latin typeface="Arial"/>
                        </a:rPr>
                        <a:t>3.5</a:t>
                      </a:r>
                    </a:p>
                  </a:txBody>
                  <a:tcPr>
                    <a:solidFill>
                      <a:srgbClr val="FFFFFF"/>
                    </a:solidFill>
                  </a:tcPr>
                </a:tc>
                <a:tc>
                  <a:txBody>
                    <a:bodyPr wrap="square"/>
                    <a:lstStyle/>
                    <a:p>
                      <a:pPr algn="ctr"/>
                      <a:r>
                        <a:rPr sz="1200" b="0">
                          <a:solidFill>
                            <a:srgbClr val="212121"/>
                          </a:solidFill>
                          <a:latin typeface="Arial"/>
                        </a:rPr>
                        <a:t>R@10 0,42, lọc payload</a:t>
                      </a:r>
                    </a:p>
                  </a:txBody>
                  <a:tcPr>
                    <a:solidFill>
                      <a:srgbClr val="FFFFFF"/>
                    </a:solidFill>
                  </a:tcPr>
                </a:tc>
              </a:tr>
              <a:tr h="384048">
                <a:tc>
                  <a:txBody>
                    <a:bodyPr wrap="square"/>
                    <a:lstStyle/>
                    <a:p>
                      <a:pPr algn="l"/>
                      <a:r>
                        <a:rPr sz="1200" b="0">
                          <a:solidFill>
                            <a:srgbClr val="212121"/>
                          </a:solidFill>
                          <a:latin typeface="Arial"/>
                        </a:rPr>
                        <a:t>Truy xuất thưa</a:t>
                      </a:r>
                    </a:p>
                  </a:txBody>
                  <a:tcPr>
                    <a:solidFill>
                      <a:srgbClr val="EEEEEE"/>
                    </a:solidFill>
                  </a:tcPr>
                </a:tc>
                <a:tc>
                  <a:txBody>
                    <a:bodyPr wrap="square"/>
                    <a:lstStyle/>
                    <a:p>
                      <a:pPr algn="ctr"/>
                      <a:r>
                        <a:rPr sz="1200" b="0">
                          <a:solidFill>
                            <a:srgbClr val="212121"/>
                          </a:solidFill>
                          <a:latin typeface="Arial"/>
                        </a:rPr>
                        <a:t>BM25 Okapi (k₁=1,5; b=0,75) + pyvi</a:t>
                      </a:r>
                    </a:p>
                  </a:txBody>
                  <a:tcPr>
                    <a:solidFill>
                      <a:srgbClr val="EEEEEE"/>
                    </a:solidFill>
                  </a:tcPr>
                </a:tc>
                <a:tc>
                  <a:txBody>
                    <a:bodyPr wrap="square"/>
                    <a:lstStyle/>
                    <a:p>
                      <a:pPr algn="ctr"/>
                      <a:r>
                        <a:rPr sz="1200" b="0">
                          <a:solidFill>
                            <a:srgbClr val="212121"/>
                          </a:solidFill>
                          <a:latin typeface="Arial"/>
                        </a:rPr>
                        <a:t>3.7.1</a:t>
                      </a:r>
                    </a:p>
                  </a:txBody>
                  <a:tcPr>
                    <a:solidFill>
                      <a:srgbClr val="EEEEEE"/>
                    </a:solidFill>
                  </a:tcPr>
                </a:tc>
                <a:tc>
                  <a:txBody>
                    <a:bodyPr wrap="square"/>
                    <a:lstStyle/>
                    <a:p>
                      <a:pPr algn="ctr"/>
                      <a:r>
                        <a:rPr sz="1200" b="0">
                          <a:solidFill>
                            <a:srgbClr val="212121"/>
                          </a:solidFill>
                          <a:latin typeface="Arial"/>
                        </a:rPr>
                        <a:t>Truy xuất lai R@10 0,324</a:t>
                      </a:r>
                    </a:p>
                  </a:txBody>
                  <a:tcPr>
                    <a:solidFill>
                      <a:srgbClr val="EEEEEE"/>
                    </a:solidFill>
                  </a:tcPr>
                </a:tc>
              </a:tr>
              <a:tr h="384048">
                <a:tc>
                  <a:txBody>
                    <a:bodyPr wrap="square"/>
                    <a:lstStyle/>
                    <a:p>
                      <a:pPr algn="l"/>
                      <a:r>
                        <a:rPr sz="1200" b="1">
                          <a:solidFill>
                            <a:srgbClr val="212121"/>
                          </a:solidFill>
                          <a:latin typeface="Arial"/>
                        </a:rPr>
                        <a:t>Mở rộng truy vấn</a:t>
                      </a:r>
                    </a:p>
                  </a:txBody>
                  <a:tcPr>
                    <a:solidFill>
                      <a:srgbClr val="FFF3E0"/>
                    </a:solidFill>
                  </a:tcPr>
                </a:tc>
                <a:tc>
                  <a:txBody>
                    <a:bodyPr wrap="square"/>
                    <a:lstStyle/>
                    <a:p>
                      <a:pPr algn="ctr"/>
                      <a:r>
                        <a:rPr sz="1200" b="1">
                          <a:solidFill>
                            <a:srgbClr val="212121"/>
                          </a:solidFill>
                          <a:latin typeface="Arial"/>
                        </a:rPr>
                        <a:t>BẬT</a:t>
                      </a:r>
                    </a:p>
                  </a:txBody>
                  <a:tcPr>
                    <a:solidFill>
                      <a:srgbClr val="FFF3E0"/>
                    </a:solidFill>
                  </a:tcPr>
                </a:tc>
                <a:tc>
                  <a:txBody>
                    <a:bodyPr wrap="square"/>
                    <a:lstStyle/>
                    <a:p>
                      <a:pPr algn="ctr"/>
                      <a:r>
                        <a:rPr sz="1200" b="1">
                          <a:solidFill>
                            <a:srgbClr val="212121"/>
                          </a:solidFill>
                          <a:latin typeface="Arial"/>
                        </a:rPr>
                        <a:t>3.7.2</a:t>
                      </a:r>
                    </a:p>
                  </a:txBody>
                  <a:tcPr>
                    <a:solidFill>
                      <a:srgbClr val="FFF3E0"/>
                    </a:solidFill>
                  </a:tcPr>
                </a:tc>
                <a:tc>
                  <a:txBody>
                    <a:bodyPr wrap="square"/>
                    <a:lstStyle/>
                    <a:p>
                      <a:pPr algn="ctr"/>
                      <a:r>
                        <a:rPr sz="1200" b="1">
                          <a:solidFill>
                            <a:srgbClr val="212121"/>
                          </a:solidFill>
                          <a:latin typeface="Arial"/>
                        </a:rPr>
                        <a:t>R@10 0,581 vs 0,324 (+26 pts)</a:t>
                      </a:r>
                    </a:p>
                  </a:txBody>
                  <a:tcPr>
                    <a:solidFill>
                      <a:srgbClr val="FFF3E0"/>
                    </a:solidFill>
                  </a:tcPr>
                </a:tc>
              </a:tr>
              <a:tr h="384048">
                <a:tc>
                  <a:txBody>
                    <a:bodyPr wrap="square"/>
                    <a:lstStyle/>
                    <a:p>
                      <a:pPr algn="l"/>
                      <a:r>
                        <a:rPr sz="1200" b="0">
                          <a:solidFill>
                            <a:srgbClr val="212121"/>
                          </a:solidFill>
                          <a:latin typeface="Arial"/>
                        </a:rPr>
                        <a:t>Xếp hạng lại</a:t>
                      </a:r>
                    </a:p>
                  </a:txBody>
                  <a:tcPr>
                    <a:solidFill>
                      <a:srgbClr val="EEEEEE"/>
                    </a:solidFill>
                  </a:tcPr>
                </a:tc>
                <a:tc>
                  <a:txBody>
                    <a:bodyPr wrap="square"/>
                    <a:lstStyle/>
                    <a:p>
                      <a:pPr algn="ctr"/>
                      <a:r>
                        <a:rPr sz="1200" b="0">
                          <a:solidFill>
                            <a:srgbClr val="212121"/>
                          </a:solidFill>
                          <a:latin typeface="Arial"/>
                        </a:rPr>
                        <a:t>TẮT mặc định (bật khi có GPU)</a:t>
                      </a:r>
                    </a:p>
                  </a:txBody>
                  <a:tcPr>
                    <a:solidFill>
                      <a:srgbClr val="EEEEEE"/>
                    </a:solidFill>
                  </a:tcPr>
                </a:tc>
                <a:tc>
                  <a:txBody>
                    <a:bodyPr wrap="square"/>
                    <a:lstStyle/>
                    <a:p>
                      <a:pPr algn="ctr"/>
                      <a:r>
                        <a:rPr sz="1200" b="0">
                          <a:solidFill>
                            <a:srgbClr val="212121"/>
                          </a:solidFill>
                          <a:latin typeface="Arial"/>
                        </a:rPr>
                        <a:t>3.7.3</a:t>
                      </a:r>
                    </a:p>
                  </a:txBody>
                  <a:tcPr>
                    <a:solidFill>
                      <a:srgbClr val="EEEEEE"/>
                    </a:solidFill>
                  </a:tcPr>
                </a:tc>
                <a:tc>
                  <a:txBody>
                    <a:bodyPr wrap="square"/>
                    <a:lstStyle/>
                    <a:p>
                      <a:pPr algn="ctr"/>
                      <a:r>
                        <a:rPr sz="1200" b="0">
                          <a:solidFill>
                            <a:srgbClr val="212121"/>
                          </a:solidFill>
                          <a:latin typeface="Arial"/>
                        </a:rPr>
                        <a:t>+48,5% R@10 nhưng ×156 độ trễ</a:t>
                      </a:r>
                    </a:p>
                  </a:txBody>
                  <a:tcPr>
                    <a:solidFill>
                      <a:srgbClr val="EEEEEE"/>
                    </a:solidFill>
                  </a:tcPr>
                </a:tc>
              </a:tr>
              <a:tr h="384048">
                <a:tc>
                  <a:txBody>
                    <a:bodyPr wrap="square"/>
                    <a:lstStyle/>
                    <a:p>
                      <a:pPr algn="l"/>
                      <a:r>
                        <a:rPr sz="1200" b="1">
                          <a:solidFill>
                            <a:srgbClr val="212121"/>
                          </a:solidFill>
                          <a:latin typeface="Arial"/>
                        </a:rPr>
                        <a:t>Lệnh hướng dẫn</a:t>
                      </a:r>
                    </a:p>
                  </a:txBody>
                  <a:tcPr>
                    <a:solidFill>
                      <a:srgbClr val="FFF3E0"/>
                    </a:solidFill>
                  </a:tcPr>
                </a:tc>
                <a:tc>
                  <a:txBody>
                    <a:bodyPr wrap="square"/>
                    <a:lstStyle/>
                    <a:p>
                      <a:pPr algn="ctr"/>
                      <a:r>
                        <a:rPr sz="1200" b="1">
                          <a:solidFill>
                            <a:srgbClr val="212121"/>
                          </a:solidFill>
                          <a:latin typeface="Arial"/>
                        </a:rPr>
                        <a:t>Đầy đủ quy tắc + lọc trích dẫn</a:t>
                      </a:r>
                    </a:p>
                  </a:txBody>
                  <a:tcPr>
                    <a:solidFill>
                      <a:srgbClr val="FFF3E0"/>
                    </a:solidFill>
                  </a:tcPr>
                </a:tc>
                <a:tc>
                  <a:txBody>
                    <a:bodyPr wrap="square"/>
                    <a:lstStyle/>
                    <a:p>
                      <a:pPr algn="ctr"/>
                      <a:r>
                        <a:rPr sz="1200" b="1">
                          <a:solidFill>
                            <a:srgbClr val="212121"/>
                          </a:solidFill>
                          <a:latin typeface="Arial"/>
                        </a:rPr>
                        <a:t>3.6</a:t>
                      </a:r>
                    </a:p>
                  </a:txBody>
                  <a:tcPr>
                    <a:solidFill>
                      <a:srgbClr val="FFF3E0"/>
                    </a:solidFill>
                  </a:tcPr>
                </a:tc>
                <a:tc>
                  <a:txBody>
                    <a:bodyPr wrap="square"/>
                    <a:lstStyle/>
                    <a:p>
                      <a:pPr algn="ctr"/>
                      <a:r>
                        <a:rPr sz="1200" b="1">
                          <a:solidFill>
                            <a:srgbClr val="212121"/>
                          </a:solidFill>
                          <a:latin typeface="Arial"/>
                        </a:rPr>
                        <a:t>Cit-F1 0,279 vs 0,032 (×8,7)</a:t>
                      </a:r>
                    </a:p>
                  </a:txBody>
                  <a:tcPr>
                    <a:solidFill>
                      <a:srgbClr val="FFF3E0"/>
                    </a:solidFill>
                  </a:tcPr>
                </a:tc>
              </a:tr>
              <a:tr h="384048">
                <a:tc>
                  <a:txBody>
                    <a:bodyPr wrap="square"/>
                    <a:lstStyle/>
                    <a:p>
                      <a:pPr algn="l"/>
                      <a:r>
                        <a:rPr sz="1200" b="1">
                          <a:solidFill>
                            <a:srgbClr val="212121"/>
                          </a:solidFill>
                          <a:latin typeface="Arial"/>
                        </a:rPr>
                        <a:t>Kiến trúc</a:t>
                      </a:r>
                    </a:p>
                  </a:txBody>
                  <a:tcPr>
                    <a:solidFill>
                      <a:srgbClr val="FFF3E0"/>
                    </a:solidFill>
                  </a:tcPr>
                </a:tc>
                <a:tc>
                  <a:txBody>
                    <a:bodyPr wrap="square"/>
                    <a:lstStyle/>
                    <a:p>
                      <a:pPr algn="ctr"/>
                      <a:r>
                        <a:rPr sz="1200" b="1">
                          <a:solidFill>
                            <a:srgbClr val="212121"/>
                          </a:solidFill>
                          <a:latin typeface="Arial"/>
                        </a:rPr>
                        <a:t>RAG hướng tác tử (LangGraph 6 nút)</a:t>
                      </a:r>
                    </a:p>
                  </a:txBody>
                  <a:tcPr>
                    <a:solidFill>
                      <a:srgbClr val="FFF3E0"/>
                    </a:solidFill>
                  </a:tcPr>
                </a:tc>
                <a:tc>
                  <a:txBody>
                    <a:bodyPr wrap="square"/>
                    <a:lstStyle/>
                    <a:p>
                      <a:pPr algn="ctr"/>
                      <a:r>
                        <a:rPr sz="1200" b="1">
                          <a:solidFill>
                            <a:srgbClr val="212121"/>
                          </a:solidFill>
                          <a:latin typeface="Arial"/>
                        </a:rPr>
                        <a:t>3.8</a:t>
                      </a:r>
                    </a:p>
                  </a:txBody>
                  <a:tcPr>
                    <a:solidFill>
                      <a:srgbClr val="FFF3E0"/>
                    </a:solidFill>
                  </a:tcPr>
                </a:tc>
                <a:tc>
                  <a:txBody>
                    <a:bodyPr wrap="square"/>
                    <a:lstStyle/>
                    <a:p>
                      <a:pPr algn="ctr"/>
                      <a:r>
                        <a:rPr sz="1200" b="1">
                          <a:solidFill>
                            <a:srgbClr val="212121"/>
                          </a:solidFill>
                          <a:latin typeface="Arial"/>
                        </a:rPr>
                        <a:t>Phân loại 0,975 vs 0,875</a:t>
                      </a:r>
                    </a:p>
                  </a:txBody>
                  <a:tcPr>
                    <a:solidFill>
                      <a:srgbClr val="FFF3E0"/>
                    </a:solidFill>
                  </a:tcPr>
                </a:tc>
              </a:tr>
              <a:tr h="384048">
                <a:tc>
                  <a:txBody>
                    <a:bodyPr wrap="square"/>
                    <a:lstStyle/>
                    <a:p>
                      <a:pPr algn="l"/>
                      <a:r>
                        <a:rPr sz="1200" b="0">
                          <a:solidFill>
                            <a:srgbClr val="212121"/>
                          </a:solidFill>
                          <a:latin typeface="Arial"/>
                        </a:rPr>
                        <a:t>LLM</a:t>
                      </a:r>
                    </a:p>
                  </a:txBody>
                  <a:tcPr>
                    <a:solidFill>
                      <a:srgbClr val="FFFFFF"/>
                    </a:solidFill>
                  </a:tcPr>
                </a:tc>
                <a:tc>
                  <a:txBody>
                    <a:bodyPr wrap="square"/>
                    <a:lstStyle/>
                    <a:p>
                      <a:pPr algn="ctr"/>
                      <a:r>
                        <a:rPr sz="1200" b="0">
                          <a:solidFill>
                            <a:srgbClr val="212121"/>
                          </a:solidFill>
                          <a:latin typeface="Arial"/>
                        </a:rPr>
                        <a:t>Gemini 3.1 Flash Lite Preview</a:t>
                      </a:r>
                    </a:p>
                  </a:txBody>
                  <a:tcPr>
                    <a:solidFill>
                      <a:srgbClr val="FFFFFF"/>
                    </a:solidFill>
                  </a:tcPr>
                </a:tc>
                <a:tc>
                  <a:txBody>
                    <a:bodyPr wrap="square"/>
                    <a:lstStyle/>
                    <a:p>
                      <a:pPr algn="ctr"/>
                      <a:r>
                        <a:rPr sz="1200" b="0">
                          <a:solidFill>
                            <a:srgbClr val="212121"/>
                          </a:solidFill>
                          <a:latin typeface="Arial"/>
                        </a:rPr>
                        <a:t>3.10</a:t>
                      </a:r>
                    </a:p>
                  </a:txBody>
                  <a:tcPr>
                    <a:solidFill>
                      <a:srgbClr val="FFFFFF"/>
                    </a:solidFill>
                  </a:tcPr>
                </a:tc>
                <a:tc>
                  <a:txBody>
                    <a:bodyPr wrap="square"/>
                    <a:lstStyle/>
                    <a:p>
                      <a:pPr algn="ctr"/>
                      <a:r>
                        <a:rPr sz="1200" b="0">
                          <a:solidFill>
                            <a:srgbClr val="212121"/>
                          </a:solidFill>
                          <a:latin typeface="Arial"/>
                        </a:rPr>
                        <a:t>0,00344 USD/câu · lỗi 14,6%</a:t>
                      </a:r>
                    </a:p>
                  </a:txBody>
                  <a:tcPr>
                    <a:solidFill>
                      <a:srgbClr val="FFFFFF"/>
                    </a:solidFill>
                  </a:tcPr>
                </a:tc>
              </a:tr>
              <a:tr h="384048">
                <a:tc>
                  <a:txBody>
                    <a:bodyPr wrap="square"/>
                    <a:lstStyle/>
                    <a:p>
                      <a:pPr algn="l"/>
                      <a:r>
                        <a:rPr sz="1200" b="0">
                          <a:solidFill>
                            <a:srgbClr val="212121"/>
                          </a:solidFill>
                          <a:latin typeface="Arial"/>
                        </a:rPr>
                        <a:t>Giám khảo</a:t>
                      </a:r>
                    </a:p>
                  </a:txBody>
                  <a:tcPr>
                    <a:solidFill>
                      <a:srgbClr val="EEEEEE"/>
                    </a:solidFill>
                  </a:tcPr>
                </a:tc>
                <a:tc>
                  <a:txBody>
                    <a:bodyPr wrap="square"/>
                    <a:lstStyle/>
                    <a:p>
                      <a:pPr algn="ctr"/>
                      <a:r>
                        <a:rPr sz="1200" b="0">
                          <a:solidFill>
                            <a:srgbClr val="212121"/>
                          </a:solidFill>
                          <a:latin typeface="Arial"/>
                        </a:rPr>
                        <a:t>RAGAS + gpt-4o-mini</a:t>
                      </a:r>
                    </a:p>
                  </a:txBody>
                  <a:tcPr>
                    <a:solidFill>
                      <a:srgbClr val="EEEEEE"/>
                    </a:solidFill>
                  </a:tcPr>
                </a:tc>
                <a:tc>
                  <a:txBody>
                    <a:bodyPr wrap="square"/>
                    <a:lstStyle/>
                    <a:p>
                      <a:pPr algn="ctr"/>
                      <a:r>
                        <a:rPr sz="1200" b="0">
                          <a:solidFill>
                            <a:srgbClr val="212121"/>
                          </a:solidFill>
                          <a:latin typeface="Arial"/>
                        </a:rPr>
                        <a:t>3.9</a:t>
                      </a:r>
                    </a:p>
                  </a:txBody>
                  <a:tcPr>
                    <a:solidFill>
                      <a:srgbClr val="EEEEEE"/>
                    </a:solidFill>
                  </a:tcPr>
                </a:tc>
                <a:tc>
                  <a:txBody>
                    <a:bodyPr wrap="square"/>
                    <a:lstStyle/>
                    <a:p>
                      <a:pPr algn="ctr"/>
                      <a:r>
                        <a:rPr sz="1200" b="0">
                          <a:solidFill>
                            <a:srgbClr val="212121"/>
                          </a:solidFill>
                          <a:latin typeface="Arial"/>
                        </a:rPr>
                        <a:t>chính xác 0,885 · phủ 0,452</a:t>
                      </a:r>
                    </a:p>
                  </a:txBody>
                  <a:tcPr>
                    <a:solidFill>
                      <a:srgbClr val="EEEEEE"/>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25</a:t>
            </a:r>
          </a:p>
        </p:txBody>
      </p:sp>
      <p:sp>
        <p:nvSpPr>
          <p:cNvPr id="6" name="Rounded Rectangle 5"/>
          <p:cNvSpPr/>
          <p:nvPr/>
        </p:nvSpPr>
        <p:spPr>
          <a:xfrm>
            <a:off x="365760" y="256032"/>
            <a:ext cx="2779776" cy="292608"/>
          </a:xfrm>
          <a:prstGeom prst="round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4 · Triển khai</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Triển khai production — $0/tháng &amp; CI/CD</a:t>
            </a:r>
          </a:p>
        </p:txBody>
      </p:sp>
      <p:sp>
        <p:nvSpPr>
          <p:cNvPr id="8" name="Rounded Rectangle 7"/>
          <p:cNvSpPr/>
          <p:nvPr/>
        </p:nvSpPr>
        <p:spPr>
          <a:xfrm>
            <a:off x="548640" y="1828800"/>
            <a:ext cx="1645920" cy="731520"/>
          </a:xfrm>
          <a:prstGeom prst="roundRect">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Trình duyệt</a:t>
            </a:r>
          </a:p>
          <a:p>
            <a:pPr algn="ctr"/>
            <a:r>
              <a:rPr sz="1200" b="1">
                <a:solidFill>
                  <a:srgbClr val="FFFFFF"/>
                </a:solidFill>
                <a:latin typeface="Arial"/>
              </a:rPr>
              <a:t>người dùng</a:t>
            </a:r>
          </a:p>
        </p:txBody>
      </p:sp>
      <p:sp>
        <p:nvSpPr>
          <p:cNvPr id="9" name="Rounded Rectangle 8"/>
          <p:cNvSpPr/>
          <p:nvPr/>
        </p:nvSpPr>
        <p:spPr>
          <a:xfrm>
            <a:off x="2743200" y="1828800"/>
            <a:ext cx="2468880" cy="77724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Vercel</a:t>
            </a:r>
          </a:p>
          <a:p>
            <a:pPr algn="ctr"/>
            <a:r>
              <a:rPr sz="1200" b="1">
                <a:solidFill>
                  <a:srgbClr val="FFFFFF"/>
                </a:solidFill>
                <a:latin typeface="Arial"/>
              </a:rPr>
              <a:t>Next.js 14 (FE)</a:t>
            </a:r>
          </a:p>
          <a:p>
            <a:pPr algn="ctr"/>
            <a:r>
              <a:rPr sz="1200" b="1">
                <a:solidFill>
                  <a:srgbClr val="FFFFFF"/>
                </a:solidFill>
                <a:latin typeface="Arial"/>
              </a:rPr>
              <a:t>NextAuth</a:t>
            </a:r>
          </a:p>
        </p:txBody>
      </p:sp>
      <p:sp>
        <p:nvSpPr>
          <p:cNvPr id="10" name="Rounded Rectangle 9"/>
          <p:cNvSpPr/>
          <p:nvPr/>
        </p:nvSpPr>
        <p:spPr>
          <a:xfrm>
            <a:off x="5760720" y="1828800"/>
            <a:ext cx="2651760" cy="77724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HF Spaces</a:t>
            </a:r>
          </a:p>
          <a:p>
            <a:pPr algn="ctr"/>
            <a:r>
              <a:rPr sz="1200" b="1">
                <a:solidFill>
                  <a:srgbClr val="FFFFFF"/>
                </a:solidFill>
                <a:latin typeface="Arial"/>
              </a:rPr>
              <a:t>FastAPI + LangGraph</a:t>
            </a:r>
          </a:p>
          <a:p>
            <a:pPr algn="ctr"/>
            <a:r>
              <a:rPr sz="1200" b="1">
                <a:solidFill>
                  <a:srgbClr val="FFFFFF"/>
                </a:solidFill>
                <a:latin typeface="Arial"/>
              </a:rPr>
              <a:t>2 vCPU · 16GB</a:t>
            </a:r>
          </a:p>
        </p:txBody>
      </p:sp>
      <p:sp>
        <p:nvSpPr>
          <p:cNvPr id="11" name="Rounded Rectangle 10"/>
          <p:cNvSpPr/>
          <p:nvPr/>
        </p:nvSpPr>
        <p:spPr>
          <a:xfrm>
            <a:off x="9052560" y="1325880"/>
            <a:ext cx="2651760" cy="731520"/>
          </a:xfrm>
          <a:prstGeom prst="round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Qdrant Cloud</a:t>
            </a:r>
          </a:p>
          <a:p>
            <a:pPr algn="ctr"/>
            <a:r>
              <a:rPr sz="1200" b="1">
                <a:solidFill>
                  <a:srgbClr val="FFFFFF"/>
                </a:solidFill>
                <a:latin typeface="Arial"/>
              </a:rPr>
              <a:t>4.423 × 768d</a:t>
            </a:r>
          </a:p>
        </p:txBody>
      </p:sp>
      <p:sp>
        <p:nvSpPr>
          <p:cNvPr id="12" name="Rounded Rectangle 11"/>
          <p:cNvSpPr/>
          <p:nvPr/>
        </p:nvSpPr>
        <p:spPr>
          <a:xfrm>
            <a:off x="9052560" y="2286000"/>
            <a:ext cx="2651760" cy="731520"/>
          </a:xfrm>
          <a:prstGeom prst="roundRect">
            <a:avLst/>
          </a:prstGeom>
          <a:solidFill>
            <a:srgbClr val="C218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200" b="1">
                <a:solidFill>
                  <a:srgbClr val="FFFFFF"/>
                </a:solidFill>
                <a:latin typeface="Arial"/>
              </a:rPr>
              <a:t>Supabase Postgres</a:t>
            </a:r>
          </a:p>
          <a:p>
            <a:pPr algn="ctr"/>
            <a:r>
              <a:rPr sz="1200" b="1">
                <a:solidFill>
                  <a:srgbClr val="FFFFFF"/>
                </a:solidFill>
                <a:latin typeface="Arial"/>
              </a:rPr>
              <a:t>Auth + checkpoint</a:t>
            </a:r>
          </a:p>
        </p:txBody>
      </p:sp>
      <p:cxnSp>
        <p:nvCxnSpPr>
          <p:cNvPr id="13" name="Connector 12"/>
          <p:cNvCxnSpPr/>
          <p:nvPr/>
        </p:nvCxnSpPr>
        <p:spPr>
          <a:xfrm>
            <a:off x="2194560" y="2194560"/>
            <a:ext cx="54864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212080" y="2194560"/>
            <a:ext cx="54864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412480" y="1691640"/>
            <a:ext cx="640080" cy="365760"/>
          </a:xfrm>
          <a:prstGeom prst="line">
            <a:avLst/>
          </a:prstGeom>
          <a:ln w="1651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412480" y="2377440"/>
            <a:ext cx="640080" cy="274320"/>
          </a:xfrm>
          <a:prstGeom prst="line">
            <a:avLst/>
          </a:prstGeom>
          <a:ln w="1651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977639" y="2606040"/>
            <a:ext cx="5623561" cy="411480"/>
          </a:xfrm>
          <a:prstGeom prst="line">
            <a:avLst/>
          </a:prstGeom>
          <a:ln w="1270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760720" y="3154680"/>
            <a:ext cx="2651760" cy="457200"/>
          </a:xfrm>
          <a:prstGeom prst="round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Gemini · Tavily (dịch vụ ngoài)</a:t>
            </a:r>
          </a:p>
        </p:txBody>
      </p:sp>
      <p:cxnSp>
        <p:nvCxnSpPr>
          <p:cNvPr id="19" name="Connector 18"/>
          <p:cNvCxnSpPr/>
          <p:nvPr/>
        </p:nvCxnSpPr>
        <p:spPr>
          <a:xfrm>
            <a:off x="7040880" y="2606040"/>
            <a:ext cx="0" cy="548640"/>
          </a:xfrm>
          <a:prstGeom prst="line">
            <a:avLst/>
          </a:prstGeom>
          <a:ln w="1397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3931920"/>
            <a:ext cx="5394960" cy="420624"/>
          </a:xfrm>
          <a:prstGeom prst="round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Hạ tầng $0/tháng (free tier)</a:t>
            </a:r>
          </a:p>
        </p:txBody>
      </p:sp>
      <p:sp>
        <p:nvSpPr>
          <p:cNvPr id="21" name="TextBox 20"/>
          <p:cNvSpPr txBox="1"/>
          <p:nvPr/>
        </p:nvSpPr>
        <p:spPr>
          <a:xfrm>
            <a:off x="640080" y="4434840"/>
            <a:ext cx="5303520" cy="1828800"/>
          </a:xfrm>
          <a:prstGeom prst="rect">
            <a:avLst/>
          </a:prstGeom>
          <a:noFill/>
        </p:spPr>
        <p:txBody>
          <a:bodyPr wrap="square" anchor="t">
            <a:spAutoFit/>
          </a:bodyPr>
          <a:lstStyle/>
          <a:p>
            <a:pPr>
              <a:spcAft>
                <a:spcPts val="600"/>
              </a:spcAft>
            </a:pPr>
            <a:r>
              <a:rPr sz="1400" b="1">
                <a:solidFill>
                  <a:srgbClr val="212121"/>
                </a:solidFill>
                <a:latin typeface="Arial"/>
              </a:rPr>
              <a:t>▸  Cùng 1 codebase &amp; Docker image cho local + cloud</a:t>
            </a:r>
          </a:p>
          <a:p>
            <a:pPr lvl="1">
              <a:spcAft>
                <a:spcPts val="600"/>
              </a:spcAft>
            </a:pPr>
            <a:r>
              <a:rPr sz="1200" b="0">
                <a:solidFill>
                  <a:srgbClr val="333333"/>
                </a:solidFill>
                <a:latin typeface="Arial"/>
              </a:rPr>
              <a:t>–  Khác biệt chỉ ở biến môi trường</a:t>
            </a:r>
          </a:p>
          <a:p>
            <a:pPr>
              <a:spcAft>
                <a:spcPts val="600"/>
              </a:spcAft>
            </a:pPr>
            <a:r>
              <a:rPr sz="1400" b="1">
                <a:solidFill>
                  <a:srgbClr val="212121"/>
                </a:solidFill>
                <a:latin typeface="Arial"/>
              </a:rPr>
              <a:t>▸  Local: Docker Compose (Qdrant + FastAPI + Next.js)</a:t>
            </a:r>
          </a:p>
          <a:p>
            <a:pPr>
              <a:spcAft>
                <a:spcPts val="600"/>
              </a:spcAft>
            </a:pPr>
            <a:r>
              <a:rPr sz="1400" b="1">
                <a:solidFill>
                  <a:srgbClr val="212121"/>
                </a:solidFill>
                <a:latin typeface="Arial"/>
              </a:rPr>
              <a:t>▸  Observability: /metrics, /pending, LangSmith always-on</a:t>
            </a:r>
          </a:p>
        </p:txBody>
      </p:sp>
      <p:sp>
        <p:nvSpPr>
          <p:cNvPr id="22" name="Rounded Rectangle 21"/>
          <p:cNvSpPr/>
          <p:nvPr/>
        </p:nvSpPr>
        <p:spPr>
          <a:xfrm>
            <a:off x="6126480" y="3931920"/>
            <a:ext cx="5577840" cy="420624"/>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CI/CD — cổng hồi quy tự động</a:t>
            </a:r>
          </a:p>
        </p:txBody>
      </p:sp>
      <p:sp>
        <p:nvSpPr>
          <p:cNvPr id="23" name="TextBox 22"/>
          <p:cNvSpPr txBox="1"/>
          <p:nvPr/>
        </p:nvSpPr>
        <p:spPr>
          <a:xfrm>
            <a:off x="6217920" y="4434840"/>
            <a:ext cx="5486400" cy="1828800"/>
          </a:xfrm>
          <a:prstGeom prst="rect">
            <a:avLst/>
          </a:prstGeom>
          <a:noFill/>
        </p:spPr>
        <p:txBody>
          <a:bodyPr wrap="square" anchor="t">
            <a:spAutoFit/>
          </a:bodyPr>
          <a:lstStyle/>
          <a:p>
            <a:pPr>
              <a:spcAft>
                <a:spcPts val="600"/>
              </a:spcAft>
            </a:pPr>
            <a:r>
              <a:rPr sz="1400" b="1">
                <a:solidFill>
                  <a:srgbClr val="212121"/>
                </a:solidFill>
                <a:latin typeface="Arial"/>
              </a:rPr>
              <a:t>▸  GitHub Actions: job smoke (6 unit test) + job regression</a:t>
            </a:r>
          </a:p>
          <a:p>
            <a:pPr>
              <a:spcAft>
                <a:spcPts val="600"/>
              </a:spcAft>
            </a:pPr>
            <a:r>
              <a:rPr sz="1400" b="1">
                <a:solidFill>
                  <a:srgbClr val="212121"/>
                </a:solidFill>
                <a:latin typeface="Arial"/>
              </a:rPr>
              <a:t>▸  Assert: mean Recall@10 ≥ 0,40 trên 35 câu legal</a:t>
            </a:r>
          </a:p>
          <a:p>
            <a:pPr>
              <a:spcAft>
                <a:spcPts val="600"/>
              </a:spcAft>
            </a:pPr>
            <a:r>
              <a:rPr sz="1400" b="1">
                <a:solidFill>
                  <a:srgbClr val="212121"/>
                </a:solidFill>
                <a:latin typeface="Arial"/>
              </a:rPr>
              <a:t>▸  Không chunk status=repealed lọt kết quả · latency &lt; 2s</a:t>
            </a:r>
          </a:p>
          <a:p>
            <a:pPr lvl="1">
              <a:spcAft>
                <a:spcPts val="600"/>
              </a:spcAft>
            </a:pPr>
            <a:r>
              <a:rPr sz="1200" b="0">
                <a:solidFill>
                  <a:srgbClr val="333333"/>
                </a:solidFill>
                <a:latin typeface="Arial"/>
              </a:rPr>
              <a:t>–  Fail → block PR (chống cập nhật corpus làm tụt chất lượng)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26</a:t>
            </a:r>
          </a:p>
        </p:txBody>
      </p:sp>
      <p:sp>
        <p:nvSpPr>
          <p:cNvPr id="6" name="Rounded Rectangle 5"/>
          <p:cNvSpPr/>
          <p:nvPr/>
        </p:nvSpPr>
        <p:spPr>
          <a:xfrm>
            <a:off x="365760" y="256032"/>
            <a:ext cx="2487168" cy="292608"/>
          </a:xfrm>
          <a:prstGeom prst="round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4 · Sản phẩm</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Giao diện sản phẩm</a:t>
            </a:r>
          </a:p>
        </p:txBody>
      </p:sp>
      <p:sp>
        <p:nvSpPr>
          <p:cNvPr id="8" name="Rounded Rectangle 7"/>
          <p:cNvSpPr/>
          <p:nvPr/>
        </p:nvSpPr>
        <p:spPr>
          <a:xfrm>
            <a:off x="457200" y="1600200"/>
            <a:ext cx="5486400" cy="457200"/>
          </a:xfrm>
          <a:prstGeom prst="roundRect">
            <a:avLst/>
          </a:prstGeom>
          <a:solidFill>
            <a:srgbClr val="006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Arial"/>
              </a:rPr>
              <a:t>Chat người dùng</a:t>
            </a:r>
          </a:p>
        </p:txBody>
      </p:sp>
      <p:sp>
        <p:nvSpPr>
          <p:cNvPr id="9" name="Rounded Rectangle 8"/>
          <p:cNvSpPr/>
          <p:nvPr/>
        </p:nvSpPr>
        <p:spPr>
          <a:xfrm>
            <a:off x="6245352" y="1600200"/>
            <a:ext cx="5486400" cy="457200"/>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500" b="1">
                <a:solidFill>
                  <a:srgbClr val="FFFFFF"/>
                </a:solidFill>
                <a:latin typeface="Arial"/>
              </a:rPr>
              <a:t>Admin Console (/admin) — HITL</a:t>
            </a:r>
          </a:p>
        </p:txBody>
      </p:sp>
      <p:sp>
        <p:nvSpPr>
          <p:cNvPr id="10" name="TextBox 9"/>
          <p:cNvSpPr txBox="1"/>
          <p:nvPr/>
        </p:nvSpPr>
        <p:spPr>
          <a:xfrm>
            <a:off x="548640" y="2240280"/>
            <a:ext cx="5349240" cy="3931920"/>
          </a:xfrm>
          <a:prstGeom prst="rect">
            <a:avLst/>
          </a:prstGeom>
          <a:noFill/>
        </p:spPr>
        <p:txBody>
          <a:bodyPr wrap="square" anchor="t">
            <a:spAutoFit/>
          </a:bodyPr>
          <a:lstStyle/>
          <a:p>
            <a:pPr>
              <a:spcAft>
                <a:spcPts val="700"/>
              </a:spcAft>
            </a:pPr>
            <a:r>
              <a:rPr sz="1600" b="1">
                <a:solidFill>
                  <a:srgbClr val="212121"/>
                </a:solidFill>
                <a:latin typeface="Arial"/>
              </a:rPr>
              <a:t>▸  Streaming real-time từng token (SSE)</a:t>
            </a:r>
          </a:p>
          <a:p>
            <a:pPr>
              <a:spcAft>
                <a:spcPts val="700"/>
              </a:spcAft>
            </a:pPr>
            <a:r>
              <a:rPr sz="1600" b="1">
                <a:solidFill>
                  <a:srgbClr val="212121"/>
                </a:solidFill>
                <a:latin typeface="Arial"/>
              </a:rPr>
              <a:t>▸  Citation panel: 'Điều X, Khoản Y, Điểm Z — [doc_id]'</a:t>
            </a:r>
          </a:p>
          <a:p>
            <a:pPr>
              <a:spcAft>
                <a:spcPts val="700"/>
              </a:spcAft>
            </a:pPr>
            <a:r>
              <a:rPr sz="1600" b="1">
                <a:solidFill>
                  <a:srgbClr val="212121"/>
                </a:solidFill>
                <a:latin typeface="Arial"/>
              </a:rPr>
              <a:t>▸  Hội thoại đa lượt (checkpointer theo thread_id)</a:t>
            </a:r>
          </a:p>
          <a:p>
            <a:pPr lvl="1">
              <a:spcAft>
                <a:spcPts val="700"/>
              </a:spcAft>
            </a:pPr>
            <a:r>
              <a:rPr sz="1400" b="0">
                <a:solidFill>
                  <a:srgbClr val="333333"/>
                </a:solidFill>
                <a:latin typeface="Arial"/>
              </a:rPr>
              <a:t>–  'Còn xe tải hạng nặng thì sao?'</a:t>
            </a:r>
          </a:p>
          <a:p>
            <a:pPr>
              <a:spcAft>
                <a:spcPts val="700"/>
              </a:spcAft>
            </a:pPr>
            <a:r>
              <a:rPr sz="1600" b="1">
                <a:solidFill>
                  <a:srgbClr val="212121"/>
                </a:solidFill>
                <a:latin typeface="Arial"/>
              </a:rPr>
              <a:t>▸  Nhãn cảnh báo 'Tra cứu từ internet' cho câu web</a:t>
            </a:r>
          </a:p>
          <a:p>
            <a:pPr>
              <a:spcAft>
                <a:spcPts val="700"/>
              </a:spcAft>
            </a:pPr>
            <a:r>
              <a:rPr sz="1600" b="1">
                <a:solidFill>
                  <a:srgbClr val="212121"/>
                </a:solidFill>
                <a:latin typeface="Arial"/>
              </a:rPr>
              <a:t>▸  Trạng thái pending khi chờ duyệt HITL</a:t>
            </a:r>
          </a:p>
        </p:txBody>
      </p:sp>
      <p:sp>
        <p:nvSpPr>
          <p:cNvPr id="11" name="TextBox 10"/>
          <p:cNvSpPr txBox="1"/>
          <p:nvPr/>
        </p:nvSpPr>
        <p:spPr>
          <a:xfrm>
            <a:off x="6336792" y="2240280"/>
            <a:ext cx="5349240" cy="3931920"/>
          </a:xfrm>
          <a:prstGeom prst="rect">
            <a:avLst/>
          </a:prstGeom>
          <a:noFill/>
        </p:spPr>
        <p:txBody>
          <a:bodyPr wrap="square" anchor="t">
            <a:spAutoFit/>
          </a:bodyPr>
          <a:lstStyle/>
          <a:p>
            <a:pPr>
              <a:spcAft>
                <a:spcPts val="700"/>
              </a:spcAft>
            </a:pPr>
            <a:r>
              <a:rPr sz="1600" b="1">
                <a:solidFill>
                  <a:srgbClr val="212121"/>
                </a:solidFill>
                <a:latin typeface="Arial"/>
              </a:rPr>
              <a:t>▸  Chỉ tài khoản trong ADMIN_EMAILS</a:t>
            </a:r>
          </a:p>
          <a:p>
            <a:pPr>
              <a:spcAft>
                <a:spcPts val="700"/>
              </a:spcAft>
            </a:pPr>
            <a:r>
              <a:rPr sz="1600" b="1">
                <a:solidFill>
                  <a:srgbClr val="212121"/>
                </a:solidFill>
                <a:latin typeface="Arial"/>
              </a:rPr>
              <a:t>▸  Liệt kê thread pending từ /pending</a:t>
            </a:r>
          </a:p>
          <a:p>
            <a:pPr>
              <a:spcAft>
                <a:spcPts val="700"/>
              </a:spcAft>
            </a:pPr>
            <a:r>
              <a:rPr sz="1600" b="1">
                <a:solidFill>
                  <a:srgbClr val="212121"/>
                </a:solidFill>
                <a:latin typeface="Arial"/>
              </a:rPr>
              <a:t>▸  Xem: câu hỏi gốc + 3 snippet Tavily + draft</a:t>
            </a:r>
          </a:p>
          <a:p>
            <a:pPr>
              <a:spcAft>
                <a:spcPts val="700"/>
              </a:spcAft>
            </a:pPr>
            <a:r>
              <a:rPr sz="1600" b="1">
                <a:solidFill>
                  <a:srgbClr val="212121"/>
                </a:solidFill>
                <a:latin typeface="Arial"/>
              </a:rPr>
              <a:t>▸  Approve → resume web_finalize</a:t>
            </a:r>
          </a:p>
          <a:p>
            <a:pPr>
              <a:spcAft>
                <a:spcPts val="700"/>
              </a:spcAft>
            </a:pPr>
            <a:r>
              <a:rPr sz="1600" b="1">
                <a:solidFill>
                  <a:srgbClr val="212121"/>
                </a:solidFill>
                <a:latin typeface="Arial"/>
              </a:rPr>
              <a:t>▸  Reject → xoá thread, trả thông báo từ chối</a:t>
            </a:r>
          </a:p>
          <a:p>
            <a:pPr>
              <a:spcAft>
                <a:spcPts val="700"/>
              </a:spcAft>
            </a:pPr>
            <a:r>
              <a:rPr sz="1600" b="1">
                <a:solidFill>
                  <a:srgbClr val="212121"/>
                </a:solidFill>
                <a:latin typeface="Arial"/>
              </a:rPr>
              <a:t>▸  Timeout 10 phút; state vẫn lưu trong DB</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27</a:t>
            </a:r>
          </a:p>
        </p:txBody>
      </p:sp>
      <p:sp>
        <p:nvSpPr>
          <p:cNvPr id="6" name="Rounded Rectangle 5"/>
          <p:cNvSpPr/>
          <p:nvPr/>
        </p:nvSpPr>
        <p:spPr>
          <a:xfrm>
            <a:off x="365760" y="256032"/>
            <a:ext cx="2487168" cy="292608"/>
          </a:xfrm>
          <a:prstGeom prst="round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4 · Minh hoạ</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Minh hoạ thực tế — đối chiếu hệ thống vs đáp án chuẩn</a:t>
            </a:r>
          </a:p>
        </p:txBody>
      </p:sp>
      <p:sp>
        <p:nvSpPr>
          <p:cNvPr id="8" name="Rounded Rectangle 7"/>
          <p:cNvSpPr/>
          <p:nvPr/>
        </p:nvSpPr>
        <p:spPr>
          <a:xfrm>
            <a:off x="457200" y="1554480"/>
            <a:ext cx="11247120" cy="45720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400" b="1">
                <a:solidFill>
                  <a:srgbClr val="FFFFFF"/>
                </a:solidFill>
                <a:latin typeface="Arial"/>
              </a:rPr>
              <a:t>Câu hỏi: "Vượt đèn đỏ đi xe máy phạt bao nhiêu tiền?"  (danh mục phạt đơn nghĩa)</a:t>
            </a:r>
          </a:p>
        </p:txBody>
      </p:sp>
      <p:sp>
        <p:nvSpPr>
          <p:cNvPr id="9" name="Rounded Rectangle 8"/>
          <p:cNvSpPr/>
          <p:nvPr/>
        </p:nvSpPr>
        <p:spPr>
          <a:xfrm>
            <a:off x="457200" y="2148840"/>
            <a:ext cx="5486400" cy="384048"/>
          </a:xfrm>
          <a:prstGeom prst="roundRect">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Đáp án chuẩn</a:t>
            </a:r>
          </a:p>
        </p:txBody>
      </p:sp>
      <p:sp>
        <p:nvSpPr>
          <p:cNvPr id="10" name="TextBox 9"/>
          <p:cNvSpPr txBox="1"/>
          <p:nvPr/>
        </p:nvSpPr>
        <p:spPr>
          <a:xfrm>
            <a:off x="548640" y="2606040"/>
            <a:ext cx="5394960" cy="1554480"/>
          </a:xfrm>
          <a:prstGeom prst="rect">
            <a:avLst/>
          </a:prstGeom>
          <a:noFill/>
        </p:spPr>
        <p:txBody>
          <a:bodyPr wrap="square" anchor="t">
            <a:spAutoFit/>
          </a:bodyPr>
          <a:lstStyle/>
          <a:p>
            <a:pPr>
              <a:spcAft>
                <a:spcPts val="600"/>
              </a:spcAft>
            </a:pPr>
            <a:r>
              <a:rPr sz="1400" b="1">
                <a:solidFill>
                  <a:srgbClr val="212121"/>
                </a:solidFill>
                <a:latin typeface="Arial"/>
              </a:rPr>
              <a:t>▸  Phạt 800.000–1.000.000đ + trừ 2 điểm GPLX</a:t>
            </a:r>
          </a:p>
          <a:p>
            <a:pPr lvl="1">
              <a:spcAft>
                <a:spcPts val="600"/>
              </a:spcAft>
            </a:pPr>
            <a:r>
              <a:rPr sz="1200" b="0">
                <a:solidFill>
                  <a:srgbClr val="333333"/>
                </a:solidFill>
                <a:latin typeface="Arial"/>
              </a:rPr>
              <a:t>–  [168/2024/NĐ-CP · Điều 7 · Khoản 4 · điểm p]</a:t>
            </a:r>
          </a:p>
        </p:txBody>
      </p:sp>
      <p:sp>
        <p:nvSpPr>
          <p:cNvPr id="11" name="Rounded Rectangle 10"/>
          <p:cNvSpPr/>
          <p:nvPr/>
        </p:nvSpPr>
        <p:spPr>
          <a:xfrm>
            <a:off x="6245352" y="2148840"/>
            <a:ext cx="5486400" cy="384048"/>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Đầu ra của hệ thống</a:t>
            </a:r>
          </a:p>
        </p:txBody>
      </p:sp>
      <p:sp>
        <p:nvSpPr>
          <p:cNvPr id="12" name="TextBox 11"/>
          <p:cNvSpPr txBox="1"/>
          <p:nvPr/>
        </p:nvSpPr>
        <p:spPr>
          <a:xfrm>
            <a:off x="6336792" y="2606040"/>
            <a:ext cx="5394960" cy="1554480"/>
          </a:xfrm>
          <a:prstGeom prst="rect">
            <a:avLst/>
          </a:prstGeom>
          <a:noFill/>
        </p:spPr>
        <p:txBody>
          <a:bodyPr wrap="square" anchor="t">
            <a:spAutoFit/>
          </a:bodyPr>
          <a:lstStyle/>
          <a:p>
            <a:pPr>
              <a:spcAft>
                <a:spcPts val="600"/>
              </a:spcAft>
            </a:pPr>
            <a:r>
              <a:rPr sz="1400" b="1">
                <a:solidFill>
                  <a:srgbClr val="212121"/>
                </a:solidFill>
                <a:latin typeface="Arial"/>
              </a:rPr>
              <a:t>▸  Phạt 800.000–1.000.000đ [Đ7·K4·p] ✓</a:t>
            </a:r>
          </a:p>
          <a:p>
            <a:pPr>
              <a:spcAft>
                <a:spcPts val="600"/>
              </a:spcAft>
            </a:pPr>
            <a:r>
              <a:rPr sz="1400" b="1">
                <a:solidFill>
                  <a:srgbClr val="212121"/>
                </a:solidFill>
                <a:latin typeface="Arial"/>
              </a:rPr>
              <a:t>▸  + Làm giàu lân cận kéo Khoản 11: trừ 2 điểm [Đ7·K11] ✓</a:t>
            </a:r>
          </a:p>
          <a:p>
            <a:pPr lvl="1">
              <a:spcAft>
                <a:spcPts val="600"/>
              </a:spcAft>
            </a:pPr>
            <a:r>
              <a:rPr sz="1200" b="0">
                <a:solidFill>
                  <a:srgbClr val="333333"/>
                </a:solidFill>
                <a:latin typeface="Arial"/>
              </a:rPr>
              <a:t>–  → Đầy đủ hơn cả đáp án chuẩn tối thiểu</a:t>
            </a:r>
          </a:p>
        </p:txBody>
      </p:sp>
      <p:sp>
        <p:nvSpPr>
          <p:cNvPr id="13" name="Rounded Rectangle 12"/>
          <p:cNvSpPr/>
          <p:nvPr/>
        </p:nvSpPr>
        <p:spPr>
          <a:xfrm>
            <a:off x="457200" y="4343400"/>
            <a:ext cx="11247120" cy="45720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Câu đa ý định: "Vượt đèn đỏ + không mang bằng lái xe máy phạt tổng bao nhiêu?"  (danh mục đa ý định)</a:t>
            </a:r>
          </a:p>
        </p:txBody>
      </p:sp>
      <p:sp>
        <p:nvSpPr>
          <p:cNvPr id="14" name="TextBox 13"/>
          <p:cNvSpPr txBox="1"/>
          <p:nvPr/>
        </p:nvSpPr>
        <p:spPr>
          <a:xfrm>
            <a:off x="548640" y="4892040"/>
            <a:ext cx="11155680" cy="1280160"/>
          </a:xfrm>
          <a:prstGeom prst="rect">
            <a:avLst/>
          </a:prstGeom>
          <a:noFill/>
        </p:spPr>
        <p:txBody>
          <a:bodyPr wrap="square" anchor="t">
            <a:spAutoFit/>
          </a:bodyPr>
          <a:lstStyle/>
          <a:p>
            <a:pPr>
              <a:spcAft>
                <a:spcPts val="800"/>
              </a:spcAft>
            </a:pPr>
            <a:r>
              <a:rPr sz="1500" b="1">
                <a:solidFill>
                  <a:srgbClr val="212121"/>
                </a:solidFill>
                <a:latin typeface="Arial"/>
              </a:rPr>
              <a:t>▸  Hệ thống tách đúng 2 ý: Đ7·K4·p (800K–1tr) + Đ24·K2·c (100–200K) → tổng 900K–1,2tr</a:t>
            </a:r>
          </a:p>
          <a:p>
            <a:pPr>
              <a:spcAft>
                <a:spcPts val="800"/>
              </a:spcAft>
            </a:pPr>
            <a:r>
              <a:rPr sz="1500" b="1">
                <a:solidFill>
                  <a:srgbClr val="212121"/>
                </a:solidFill>
                <a:latin typeface="Arial"/>
              </a:rPr>
              <a:t>▸  Khớp đầy đủ 2 trích dẫn chuẩn · in đậm số tiền · cộng tổng (lệnh hướng dẫn quy tắc 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55664"/>
            <a:ext cx="8686800" cy="320040"/>
          </a:xfrm>
          <a:prstGeom prst="rect">
            <a:avLst/>
          </a:prstGeom>
          <a:noFill/>
        </p:spPr>
        <p:txBody>
          <a:bodyPr wrap="square" anchor="t">
            <a:spAutoFit/>
          </a:bodyPr>
          <a:lstStyle/>
          <a:p>
            <a:pPr algn="l"/>
            <a:r>
              <a:rPr sz="1000" b="0">
                <a:solidFill>
                  <a:srgbClr val="606060"/>
                </a:solidFill>
                <a:latin typeface="Arial"/>
              </a:rPr>
              <a:t>ĐATN · Hỏi đáp luật GTĐB ứng dụng LLM kết hợp RAG · Mạc Phú Phong</a:t>
            </a:r>
          </a:p>
        </p:txBody>
      </p:sp>
      <p:sp>
        <p:nvSpPr>
          <p:cNvPr id="5" name="TextBox 4"/>
          <p:cNvSpPr txBox="1"/>
          <p:nvPr/>
        </p:nvSpPr>
        <p:spPr>
          <a:xfrm>
            <a:off x="10607040" y="6455664"/>
            <a:ext cx="1216152" cy="320040"/>
          </a:xfrm>
          <a:prstGeom prst="rect">
            <a:avLst/>
          </a:prstGeom>
          <a:noFill/>
        </p:spPr>
        <p:txBody>
          <a:bodyPr wrap="square" anchor="t">
            <a:spAutoFit/>
          </a:bodyPr>
          <a:lstStyle/>
          <a:p>
            <a:pPr algn="r"/>
            <a:r>
              <a:rPr sz="1000" b="0">
                <a:solidFill>
                  <a:srgbClr val="606060"/>
                </a:solidFill>
                <a:latin typeface="Arial"/>
              </a:rPr>
              <a:t>28</a:t>
            </a:r>
          </a:p>
        </p:txBody>
      </p:sp>
      <p:sp>
        <p:nvSpPr>
          <p:cNvPr id="6" name="Rounded Rectangle 5"/>
          <p:cNvSpPr/>
          <p:nvPr/>
        </p:nvSpPr>
        <p:spPr>
          <a:xfrm>
            <a:off x="365760" y="256032"/>
            <a:ext cx="2487168" cy="292608"/>
          </a:xfrm>
          <a:prstGeom prst="round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100" b="1">
                <a:solidFill>
                  <a:srgbClr val="FFFFFF"/>
                </a:solidFill>
                <a:latin typeface="Arial"/>
              </a:rPr>
              <a:t>Phần 4 · Kết luận</a:t>
            </a:r>
          </a:p>
        </p:txBody>
      </p:sp>
      <p:sp>
        <p:nvSpPr>
          <p:cNvPr id="7" name="TextBox 6"/>
          <p:cNvSpPr txBox="1"/>
          <p:nvPr/>
        </p:nvSpPr>
        <p:spPr>
          <a:xfrm>
            <a:off x="365760" y="658368"/>
            <a:ext cx="11430000" cy="914400"/>
          </a:xfrm>
          <a:prstGeom prst="rect">
            <a:avLst/>
          </a:prstGeom>
          <a:noFill/>
        </p:spPr>
        <p:txBody>
          <a:bodyPr wrap="square" anchor="t">
            <a:spAutoFit/>
          </a:bodyPr>
          <a:lstStyle/>
          <a:p>
            <a:pPr algn="l"/>
            <a:r>
              <a:rPr sz="2700" b="1">
                <a:solidFill>
                  <a:srgbClr val="1A237E"/>
                </a:solidFill>
                <a:latin typeface="Arial"/>
              </a:rPr>
              <a:t>Kết luận — kết quả · hạn chế · hướng phát triển</a:t>
            </a:r>
          </a:p>
        </p:txBody>
      </p:sp>
      <p:sp>
        <p:nvSpPr>
          <p:cNvPr id="8" name="Rounded Rectangle 7"/>
          <p:cNvSpPr/>
          <p:nvPr/>
        </p:nvSpPr>
        <p:spPr>
          <a:xfrm>
            <a:off x="457200" y="1554480"/>
            <a:ext cx="3657600" cy="402336"/>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Kết quả đạt được</a:t>
            </a:r>
          </a:p>
        </p:txBody>
      </p:sp>
      <p:sp>
        <p:nvSpPr>
          <p:cNvPr id="9" name="TextBox 8"/>
          <p:cNvSpPr txBox="1"/>
          <p:nvPr/>
        </p:nvSpPr>
        <p:spPr>
          <a:xfrm>
            <a:off x="502920" y="2011680"/>
            <a:ext cx="3611880" cy="4023360"/>
          </a:xfrm>
          <a:prstGeom prst="rect">
            <a:avLst/>
          </a:prstGeom>
          <a:noFill/>
        </p:spPr>
        <p:txBody>
          <a:bodyPr wrap="square" anchor="t">
            <a:spAutoFit/>
          </a:bodyPr>
          <a:lstStyle/>
          <a:p>
            <a:pPr>
              <a:spcAft>
                <a:spcPts val="800"/>
              </a:spcAft>
            </a:pPr>
            <a:r>
              <a:rPr sz="1300" b="1">
                <a:solidFill>
                  <a:srgbClr val="212121"/>
                </a:solidFill>
                <a:latin typeface="Arial"/>
              </a:rPr>
              <a:t>▸  R@10 = 0,581 (×2,9 so baseline 0,200)</a:t>
            </a:r>
          </a:p>
          <a:p>
            <a:pPr>
              <a:spcAft>
                <a:spcPts val="800"/>
              </a:spcAft>
            </a:pPr>
            <a:r>
              <a:rPr sz="1300" b="1">
                <a:solidFill>
                  <a:srgbClr val="212121"/>
                </a:solidFill>
                <a:latin typeface="Arial"/>
              </a:rPr>
              <a:t>▸  Citation-F1 = 0,279 (×8,7 zero-shot)</a:t>
            </a:r>
          </a:p>
          <a:p>
            <a:pPr>
              <a:spcAft>
                <a:spcPts val="800"/>
              </a:spcAft>
            </a:pPr>
            <a:r>
              <a:rPr sz="1300" b="1">
                <a:solidFill>
                  <a:srgbClr val="212121"/>
                </a:solidFill>
                <a:latin typeface="Arial"/>
              </a:rPr>
              <a:t>▸  Category Acc = 0,975</a:t>
            </a:r>
          </a:p>
          <a:p>
            <a:pPr>
              <a:spcAft>
                <a:spcPts val="800"/>
              </a:spcAft>
            </a:pPr>
            <a:r>
              <a:rPr sz="1300" b="1">
                <a:solidFill>
                  <a:srgbClr val="212121"/>
                </a:solidFill>
                <a:latin typeface="Arial"/>
              </a:rPr>
              <a:t>▸  context_precision = 0,885</a:t>
            </a:r>
          </a:p>
          <a:p>
            <a:pPr>
              <a:spcAft>
                <a:spcPts val="800"/>
              </a:spcAft>
            </a:pPr>
            <a:r>
              <a:rPr sz="1300" b="1">
                <a:solidFill>
                  <a:srgbClr val="212121"/>
                </a:solidFill>
                <a:latin typeface="Arial"/>
              </a:rPr>
              <a:t>▸  $0,00344/câu · ~$46/10k query</a:t>
            </a:r>
          </a:p>
          <a:p>
            <a:pPr>
              <a:spcAft>
                <a:spcPts val="800"/>
              </a:spcAft>
            </a:pPr>
            <a:r>
              <a:rPr sz="1300" b="1">
                <a:solidFill>
                  <a:srgbClr val="212121"/>
                </a:solidFill>
                <a:latin typeface="Arial"/>
              </a:rPr>
              <a:t>▸  Production $0/tháng + CI gate</a:t>
            </a:r>
          </a:p>
        </p:txBody>
      </p:sp>
      <p:sp>
        <p:nvSpPr>
          <p:cNvPr id="10" name="Rounded Rectangle 9"/>
          <p:cNvSpPr/>
          <p:nvPr/>
        </p:nvSpPr>
        <p:spPr>
          <a:xfrm>
            <a:off x="4270248" y="1554480"/>
            <a:ext cx="3657600" cy="402336"/>
          </a:xfrm>
          <a:prstGeom prst="round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Hạn chế</a:t>
            </a:r>
          </a:p>
        </p:txBody>
      </p:sp>
      <p:sp>
        <p:nvSpPr>
          <p:cNvPr id="11" name="TextBox 10"/>
          <p:cNvSpPr txBox="1"/>
          <p:nvPr/>
        </p:nvSpPr>
        <p:spPr>
          <a:xfrm>
            <a:off x="4315968" y="2011680"/>
            <a:ext cx="3611880" cy="4023360"/>
          </a:xfrm>
          <a:prstGeom prst="rect">
            <a:avLst/>
          </a:prstGeom>
          <a:noFill/>
        </p:spPr>
        <p:txBody>
          <a:bodyPr wrap="square" anchor="t">
            <a:spAutoFit/>
          </a:bodyPr>
          <a:lstStyle/>
          <a:p>
            <a:pPr>
              <a:spcAft>
                <a:spcPts val="800"/>
              </a:spcAft>
            </a:pPr>
            <a:r>
              <a:rPr sz="1300" b="1">
                <a:solidFill>
                  <a:srgbClr val="212121"/>
                </a:solidFill>
                <a:latin typeface="Arial"/>
              </a:rPr>
              <a:t>▸  Eval set nhỏ (35 câu legal)</a:t>
            </a:r>
          </a:p>
          <a:p>
            <a:pPr>
              <a:spcAft>
                <a:spcPts val="800"/>
              </a:spcAft>
            </a:pPr>
            <a:r>
              <a:rPr sz="1300" b="1">
                <a:solidFill>
                  <a:srgbClr val="212121"/>
                </a:solidFill>
                <a:latin typeface="Arial"/>
              </a:rPr>
              <a:t>▸  Gemini free-tier error 14,6%</a:t>
            </a:r>
          </a:p>
          <a:p>
            <a:pPr>
              <a:spcAft>
                <a:spcPts val="800"/>
              </a:spcAft>
            </a:pPr>
            <a:r>
              <a:rPr sz="1300" b="1">
                <a:solidFill>
                  <a:srgbClr val="212121"/>
                </a:solidFill>
                <a:latin typeface="Arial"/>
              </a:rPr>
              <a:t>▸  Reranker chưa dùng được prod (cần GPU)</a:t>
            </a:r>
          </a:p>
          <a:p>
            <a:pPr>
              <a:spcAft>
                <a:spcPts val="800"/>
              </a:spcAft>
            </a:pPr>
            <a:r>
              <a:rPr sz="1300" b="1">
                <a:solidFill>
                  <a:srgbClr val="212121"/>
                </a:solidFill>
                <a:latin typeface="Arial"/>
              </a:rPr>
              <a:t>▸  context_recall 0,452 = bottleneck</a:t>
            </a:r>
          </a:p>
          <a:p>
            <a:pPr>
              <a:spcAft>
                <a:spcPts val="800"/>
              </a:spcAft>
            </a:pPr>
            <a:r>
              <a:rPr sz="1300" b="1">
                <a:solidFill>
                  <a:srgbClr val="212121"/>
                </a:solidFill>
                <a:latin typeface="Arial"/>
              </a:rPr>
              <a:t>▸  answer_relevancy lỗi lib</a:t>
            </a:r>
          </a:p>
          <a:p>
            <a:pPr>
              <a:spcAft>
                <a:spcPts val="800"/>
              </a:spcAft>
            </a:pPr>
            <a:r>
              <a:rPr sz="1300" b="1">
                <a:solidFill>
                  <a:srgbClr val="212121"/>
                </a:solidFill>
                <a:latin typeface="Arial"/>
              </a:rPr>
              <a:t>▸  Refusal 20% còn false-negative</a:t>
            </a:r>
          </a:p>
        </p:txBody>
      </p:sp>
      <p:sp>
        <p:nvSpPr>
          <p:cNvPr id="12" name="Rounded Rectangle 11"/>
          <p:cNvSpPr/>
          <p:nvPr/>
        </p:nvSpPr>
        <p:spPr>
          <a:xfrm>
            <a:off x="8083296" y="1554480"/>
            <a:ext cx="3657600" cy="402336"/>
          </a:xfrm>
          <a:prstGeom prst="round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300" b="1">
                <a:solidFill>
                  <a:srgbClr val="FFFFFF"/>
                </a:solidFill>
                <a:latin typeface="Arial"/>
              </a:rPr>
              <a:t>Hướng phát triển (Bảng 27)</a:t>
            </a:r>
          </a:p>
        </p:txBody>
      </p:sp>
      <p:sp>
        <p:nvSpPr>
          <p:cNvPr id="13" name="TextBox 12"/>
          <p:cNvSpPr txBox="1"/>
          <p:nvPr/>
        </p:nvSpPr>
        <p:spPr>
          <a:xfrm>
            <a:off x="8129016" y="2011680"/>
            <a:ext cx="3611880" cy="4023360"/>
          </a:xfrm>
          <a:prstGeom prst="rect">
            <a:avLst/>
          </a:prstGeom>
          <a:noFill/>
        </p:spPr>
        <p:txBody>
          <a:bodyPr wrap="square" anchor="t">
            <a:spAutoFit/>
          </a:bodyPr>
          <a:lstStyle/>
          <a:p>
            <a:pPr>
              <a:spcAft>
                <a:spcPts val="500"/>
              </a:spcAft>
            </a:pPr>
            <a:r>
              <a:rPr sz="1300" b="1">
                <a:solidFill>
                  <a:srgbClr val="212121"/>
                </a:solidFill>
                <a:latin typeface="Arial"/>
              </a:rPr>
              <a:t>▸  Ngắn hạn:</a:t>
            </a:r>
          </a:p>
          <a:p>
            <a:pPr lvl="1">
              <a:spcAft>
                <a:spcPts val="500"/>
              </a:spcAft>
            </a:pPr>
            <a:r>
              <a:rPr sz="1100" b="0">
                <a:solidFill>
                  <a:srgbClr val="333333"/>
                </a:solidFill>
                <a:latin typeface="Arial"/>
              </a:rPr>
              <a:t>–  Mở rộng eval 80–100 câu</a:t>
            </a:r>
          </a:p>
          <a:p>
            <a:pPr lvl="1">
              <a:spcAft>
                <a:spcPts val="500"/>
              </a:spcAft>
            </a:pPr>
            <a:r>
              <a:rPr sz="1100" b="0">
                <a:solidFill>
                  <a:srgbClr val="333333"/>
                </a:solidFill>
                <a:latin typeface="Arial"/>
              </a:rPr>
              <a:t>–  Gemini stable trả phí → lỗi &lt;2%</a:t>
            </a:r>
          </a:p>
          <a:p>
            <a:pPr lvl="1">
              <a:spcAft>
                <a:spcPts val="500"/>
              </a:spcAft>
            </a:pPr>
            <a:r>
              <a:rPr sz="1100" b="0">
                <a:solidFill>
                  <a:srgbClr val="333333"/>
                </a:solidFill>
                <a:latin typeface="Arial"/>
              </a:rPr>
              <a:t>–  Tối ưu chi phí; củng cố vận hành</a:t>
            </a:r>
          </a:p>
          <a:p>
            <a:pPr>
              <a:spcAft>
                <a:spcPts val="500"/>
              </a:spcAft>
            </a:pPr>
            <a:r>
              <a:rPr sz="1300" b="1">
                <a:solidFill>
                  <a:srgbClr val="212121"/>
                </a:solidFill>
                <a:latin typeface="Arial"/>
              </a:rPr>
              <a:t>▸  Trung hạn:</a:t>
            </a:r>
          </a:p>
          <a:p>
            <a:pPr lvl="1">
              <a:spcAft>
                <a:spcPts val="500"/>
              </a:spcAft>
            </a:pPr>
            <a:r>
              <a:rPr sz="1100" b="0">
                <a:solidFill>
                  <a:srgbClr val="333333"/>
                </a:solidFill>
                <a:latin typeface="Arial"/>
              </a:rPr>
              <a:t>–  Bật reranker GPU (~2–3s)</a:t>
            </a:r>
          </a:p>
          <a:p>
            <a:pPr lvl="1">
              <a:spcAft>
                <a:spcPts val="500"/>
              </a:spcAft>
            </a:pPr>
            <a:r>
              <a:rPr sz="1100" b="0">
                <a:solidFill>
                  <a:srgbClr val="333333"/>
                </a:solidFill>
                <a:latin typeface="Arial"/>
              </a:rPr>
              <a:t>–  Graph RAG trên đồ thị tri thức</a:t>
            </a:r>
          </a:p>
          <a:p>
            <a:pPr lvl="1">
              <a:spcAft>
                <a:spcPts val="500"/>
              </a:spcAft>
            </a:pPr>
            <a:r>
              <a:rPr sz="1100" b="0">
                <a:solidFill>
                  <a:srgbClr val="333333"/>
                </a:solidFill>
                <a:latin typeface="Arial"/>
              </a:rPr>
              <a:t>–  Đánh giá lại bằng giám khảo mạnh hơn</a:t>
            </a:r>
          </a:p>
          <a:p>
            <a:pPr>
              <a:spcAft>
                <a:spcPts val="500"/>
              </a:spcAft>
            </a:pPr>
            <a:r>
              <a:rPr sz="1300" b="1">
                <a:solidFill>
                  <a:srgbClr val="212121"/>
                </a:solidFill>
                <a:latin typeface="Arial"/>
              </a:rPr>
              <a:t>▸  Dài hạn:</a:t>
            </a:r>
          </a:p>
          <a:p>
            <a:pPr lvl="1">
              <a:spcAft>
                <a:spcPts val="500"/>
              </a:spcAft>
            </a:pPr>
            <a:r>
              <a:rPr sz="1100" b="0">
                <a:solidFill>
                  <a:srgbClr val="333333"/>
                </a:solidFill>
                <a:latin typeface="Arial"/>
              </a:rPr>
              <a:t>–  Kiến trúc đa tác tử; truy xuất đa bước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10698480" cy="914400"/>
          </a:xfrm>
          <a:prstGeom prst="rect">
            <a:avLst/>
          </a:prstGeom>
          <a:noFill/>
        </p:spPr>
        <p:txBody>
          <a:bodyPr wrap="square" anchor="ctr">
            <a:spAutoFit/>
          </a:bodyPr>
          <a:lstStyle/>
          <a:p>
            <a:pPr algn="ctr"/>
            <a:r>
              <a:rPr sz="3400" b="1">
                <a:solidFill>
                  <a:srgbClr val="FFFFFF"/>
                </a:solidFill>
                <a:latin typeface="Arial"/>
              </a:rPr>
              <a:t>Cảm ơn quý thầy cô đã lắng nghe</a:t>
            </a:r>
          </a:p>
        </p:txBody>
      </p:sp>
      <p:sp>
        <p:nvSpPr>
          <p:cNvPr id="4" name="TextBox 3"/>
          <p:cNvSpPr txBox="1"/>
          <p:nvPr/>
        </p:nvSpPr>
        <p:spPr>
          <a:xfrm>
            <a:off x="731520" y="3383280"/>
            <a:ext cx="10698480" cy="548640"/>
          </a:xfrm>
          <a:prstGeom prst="rect">
            <a:avLst/>
          </a:prstGeom>
          <a:noFill/>
        </p:spPr>
        <p:txBody>
          <a:bodyPr wrap="square" anchor="t">
            <a:spAutoFit/>
          </a:bodyPr>
          <a:lstStyle/>
          <a:p>
            <a:pPr algn="ctr"/>
            <a:r>
              <a:rPr sz="1800" b="0">
                <a:solidFill>
                  <a:srgbClr val="C5CAE9"/>
                </a:solidFill>
                <a:latin typeface="Arial"/>
              </a:rPr>
              <a:t>Em xin sẵn sàng trả lời các câu hỏi của hội đồng</a:t>
            </a:r>
          </a:p>
        </p:txBody>
      </p:sp>
      <p:sp>
        <p:nvSpPr>
          <p:cNvPr id="5" name="Rounded Rectangle 4"/>
          <p:cNvSpPr/>
          <p:nvPr/>
        </p:nvSpPr>
        <p:spPr>
          <a:xfrm>
            <a:off x="3566160" y="4297680"/>
            <a:ext cx="5029200" cy="640080"/>
          </a:xfrm>
          <a:prstGeom prst="roundRect">
            <a:avLst/>
          </a:prstGeom>
          <a:solidFill>
            <a:srgbClr val="E65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25400" bIns="25400"/>
          <a:lstStyle/>
          <a:p>
            <a:pPr algn="ctr"/>
            <a:r>
              <a:rPr sz="1600" b="1">
                <a:solidFill>
                  <a:srgbClr val="FFFFFF"/>
                </a:solidFill>
                <a:latin typeface="Arial"/>
              </a:rPr>
              <a:t>Mạc Phú Phong  ·  106210059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